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2000" b="0" i="0" u="none" strike="noStrike">
                <a:solidFill>
                  <a:srgbClr val="22252B"/>
                </a:solidFill>
                <a:latin typeface="Arial"/>
              </a:defRPr>
            </a:pPr>
            <a:r>
              <a:rPr sz="2000" b="0" i="0" u="none" strike="noStrike">
                <a:solidFill>
                  <a:srgbClr val="22252B"/>
                </a:solidFill>
                <a:latin typeface="Arial"/>
              </a:rPr>
              <a:t>Figure 2. Seconds until the editor is ready</a:t>
            </a:r>
          </a:p>
        </c:rich>
      </c:tx>
      <c:layout/>
      <c:overlay val="0"/>
    </c:title>
    <c:autoTitleDeleted val="0"/>
    <c:plotArea>
      <c:layout/>
      <c:barChart>
        <c:barDir val="bar"/>
        <c:grouping val="clustered"/>
        <c:varyColors val="0"/>
        <c:ser>
          <c:idx val="0"/>
          <c:order val="0"/>
          <c:tx>
            <c:strRef>
              <c:f>Sheet1!$B$1</c:f>
              <c:strCache>
                <c:ptCount val="1"/>
                <c:pt idx="0">
                  <c:v>Seconds until the editor is ready</c:v>
                </c:pt>
              </c:strCache>
            </c:strRef>
          </c:tx>
          <c:spPr>
            <a:solidFill>
              <a:srgbClr val="1F5FB0"/>
            </a:solidFill>
            <a:effectLst/>
          </c:spPr>
          <c:invertIfNegative val="0"/>
          <c:dLbls>
            <c:numFmt formatCode="0.0" sourceLinked="0"/>
            <c:txPr>
              <a:bodyPr/>
              <a:lstStyle/>
              <a:p>
                <a:pPr>
                  <a:defRPr b="0" i="0" strike="noStrike" sz="1700" u="none">
                    <a:solidFill>
                      <a:srgbClr val="22252B"/>
                    </a:solidFill>
                    <a:latin typeface="Arial"/>
                  </a:defRPr>
                </a:pPr>
              </a:p>
            </c:txPr>
            <c:showLegendKey val="0"/>
            <c:showVal val="1"/>
            <c:showCatName val="0"/>
            <c:showSerName val="0"/>
            <c:showPercent val="0"/>
            <c:showBubbleSize val="0"/>
            <c:showLeaderLines val="0"/>
          </c:dLbls>
          <c:cat>
            <c:multiLvlStrRef>
              <c:f>Sheet1!$A$2:$A$5</c:f>
              <c:multiLvlStrCache>
                <c:ptCount val="4"/>
                <c:lvl>
                  <c:pt idx="0">
                    <c:v>2 Linux ARM (emulated)</c:v>
                  </c:pt>
                  <c:pt idx="1">
                    <c:v>4 M1 Mac (emulated)</c:v>
                  </c:pt>
                  <c:pt idx="2">
                    <c:v>3 Windows 11 (native)</c:v>
                  </c:pt>
                  <c:pt idx="3">
                    <c:v>1 Linux (native)</c:v>
                  </c:pt>
                </c:lvl>
              </c:multiLvlStrCache>
            </c:multiLvlStrRef>
          </c:cat>
          <c:val>
            <c:numRef>
              <c:f>Sheet1!$B$2:$B$5</c:f>
              <c:numCache>
                <c:formatCode>General</c:formatCode>
                <c:ptCount val="4"/>
                <c:pt idx="0">
                  <c:v>6.7</c:v>
                </c:pt>
                <c:pt idx="1">
                  <c:v>4.8</c:v>
                </c:pt>
                <c:pt idx="2">
                  <c:v>0.6</c:v>
                </c:pt>
                <c:pt idx="3">
                  <c:v>0.5</c:v>
                </c:pt>
              </c:numCache>
            </c:numRef>
          </c:val>
        </c:ser>
        <c:dLbls>
          <c:numFmt formatCode="0.0" sourceLinked="0"/>
          <c:txPr>
            <a:bodyPr/>
            <a:lstStyle/>
            <a:p>
              <a:pPr>
                <a:defRPr b="0" i="0" strike="noStrike" sz="1700" u="none">
                  <a:solidFill>
                    <a:srgbClr val="22252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700" b="0" i="0" u="none" strike="noStrike">
                <a:solidFill>
                  <a:srgbClr val="22252B"/>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12700" cap="flat">
              <a:solidFill>
                <a:srgbClr val="D9D6C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500" b="0" i="0" u="none" strike="noStrike">
                <a:solidFill>
                  <a:srgbClr val="5E5B55"/>
                </a:solidFill>
                <a:latin typeface="Arial"/>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0" cy="4297680"/>
          </a:xfrm>
          <a:prstGeom prst="rect">
            <a:avLst/>
          </a:prstGeom>
          <a:solidFill>
            <a:srgbClr val="B10202"/>
          </a:solidFill>
          <a:ln w="12700">
            <a:solidFill>
              <a:srgbClr val="B10202"/>
            </a:solidFill>
            <a:prstDash val="solid"/>
          </a:ln>
        </p:spPr>
      </p:sp>
      <p:sp>
        <p:nvSpPr>
          <p:cNvPr id="3" name="Text 1"/>
          <p:cNvSpPr txBox="1"/>
          <p:nvPr/>
        </p:nvSpPr>
        <p:spPr>
          <a:xfrm>
            <a:off x="822960" y="365760"/>
            <a:ext cx="33467040" cy="2286000"/>
          </a:xfrm>
          <a:prstGeom prst="rect">
            <a:avLst/>
          </a:prstGeom>
          <a:noFill/>
          <a:ln/>
        </p:spPr>
        <p:txBody>
          <a:bodyPr wrap="square" lIns="0" tIns="0" rIns="0" bIns="0" rtlCol="0" anchor="ctr"/>
          <a:lstStyle/>
          <a:p>
            <a:pPr indent="0" marL="0">
              <a:lnSpc>
                <a:spcPct val="98000"/>
              </a:lnSpc>
              <a:buNone/>
            </a:pPr>
            <a:r>
              <a:rPr lang="en-US" sz="5600" b="1" dirty="0">
                <a:solidFill>
                  <a:srgbClr val="FFFFFF"/>
                </a:solidFill>
                <a:latin typeface="Arial" pitchFamily="34" charset="0"/>
                <a:ea typeface="Arial" pitchFamily="34" charset="-122"/>
                <a:cs typeface="Arial" pitchFamily="34" charset="-120"/>
              </a:rPr>
              <a:t>Decentralized, Browser-Based Docker IDEs for C++ and x86-64 Assembly Education: An Evaluation on the Laptops Students Actually Own</a:t>
            </a:r>
            <a:endParaRPr lang="en-US" sz="5600" dirty="0"/>
          </a:p>
        </p:txBody>
      </p:sp>
      <p:sp>
        <p:nvSpPr>
          <p:cNvPr id="4" name="Text 2"/>
          <p:cNvSpPr txBox="1"/>
          <p:nvPr/>
        </p:nvSpPr>
        <p:spPr>
          <a:xfrm>
            <a:off x="822960" y="2788920"/>
            <a:ext cx="33467040" cy="6858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Sean Cuenco</a:t>
            </a:r>
            <a:pPr indent="0" marL="0">
              <a:buNone/>
            </a:pPr>
            <a:r>
              <a:rPr lang="en-US" sz="2800" dirty="0">
                <a:solidFill>
                  <a:srgbClr val="FFFFFF"/>
                </a:solidFill>
                <a:latin typeface="Arial" pitchFamily="34" charset="0"/>
                <a:ea typeface="Arial" pitchFamily="34" charset="-122"/>
                <a:cs typeface="Arial" pitchFamily="34" charset="-120"/>
              </a:rPr>
              <a:t>   ·   Faculty Mentor: James Andro-Vasko, Ph.D.   ·   Department of Computer Science, University of Nevada, Las Vegas</a:t>
            </a:r>
            <a:endParaRPr lang="en-US" sz="2800" dirty="0"/>
          </a:p>
        </p:txBody>
      </p:sp>
      <p:sp>
        <p:nvSpPr>
          <p:cNvPr id="5" name="Text 3"/>
          <p:cNvSpPr txBox="1"/>
          <p:nvPr/>
        </p:nvSpPr>
        <p:spPr>
          <a:xfrm>
            <a:off x="822960" y="3429000"/>
            <a:ext cx="33467040" cy="54864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Summer Undergraduate Research Fellowship (SURF) 2026  ·  Office of Undergraduate Research, UNLV</a:t>
            </a:r>
            <a:endParaRPr lang="en-US" sz="2200" dirty="0"/>
          </a:p>
        </p:txBody>
      </p:sp>
      <p:sp>
        <p:nvSpPr>
          <p:cNvPr id="6" name="Text 4"/>
          <p:cNvSpPr txBox="1"/>
          <p:nvPr/>
        </p:nvSpPr>
        <p:spPr>
          <a:xfrm>
            <a:off x="34747200" y="457200"/>
            <a:ext cx="8321040" cy="3383280"/>
          </a:xfrm>
          <a:prstGeom prst="rect">
            <a:avLst/>
          </a:prstGeom>
          <a:noFill/>
          <a:ln/>
        </p:spPr>
        <p:txBody>
          <a:bodyPr wrap="square" lIns="0" tIns="0" rIns="0" bIns="0" rtlCol="0" anchor="ctr"/>
          <a:lstStyle/>
          <a:p>
            <a:pPr algn="r" indent="0" marL="0">
              <a:lnSpc>
                <a:spcPct val="105000"/>
              </a:lnSpc>
              <a:buNone/>
            </a:pPr>
            <a:r>
              <a:rPr lang="en-US" sz="1900" dirty="0">
                <a:solidFill>
                  <a:srgbClr val="FFFFFF"/>
                </a:solidFill>
                <a:latin typeface="Arial" pitchFamily="34" charset="0"/>
                <a:ea typeface="Arial" pitchFamily="34" charset="-122"/>
                <a:cs typeface="Arial" pitchFamily="34" charset="-120"/>
              </a:rPr>
              <a:t>Code, handouts, test script, raw results:</a:t>
            </a:r>
            <a:endParaRPr lang="en-US" sz="1900" dirty="0"/>
          </a:p>
          <a:p>
            <a:pPr algn="r" indent="0" marL="0">
              <a:lnSpc>
                <a:spcPct val="105000"/>
              </a:lnSpc>
              <a:buNone/>
            </a:pPr>
            <a:r>
              <a:rPr lang="en-US" sz="1900" dirty="0">
                <a:solidFill>
                  <a:srgbClr val="FFFFFF"/>
                </a:solidFill>
                <a:latin typeface="Arial" pitchFamily="34" charset="0"/>
                <a:ea typeface="Arial" pitchFamily="34" charset="-122"/>
                <a:cs typeface="Arial" pitchFamily="34" charset="-120"/>
              </a:rPr>
              <a:t>github.com/seancnc003/UNLVDockerIDEs</a:t>
            </a:r>
            <a:endParaRPr lang="en-US" sz="1900" dirty="0"/>
          </a:p>
          <a:p>
            <a:pPr algn="r" indent="0" marL="0">
              <a:lnSpc>
                <a:spcPct val="105000"/>
              </a:lnSpc>
              <a:buNone/>
            </a:pPr>
            <a:endParaRPr lang="en-US" sz="1900" dirty="0"/>
          </a:p>
          <a:p>
            <a:pPr algn="r" indent="0" marL="0">
              <a:lnSpc>
                <a:spcPct val="105000"/>
              </a:lnSpc>
              <a:buNone/>
            </a:pPr>
            <a:r>
              <a:rPr lang="en-US" sz="1900" dirty="0">
                <a:solidFill>
                  <a:srgbClr val="FFFFFF"/>
                </a:solidFill>
                <a:latin typeface="Arial" pitchFamily="34" charset="0"/>
                <a:ea typeface="Arial" pitchFamily="34" charset="-122"/>
                <a:cs typeface="Arial" pitchFamily="34" charset="-120"/>
              </a:rPr>
              <a:t>Images:</a:t>
            </a:r>
            <a:endParaRPr lang="en-US" sz="1900" dirty="0"/>
          </a:p>
          <a:p>
            <a:pPr algn="r" indent="0" marL="0">
              <a:lnSpc>
                <a:spcPct val="105000"/>
              </a:lnSpc>
              <a:buNone/>
            </a:pPr>
            <a:r>
              <a:rPr lang="en-US" sz="1900" dirty="0">
                <a:solidFill>
                  <a:srgbClr val="FFFFFF"/>
                </a:solidFill>
                <a:latin typeface="Arial" pitchFamily="34" charset="0"/>
                <a:ea typeface="Arial" pitchFamily="34" charset="-122"/>
                <a:cs typeface="Arial" pitchFamily="34" charset="-120"/>
              </a:rPr>
              <a:t>hub.docker.com/r/seancnc/unlv-cpp-ide</a:t>
            </a:r>
            <a:endParaRPr lang="en-US" sz="1900" dirty="0"/>
          </a:p>
          <a:p>
            <a:pPr algn="r" indent="0" marL="0">
              <a:lnSpc>
                <a:spcPct val="105000"/>
              </a:lnSpc>
              <a:buNone/>
            </a:pPr>
            <a:r>
              <a:rPr lang="en-US" sz="1900" dirty="0">
                <a:solidFill>
                  <a:srgbClr val="FFFFFF"/>
                </a:solidFill>
                <a:latin typeface="Arial" pitchFamily="34" charset="0"/>
                <a:ea typeface="Arial" pitchFamily="34" charset="-122"/>
                <a:cs typeface="Arial" pitchFamily="34" charset="-120"/>
              </a:rPr>
              <a:t>hub.docker.com/r/seancnc/unlv-x86-ide</a:t>
            </a:r>
            <a:endParaRPr lang="en-US" sz="1900" dirty="0"/>
          </a:p>
        </p:txBody>
      </p:sp>
      <p:sp>
        <p:nvSpPr>
          <p:cNvPr id="7" name="Shape 5"/>
          <p:cNvSpPr/>
          <p:nvPr/>
        </p:nvSpPr>
        <p:spPr>
          <a:xfrm>
            <a:off x="822960" y="4937760"/>
            <a:ext cx="13655040" cy="6035040"/>
          </a:xfrm>
          <a:prstGeom prst="rect">
            <a:avLst/>
          </a:prstGeom>
          <a:solidFill>
            <a:srgbClr val="F5F4F0"/>
          </a:solidFill>
          <a:ln w="12700">
            <a:solidFill>
              <a:srgbClr val="F5F4F0"/>
            </a:solidFill>
            <a:prstDash val="solid"/>
          </a:ln>
        </p:spPr>
      </p:sp>
      <p:sp>
        <p:nvSpPr>
          <p:cNvPr id="8" name="Text 6"/>
          <p:cNvSpPr txBox="1"/>
          <p:nvPr/>
        </p:nvSpPr>
        <p:spPr>
          <a:xfrm>
            <a:off x="1188720" y="5166360"/>
            <a:ext cx="12923520" cy="640080"/>
          </a:xfrm>
          <a:prstGeom prst="rect">
            <a:avLst/>
          </a:prstGeom>
          <a:noFill/>
          <a:ln/>
        </p:spPr>
        <p:txBody>
          <a:bodyPr wrap="square" lIns="0" tIns="0" rIns="0" bIns="0" rtlCol="0" anchor="ctr"/>
          <a:lstStyle/>
          <a:p>
            <a:pPr indent="0" marL="0">
              <a:buNone/>
            </a:pPr>
            <a:r>
              <a:rPr lang="en-US" sz="3400" b="1" dirty="0">
                <a:solidFill>
                  <a:srgbClr val="B10202"/>
                </a:solidFill>
                <a:latin typeface="Arial" pitchFamily="34" charset="0"/>
                <a:ea typeface="Arial" pitchFamily="34" charset="-122"/>
                <a:cs typeface="Arial" pitchFamily="34" charset="-120"/>
              </a:rPr>
              <a:t>Abstract</a:t>
            </a:r>
            <a:endParaRPr lang="en-US" sz="3400" dirty="0"/>
          </a:p>
        </p:txBody>
      </p:sp>
      <p:sp>
        <p:nvSpPr>
          <p:cNvPr id="9" name="Text 7"/>
          <p:cNvSpPr txBox="1"/>
          <p:nvPr/>
        </p:nvSpPr>
        <p:spPr>
          <a:xfrm>
            <a:off x="1188720" y="5852160"/>
            <a:ext cx="12923520" cy="5029200"/>
          </a:xfrm>
          <a:prstGeom prst="rect">
            <a:avLst/>
          </a:prstGeom>
          <a:noFill/>
          <a:ln/>
        </p:spPr>
        <p:txBody>
          <a:bodyPr wrap="square" lIns="0" tIns="0" rIns="0" bIns="0" rtlCol="0" anchor="t"/>
          <a:lstStyle/>
          <a:p>
            <a:pPr indent="0" marL="0">
              <a:lnSpc>
                <a:spcPct val="106000"/>
              </a:lnSpc>
              <a:buNone/>
            </a:pPr>
            <a:r>
              <a:rPr lang="en-US" sz="2100" dirty="0">
                <a:solidFill>
                  <a:srgbClr val="22252B"/>
                </a:solidFill>
                <a:latin typeface="Arial" pitchFamily="34" charset="0"/>
                <a:ea typeface="Arial" pitchFamily="34" charset="-122"/>
                <a:cs typeface="Arial" pitchFamily="34" charset="-120"/>
              </a:rPr>
              <a:t>Students in UNLV’s introductory C++ (CS 135) and x86-64 assembly (CS 218) courses lose the first week of the semester installing a compiler, assembler, debugger, and editor on dozens of different laptops, and owners of Apple Silicon Macs often cannot run the course virtual machine at all. This project packages each course’s exact toolchain and a browser-served Visual Studio Code editor into a Docker image that runs entirely on the student’s own machine: one 552 MB download, one command, no server, no account, no telemetry. The fellowship asked whether that promise holds on the computers students actually own, and what the design gives up compared with shared SSH servers, course virtual machines, cloud editors such as CS50 on GitHub Codespaces, and monitored platforms such as CodeDive. One unmodified test script performed a student’s first day and then built and ran four real CS 218 assignments on four hosts: Intel Linux and ARM Linux rented from AWS, Windows 11 rented from Azure, and an M1 MacBook Pro. The same image ran every assignment correctly on all four, started in 0.5 s natively and 5–7 s under emulation, and idled at 55–260 MiB. The one limit is precise: the gdb debugger works on Intel/AMD hosts and is silent under both ARM translation layers, a trade made deliberately to keep the course’s real x86-64 instruction set. A classroom study is the next step.</a:t>
            </a:r>
            <a:endParaRPr lang="en-US" sz="2100" dirty="0"/>
          </a:p>
        </p:txBody>
      </p:sp>
      <p:sp>
        <p:nvSpPr>
          <p:cNvPr id="10" name="Text 8"/>
          <p:cNvSpPr txBox="1"/>
          <p:nvPr/>
        </p:nvSpPr>
        <p:spPr>
          <a:xfrm>
            <a:off x="822960" y="11292840"/>
            <a:ext cx="1365504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1   Background: week one is lost to setup</a:t>
            </a:r>
            <a:endParaRPr lang="en-US" sz="4000" dirty="0"/>
          </a:p>
        </p:txBody>
      </p:sp>
      <p:sp>
        <p:nvSpPr>
          <p:cNvPr id="11" name="Text 9"/>
          <p:cNvSpPr txBox="1"/>
          <p:nvPr/>
        </p:nvSpPr>
        <p:spPr>
          <a:xfrm>
            <a:off x="822960" y="12298680"/>
            <a:ext cx="13655040" cy="2651760"/>
          </a:xfrm>
          <a:prstGeom prst="rect">
            <a:avLst/>
          </a:prstGeom>
          <a:noFill/>
          <a:ln/>
        </p:spPr>
        <p:txBody>
          <a:bodyPr wrap="square" lIns="0" tIns="0" rIns="0" bIns="0" rtlCol="0" anchor="t"/>
          <a:lstStyle/>
          <a:p>
            <a:pPr indent="0" marL="0">
              <a:lnSpc>
                <a:spcPct val="105000"/>
              </a:lnSpc>
              <a:spcAft>
                <a:spcPts val="800"/>
              </a:spcAft>
              <a:buNone/>
            </a:pPr>
            <a:r>
              <a:rPr lang="en-US" sz="2500" dirty="0">
                <a:solidFill>
                  <a:srgbClr val="22252B"/>
                </a:solidFill>
                <a:latin typeface="Arial" pitchFamily="34" charset="0"/>
                <a:ea typeface="Arial" pitchFamily="34" charset="-122"/>
                <a:cs typeface="Arial" pitchFamily="34" charset="-120"/>
              </a:rPr>
              <a:t>Every systems course starts the same way: a compiler, an assembler, a debugger, and an editor must work on dozens of different laptops before anyone learns anything. Prior studies measured 75–100 minutes of class time per semester lost to installs [6], support traffic dominated by environment mismatch rather than course content [3], and students with M1/M2 MacBooks unable to run the x86 virtual machines their courses assumed [4]. Several hundred CS 135 and CS 218 students a year are affected, and the friction falls hardest on the cheapest and newest machines.</a:t>
            </a:r>
            <a:endParaRPr lang="en-US" sz="2500" dirty="0"/>
          </a:p>
        </p:txBody>
      </p:sp>
      <p:sp>
        <p:nvSpPr>
          <p:cNvPr id="12" name="Text 10"/>
          <p:cNvSpPr txBox="1"/>
          <p:nvPr/>
        </p:nvSpPr>
        <p:spPr>
          <a:xfrm>
            <a:off x="822960" y="15041880"/>
            <a:ext cx="13655040" cy="548640"/>
          </a:xfrm>
          <a:prstGeom prst="rect">
            <a:avLst/>
          </a:prstGeom>
          <a:noFill/>
          <a:ln/>
        </p:spPr>
        <p:txBody>
          <a:bodyPr wrap="square" lIns="0" tIns="0" rIns="0" bIns="0" rtlCol="0" anchor="b"/>
          <a:lstStyle/>
          <a:p>
            <a:pPr indent="0" marL="0">
              <a:buNone/>
            </a:pPr>
            <a:r>
              <a:rPr lang="en-US" sz="2800" b="1" dirty="0">
                <a:solidFill>
                  <a:srgbClr val="22252B"/>
                </a:solidFill>
                <a:latin typeface="Arial" pitchFamily="34" charset="0"/>
                <a:ea typeface="Arial" pitchFamily="34" charset="-122"/>
                <a:cs typeface="Arial" pitchFamily="34" charset="-120"/>
              </a:rPr>
              <a:t>Research questions answered before deployment</a:t>
            </a:r>
            <a:endParaRPr lang="en-US" sz="2800" dirty="0"/>
          </a:p>
        </p:txBody>
      </p:sp>
      <p:sp>
        <p:nvSpPr>
          <p:cNvPr id="13" name="Text 11"/>
          <p:cNvSpPr txBox="1"/>
          <p:nvPr/>
        </p:nvSpPr>
        <p:spPr>
          <a:xfrm>
            <a:off x="822960" y="15681960"/>
            <a:ext cx="13655040" cy="2286000"/>
          </a:xfrm>
          <a:prstGeom prst="rect">
            <a:avLst/>
          </a:prstGeom>
          <a:noFill/>
          <a:ln/>
        </p:spPr>
        <p:txBody>
          <a:bodyPr wrap="square" lIns="0" tIns="0" rIns="0" bIns="0" rtlCol="0" anchor="t"/>
          <a:lstStyle/>
          <a:p>
            <a:pPr indent="0" marL="0">
              <a:lnSpc>
                <a:spcPct val="105000"/>
              </a:lnSpc>
              <a:spcAft>
                <a:spcPts val="400"/>
              </a:spcAft>
              <a:buNone/>
            </a:pPr>
            <a:r>
              <a:rPr lang="en-US" sz="2200" b="1" dirty="0">
                <a:solidFill>
                  <a:srgbClr val="22252B"/>
                </a:solidFill>
                <a:latin typeface="Arial" pitchFamily="34" charset="0"/>
                <a:ea typeface="Arial" pitchFamily="34" charset="-122"/>
                <a:cs typeface="Arial" pitchFamily="34" charset="-120"/>
              </a:rPr>
              <a:t>RQ1 Reproducibility. </a:t>
            </a:r>
            <a:pPr indent="0" marL="0">
              <a:lnSpc>
                <a:spcPct val="105000"/>
              </a:lnSpc>
              <a:spcAft>
                <a:spcPts val="400"/>
              </a:spcAft>
              <a:buNone/>
            </a:pPr>
            <a:r>
              <a:rPr lang="en-US" sz="2200" dirty="0">
                <a:solidFill>
                  <a:srgbClr val="22252B"/>
                </a:solidFill>
                <a:latin typeface="Arial" pitchFamily="34" charset="0"/>
                <a:ea typeface="Arial" pitchFamily="34" charset="-122"/>
                <a:cs typeface="Arial" pitchFamily="34" charset="-120"/>
              </a:rPr>
              <a:t>Do the images run the documented workflows and real CS 218 assignments?</a:t>
            </a:r>
            <a:endParaRPr lang="en-US" sz="2200" dirty="0"/>
          </a:p>
          <a:p>
            <a:pPr indent="0" marL="0">
              <a:lnSpc>
                <a:spcPct val="105000"/>
              </a:lnSpc>
              <a:spcAft>
                <a:spcPts val="400"/>
              </a:spcAft>
              <a:buNone/>
            </a:pPr>
            <a:r>
              <a:rPr lang="en-US" sz="2200" b="1" dirty="0">
                <a:solidFill>
                  <a:srgbClr val="22252B"/>
                </a:solidFill>
                <a:latin typeface="Arial" pitchFamily="34" charset="0"/>
                <a:ea typeface="Arial" pitchFamily="34" charset="-122"/>
                <a:cs typeface="Arial" pitchFamily="34" charset="-120"/>
              </a:rPr>
              <a:t>RQ2 Portability. </a:t>
            </a:r>
            <a:pPr indent="0" marL="0">
              <a:lnSpc>
                <a:spcPct val="105000"/>
              </a:lnSpc>
              <a:spcAft>
                <a:spcPts val="400"/>
              </a:spcAft>
              <a:buNone/>
            </a:pPr>
            <a:r>
              <a:rPr lang="en-US" sz="2200" dirty="0">
                <a:solidFill>
                  <a:srgbClr val="22252B"/>
                </a:solidFill>
                <a:latin typeface="Arial" pitchFamily="34" charset="0"/>
                <a:ea typeface="Arial" pitchFamily="34" charset="-122"/>
                <a:cs typeface="Arial" pitchFamily="34" charset="-120"/>
              </a:rPr>
              <a:t>Which operating systems and processors can run the assembly environment?</a:t>
            </a:r>
            <a:endParaRPr lang="en-US" sz="2200" dirty="0"/>
          </a:p>
          <a:p>
            <a:pPr indent="0" marL="0">
              <a:lnSpc>
                <a:spcPct val="105000"/>
              </a:lnSpc>
              <a:spcAft>
                <a:spcPts val="400"/>
              </a:spcAft>
              <a:buNone/>
            </a:pPr>
            <a:r>
              <a:rPr lang="en-US" sz="2200" b="1" dirty="0">
                <a:solidFill>
                  <a:srgbClr val="22252B"/>
                </a:solidFill>
                <a:latin typeface="Arial" pitchFamily="34" charset="0"/>
                <a:ea typeface="Arial" pitchFamily="34" charset="-122"/>
                <a:cs typeface="Arial" pitchFamily="34" charset="-120"/>
              </a:rPr>
              <a:t>RQ3 Resource cost. </a:t>
            </a:r>
            <a:pPr indent="0" marL="0">
              <a:lnSpc>
                <a:spcPct val="105000"/>
              </a:lnSpc>
              <a:spcAft>
                <a:spcPts val="400"/>
              </a:spcAft>
              <a:buNone/>
            </a:pPr>
            <a:r>
              <a:rPr lang="en-US" sz="2200" dirty="0">
                <a:solidFill>
                  <a:srgbClr val="22252B"/>
                </a:solidFill>
                <a:latin typeface="Arial" pitchFamily="34" charset="0"/>
                <a:ea typeface="Arial" pitchFamily="34" charset="-122"/>
                <a:cs typeface="Arial" pitchFamily="34" charset="-120"/>
              </a:rPr>
              <a:t>Startup, storage, memory, compile time, and the emulation overhead on ARM.</a:t>
            </a:r>
            <a:endParaRPr lang="en-US" sz="2200" dirty="0"/>
          </a:p>
          <a:p>
            <a:pPr indent="0" marL="0">
              <a:lnSpc>
                <a:spcPct val="105000"/>
              </a:lnSpc>
              <a:spcAft>
                <a:spcPts val="400"/>
              </a:spcAft>
              <a:buNone/>
            </a:pPr>
            <a:r>
              <a:rPr lang="en-US" sz="2200" b="1" dirty="0">
                <a:solidFill>
                  <a:srgbClr val="22252B"/>
                </a:solidFill>
                <a:latin typeface="Arial" pitchFamily="34" charset="0"/>
                <a:ea typeface="Arial" pitchFamily="34" charset="-122"/>
                <a:cs typeface="Arial" pitchFamily="34" charset="-120"/>
              </a:rPr>
              <a:t>RQ4 Persistence. </a:t>
            </a:r>
            <a:pPr indent="0" marL="0">
              <a:lnSpc>
                <a:spcPct val="105000"/>
              </a:lnSpc>
              <a:spcAft>
                <a:spcPts val="400"/>
              </a:spcAft>
              <a:buNone/>
            </a:pPr>
            <a:r>
              <a:rPr lang="en-US" sz="2200" dirty="0">
                <a:solidFill>
                  <a:srgbClr val="22252B"/>
                </a:solidFill>
                <a:latin typeface="Arial" pitchFamily="34" charset="0"/>
                <a:ea typeface="Arial" pitchFamily="34" charset="-122"/>
                <a:cs typeface="Arial" pitchFamily="34" charset="-120"/>
              </a:rPr>
              <a:t>Do student files survive replacing the container?</a:t>
            </a:r>
            <a:endParaRPr lang="en-US" sz="2200" dirty="0"/>
          </a:p>
          <a:p>
            <a:pPr indent="0" marL="0">
              <a:lnSpc>
                <a:spcPct val="105000"/>
              </a:lnSpc>
              <a:spcAft>
                <a:spcPts val="400"/>
              </a:spcAft>
              <a:buNone/>
            </a:pPr>
            <a:r>
              <a:rPr lang="en-US" sz="2200" b="1" dirty="0">
                <a:solidFill>
                  <a:srgbClr val="22252B"/>
                </a:solidFill>
                <a:latin typeface="Arial" pitchFamily="34" charset="0"/>
                <a:ea typeface="Arial" pitchFamily="34" charset="-122"/>
                <a:cs typeface="Arial" pitchFamily="34" charset="-120"/>
              </a:rPr>
              <a:t>RQ5 Architecture fidelity. </a:t>
            </a:r>
            <a:pPr indent="0" marL="0">
              <a:lnSpc>
                <a:spcPct val="105000"/>
              </a:lnSpc>
              <a:spcAft>
                <a:spcPts val="400"/>
              </a:spcAft>
              <a:buNone/>
            </a:pPr>
            <a:r>
              <a:rPr lang="en-US" sz="2200" dirty="0">
                <a:solidFill>
                  <a:srgbClr val="22252B"/>
                </a:solidFill>
                <a:latin typeface="Arial" pitchFamily="34" charset="0"/>
                <a:ea typeface="Arial" pitchFamily="34" charset="-122"/>
                <a:cs typeface="Arial" pitchFamily="34" charset="-120"/>
              </a:rPr>
              <a:t>How far does an amd64-only image, including its debugger, work on ARM?</a:t>
            </a:r>
            <a:endParaRPr lang="en-US" sz="2200" dirty="0"/>
          </a:p>
        </p:txBody>
      </p:sp>
      <p:sp>
        <p:nvSpPr>
          <p:cNvPr id="14" name="Text 12"/>
          <p:cNvSpPr txBox="1"/>
          <p:nvPr/>
        </p:nvSpPr>
        <p:spPr>
          <a:xfrm>
            <a:off x="822960" y="18105120"/>
            <a:ext cx="1365504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UNLV’s own path, one step behind the literature</a:t>
            </a:r>
            <a:endParaRPr lang="en-US" sz="4000" dirty="0"/>
          </a:p>
        </p:txBody>
      </p:sp>
      <p:sp>
        <p:nvSpPr>
          <p:cNvPr id="15" name="Shape 13"/>
          <p:cNvSpPr/>
          <p:nvPr/>
        </p:nvSpPr>
        <p:spPr>
          <a:xfrm>
            <a:off x="822960" y="19220688"/>
            <a:ext cx="548640" cy="548640"/>
          </a:xfrm>
          <a:prstGeom prst="ellipse">
            <a:avLst/>
          </a:prstGeom>
          <a:solidFill>
            <a:srgbClr val="5E5B55"/>
          </a:solidFill>
          <a:ln w="12700">
            <a:solidFill>
              <a:srgbClr val="5E5B55"/>
            </a:solidFill>
            <a:prstDash val="solid"/>
          </a:ln>
        </p:spPr>
      </p:sp>
      <p:sp>
        <p:nvSpPr>
          <p:cNvPr id="16" name="Shape 14"/>
          <p:cNvSpPr/>
          <p:nvPr/>
        </p:nvSpPr>
        <p:spPr>
          <a:xfrm>
            <a:off x="1097280" y="19796760"/>
            <a:ext cx="0" cy="1143000"/>
          </a:xfrm>
          <a:prstGeom prst="line">
            <a:avLst/>
          </a:prstGeom>
          <a:noFill/>
          <a:ln w="50800">
            <a:solidFill>
              <a:srgbClr val="D9D6CF"/>
            </a:solidFill>
            <a:prstDash val="solid"/>
          </a:ln>
        </p:spPr>
      </p:sp>
      <p:sp>
        <p:nvSpPr>
          <p:cNvPr id="17" name="Text 15"/>
          <p:cNvSpPr txBox="1"/>
          <p:nvPr/>
        </p:nvSpPr>
        <p:spPr>
          <a:xfrm>
            <a:off x="1645920" y="19110960"/>
            <a:ext cx="12832080" cy="731520"/>
          </a:xfrm>
          <a:prstGeom prst="rect">
            <a:avLst/>
          </a:prstGeom>
          <a:noFill/>
          <a:ln/>
        </p:spPr>
        <p:txBody>
          <a:bodyPr wrap="square" lIns="0" tIns="0" rIns="0" bIns="0" rtlCol="0" anchor="ctr"/>
          <a:lstStyle/>
          <a:p>
            <a:pPr indent="0" marL="0">
              <a:buNone/>
            </a:pPr>
            <a:r>
              <a:rPr lang="en-US" sz="2500" b="1" dirty="0">
                <a:solidFill>
                  <a:srgbClr val="22252B"/>
                </a:solidFill>
                <a:latin typeface="Arial" pitchFamily="34" charset="0"/>
                <a:ea typeface="Arial" pitchFamily="34" charset="-122"/>
                <a:cs typeface="Arial" pitchFamily="34" charset="-120"/>
              </a:rPr>
              <a:t>1. Shared login servers over SSH (PuTTY)</a:t>
            </a:r>
            <a:endParaRPr lang="en-US" sz="2500" dirty="0"/>
          </a:p>
        </p:txBody>
      </p:sp>
      <p:sp>
        <p:nvSpPr>
          <p:cNvPr id="18" name="Text 16"/>
          <p:cNvSpPr txBox="1"/>
          <p:nvPr/>
        </p:nvSpPr>
        <p:spPr>
          <a:xfrm>
            <a:off x="1645920" y="19842480"/>
            <a:ext cx="12832080" cy="1097280"/>
          </a:xfrm>
          <a:prstGeom prst="rect">
            <a:avLst/>
          </a:prstGeom>
          <a:noFill/>
          <a:ln/>
        </p:spPr>
        <p:txBody>
          <a:bodyPr wrap="square" lIns="0" tIns="0" rIns="0" bIns="0" rtlCol="0" anchor="t"/>
          <a:lstStyle/>
          <a:p>
            <a:pPr indent="0" marL="0">
              <a:lnSpc>
                <a:spcPct val="104000"/>
              </a:lnSpc>
              <a:buNone/>
            </a:pPr>
            <a:r>
              <a:rPr lang="en-US" sz="2100" dirty="0">
                <a:solidFill>
                  <a:srgbClr val="22252B"/>
                </a:solidFill>
                <a:latin typeface="Arial" pitchFamily="34" charset="0"/>
                <a:ea typeface="Arial" pitchFamily="34" charset="-122"/>
                <a:cs typeface="Arial" pitchFamily="34" charset="-120"/>
              </a:rPr>
              <a:t>bobby, sally, cardiac: two decades of departmental Linux hosts and a submit script that required logging in even from the lab. Now decommissioned; the wiki documenting them was deleted in a 2025 site rebuild [12].</a:t>
            </a:r>
            <a:endParaRPr lang="en-US" sz="2100" dirty="0"/>
          </a:p>
        </p:txBody>
      </p:sp>
      <p:sp>
        <p:nvSpPr>
          <p:cNvPr id="19" name="Shape 17"/>
          <p:cNvSpPr/>
          <p:nvPr/>
        </p:nvSpPr>
        <p:spPr>
          <a:xfrm>
            <a:off x="822960" y="21049488"/>
            <a:ext cx="548640" cy="548640"/>
          </a:xfrm>
          <a:prstGeom prst="ellipse">
            <a:avLst/>
          </a:prstGeom>
          <a:solidFill>
            <a:srgbClr val="5E5B55"/>
          </a:solidFill>
          <a:ln w="12700">
            <a:solidFill>
              <a:srgbClr val="5E5B55"/>
            </a:solidFill>
            <a:prstDash val="solid"/>
          </a:ln>
        </p:spPr>
      </p:sp>
      <p:sp>
        <p:nvSpPr>
          <p:cNvPr id="20" name="Shape 18"/>
          <p:cNvSpPr/>
          <p:nvPr/>
        </p:nvSpPr>
        <p:spPr>
          <a:xfrm>
            <a:off x="1097280" y="21625560"/>
            <a:ext cx="0" cy="1417320"/>
          </a:xfrm>
          <a:prstGeom prst="line">
            <a:avLst/>
          </a:prstGeom>
          <a:noFill/>
          <a:ln w="50800">
            <a:solidFill>
              <a:srgbClr val="D9D6CF"/>
            </a:solidFill>
            <a:prstDash val="solid"/>
          </a:ln>
        </p:spPr>
      </p:sp>
      <p:sp>
        <p:nvSpPr>
          <p:cNvPr id="21" name="Text 19"/>
          <p:cNvSpPr txBox="1"/>
          <p:nvPr/>
        </p:nvSpPr>
        <p:spPr>
          <a:xfrm>
            <a:off x="1645920" y="20939760"/>
            <a:ext cx="12832080" cy="731520"/>
          </a:xfrm>
          <a:prstGeom prst="rect">
            <a:avLst/>
          </a:prstGeom>
          <a:noFill/>
          <a:ln/>
        </p:spPr>
        <p:txBody>
          <a:bodyPr wrap="square" lIns="0" tIns="0" rIns="0" bIns="0" rtlCol="0" anchor="ctr"/>
          <a:lstStyle/>
          <a:p>
            <a:pPr indent="0" marL="0">
              <a:buNone/>
            </a:pPr>
            <a:r>
              <a:rPr lang="en-US" sz="2500" b="1" dirty="0">
                <a:solidFill>
                  <a:srgbClr val="22252B"/>
                </a:solidFill>
                <a:latin typeface="Arial" pitchFamily="34" charset="0"/>
                <a:ea typeface="Arial" pitchFamily="34" charset="-122"/>
                <a:cs typeface="Arial" pitchFamily="34" charset="-120"/>
              </a:rPr>
              <a:t>2. Virtual machines, one per course</a:t>
            </a:r>
            <a:endParaRPr lang="en-US" sz="2500" dirty="0"/>
          </a:p>
        </p:txBody>
      </p:sp>
      <p:sp>
        <p:nvSpPr>
          <p:cNvPr id="22" name="Text 20"/>
          <p:cNvSpPr txBox="1"/>
          <p:nvPr/>
        </p:nvSpPr>
        <p:spPr>
          <a:xfrm>
            <a:off x="1645920" y="21671280"/>
            <a:ext cx="12832080" cy="1371600"/>
          </a:xfrm>
          <a:prstGeom prst="rect">
            <a:avLst/>
          </a:prstGeom>
          <a:noFill/>
          <a:ln/>
        </p:spPr>
        <p:txBody>
          <a:bodyPr wrap="square" lIns="0" tIns="0" rIns="0" bIns="0" rtlCol="0" anchor="t"/>
          <a:lstStyle/>
          <a:p>
            <a:pPr indent="0" marL="0">
              <a:lnSpc>
                <a:spcPct val="104000"/>
              </a:lnSpc>
              <a:buNone/>
            </a:pPr>
            <a:r>
              <a:rPr lang="en-US" sz="2100" dirty="0">
                <a:solidFill>
                  <a:srgbClr val="22252B"/>
                </a:solidFill>
                <a:latin typeface="Arial" pitchFamily="34" charset="0"/>
                <a:ea typeface="Arial" pitchFamily="34" charset="-122"/>
                <a:cs typeface="Arial" pitchFamily="34" charset="-120"/>
              </a:rPr>
              <a:t>CS 218 today: a 19 GB VirtualBox image for Intel and an experimental Fall-2023 image for Apple Silicon that emulates a whole x86-64 computer, so slowly the course warns VS Code “may not be usable.” Official advice for M1/M2 owners: go to the TBE-A311 lab with a USB drive.</a:t>
            </a:r>
            <a:endParaRPr lang="en-US" sz="2100" dirty="0"/>
          </a:p>
        </p:txBody>
      </p:sp>
      <p:sp>
        <p:nvSpPr>
          <p:cNvPr id="23" name="Shape 21"/>
          <p:cNvSpPr/>
          <p:nvPr/>
        </p:nvSpPr>
        <p:spPr>
          <a:xfrm>
            <a:off x="822960" y="23152608"/>
            <a:ext cx="548640" cy="548640"/>
          </a:xfrm>
          <a:prstGeom prst="ellipse">
            <a:avLst/>
          </a:prstGeom>
          <a:solidFill>
            <a:srgbClr val="B10202"/>
          </a:solidFill>
          <a:ln w="12700">
            <a:solidFill>
              <a:srgbClr val="B10202"/>
            </a:solidFill>
            <a:prstDash val="solid"/>
          </a:ln>
        </p:spPr>
      </p:sp>
      <p:sp>
        <p:nvSpPr>
          <p:cNvPr id="24" name="Text 22"/>
          <p:cNvSpPr txBox="1"/>
          <p:nvPr/>
        </p:nvSpPr>
        <p:spPr>
          <a:xfrm>
            <a:off x="1645920" y="23042880"/>
            <a:ext cx="12832080" cy="731520"/>
          </a:xfrm>
          <a:prstGeom prst="rect">
            <a:avLst/>
          </a:prstGeom>
          <a:noFill/>
          <a:ln/>
        </p:spPr>
        <p:txBody>
          <a:bodyPr wrap="square" lIns="0" tIns="0" rIns="0" bIns="0" rtlCol="0" anchor="ctr"/>
          <a:lstStyle/>
          <a:p>
            <a:pPr indent="0" marL="0">
              <a:buNone/>
            </a:pPr>
            <a:r>
              <a:rPr lang="en-US" sz="2500" b="1" dirty="0">
                <a:solidFill>
                  <a:srgbClr val="B10202"/>
                </a:solidFill>
                <a:latin typeface="Arial" pitchFamily="34" charset="0"/>
                <a:ea typeface="Arial" pitchFamily="34" charset="-122"/>
                <a:cs typeface="Arial" pitchFamily="34" charset="-120"/>
              </a:rPr>
              <a:t>3. A container on the student’s own laptop (this project)</a:t>
            </a:r>
            <a:endParaRPr lang="en-US" sz="2500" dirty="0"/>
          </a:p>
        </p:txBody>
      </p:sp>
      <p:sp>
        <p:nvSpPr>
          <p:cNvPr id="25" name="Text 23"/>
          <p:cNvSpPr txBox="1"/>
          <p:nvPr/>
        </p:nvSpPr>
        <p:spPr>
          <a:xfrm>
            <a:off x="1645920" y="23774400"/>
            <a:ext cx="12832080" cy="914400"/>
          </a:xfrm>
          <a:prstGeom prst="rect">
            <a:avLst/>
          </a:prstGeom>
          <a:noFill/>
          <a:ln/>
        </p:spPr>
        <p:txBody>
          <a:bodyPr wrap="square" lIns="0" tIns="0" rIns="0" bIns="0" rtlCol="0" anchor="t"/>
          <a:lstStyle/>
          <a:p>
            <a:pPr indent="0" marL="0">
              <a:lnSpc>
                <a:spcPct val="104000"/>
              </a:lnSpc>
              <a:buNone/>
            </a:pPr>
            <a:r>
              <a:rPr lang="en-US" sz="2100" dirty="0">
                <a:solidFill>
                  <a:srgbClr val="22252B"/>
                </a:solidFill>
                <a:latin typeface="Arial" pitchFamily="34" charset="0"/>
                <a:ea typeface="Arial" pitchFamily="34" charset="-122"/>
                <a:cs typeface="Arial" pitchFamily="34" charset="-120"/>
              </a:rPr>
              <a:t>One 552 MB download, one command, VS Code in a browser tab. Files stay in a normal folder on the laptop. No server, no account, no VPN; works offline.</a:t>
            </a:r>
            <a:endParaRPr lang="en-US" sz="2100" dirty="0"/>
          </a:p>
        </p:txBody>
      </p:sp>
      <p:sp>
        <p:nvSpPr>
          <p:cNvPr id="26" name="Text 24"/>
          <p:cNvSpPr txBox="1"/>
          <p:nvPr/>
        </p:nvSpPr>
        <p:spPr>
          <a:xfrm>
            <a:off x="15118080" y="4937760"/>
            <a:ext cx="1365504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2   Methods: what we built</a:t>
            </a:r>
            <a:endParaRPr lang="en-US" sz="4000" dirty="0"/>
          </a:p>
        </p:txBody>
      </p:sp>
      <p:sp>
        <p:nvSpPr>
          <p:cNvPr id="27" name="Text 25"/>
          <p:cNvSpPr txBox="1"/>
          <p:nvPr/>
        </p:nvSpPr>
        <p:spPr>
          <a:xfrm>
            <a:off x="15118080" y="5943600"/>
            <a:ext cx="13655040" cy="2377440"/>
          </a:xfrm>
          <a:prstGeom prst="rect">
            <a:avLst/>
          </a:prstGeom>
          <a:noFill/>
          <a:ln/>
        </p:spPr>
        <p:txBody>
          <a:bodyPr wrap="square" lIns="0" tIns="0" rIns="0" bIns="0" rtlCol="0" anchor="t"/>
          <a:lstStyle/>
          <a:p>
            <a:pPr indent="0" marL="0">
              <a:lnSpc>
                <a:spcPct val="105000"/>
              </a:lnSpc>
              <a:spcAft>
                <a:spcPts val="800"/>
              </a:spcAft>
              <a:buNone/>
            </a:pPr>
            <a:r>
              <a:rPr lang="en-US" sz="2500" dirty="0">
                <a:solidFill>
                  <a:srgbClr val="22252B"/>
                </a:solidFill>
                <a:latin typeface="Arial" pitchFamily="34" charset="0"/>
                <a:ea typeface="Arial" pitchFamily="34" charset="-122"/>
                <a:cs typeface="Arial" pitchFamily="34" charset="-120"/>
              </a:rPr>
              <a:t>Two Docker images, one per course, each packing code-server (VS Code served to the browser) with the exact toolchain the course expects: g++ for CS 135; yasm, nasm, ld, and gdb for CS 218. The instructor pins every version. The x86 image is deliberately amd64-only so students assemble and run real x86-64 binaries; on ARM hosts Docker runs it through a translation layer. Every AI feature in the editor is disabled per course policy.</a:t>
            </a:r>
            <a:endParaRPr lang="en-US" sz="2500" dirty="0"/>
          </a:p>
        </p:txBody>
      </p:sp>
      <p:sp>
        <p:nvSpPr>
          <p:cNvPr id="28" name="Shape 26"/>
          <p:cNvSpPr/>
          <p:nvPr/>
        </p:nvSpPr>
        <p:spPr>
          <a:xfrm>
            <a:off x="15118080" y="8321040"/>
            <a:ext cx="13655040" cy="960120"/>
          </a:xfrm>
          <a:prstGeom prst="rect">
            <a:avLst/>
          </a:prstGeom>
          <a:solidFill>
            <a:srgbClr val="22252B"/>
          </a:solidFill>
          <a:ln w="12700">
            <a:solidFill>
              <a:srgbClr val="22252B"/>
            </a:solidFill>
            <a:prstDash val="solid"/>
          </a:ln>
        </p:spPr>
      </p:sp>
      <p:sp>
        <p:nvSpPr>
          <p:cNvPr id="29" name="Text 27"/>
          <p:cNvSpPr txBox="1"/>
          <p:nvPr/>
        </p:nvSpPr>
        <p:spPr>
          <a:xfrm>
            <a:off x="15438120" y="8321040"/>
            <a:ext cx="13014960" cy="960120"/>
          </a:xfrm>
          <a:prstGeom prst="rect">
            <a:avLst/>
          </a:prstGeom>
          <a:noFill/>
          <a:ln/>
        </p:spPr>
        <p:txBody>
          <a:bodyPr wrap="square" lIns="0" tIns="0" rIns="0" bIns="0" rtlCol="0" anchor="ctr"/>
          <a:lstStyle/>
          <a:p>
            <a:pPr indent="0" marL="0">
              <a:buNone/>
            </a:pPr>
            <a:r>
              <a:rPr lang="en-US" sz="1900" dirty="0">
                <a:solidFill>
                  <a:srgbClr val="FFFFFF"/>
                </a:solidFill>
                <a:latin typeface="Courier New" pitchFamily="34" charset="0"/>
                <a:ea typeface="Courier New" pitchFamily="34" charset="-122"/>
                <a:cs typeface="Courier New" pitchFamily="34" charset="-120"/>
              </a:rPr>
              <a:t>docker run -p 127.0.0.1:8218:8080 -v ~/UNLV/x86-workspace:/home/coder/workspace seancnc/unlv-x86-ide</a:t>
            </a:r>
            <a:endParaRPr lang="en-US" sz="1900" dirty="0"/>
          </a:p>
        </p:txBody>
      </p:sp>
      <p:pic>
        <p:nvPicPr>
          <p:cNvPr id="30" name="Image 0" descr="/private/tmp/claude-501/-Users-seancuenco-Documents-UNLVDockerIDEs/cb525298-55fd-43a6-807a-d35debab5bc5/scratchpad/fig1-architecture.png">    </p:cNvPr>
          <p:cNvPicPr>
            <a:picLocks noChangeAspect="1"/>
          </p:cNvPicPr>
          <p:nvPr/>
        </p:nvPicPr>
        <p:blipFill>
          <a:blip r:embed="rId1"/>
          <a:stretch>
            <a:fillRect/>
          </a:stretch>
        </p:blipFill>
        <p:spPr>
          <a:xfrm>
            <a:off x="18379440" y="9555480"/>
            <a:ext cx="7132320" cy="6784402"/>
          </a:xfrm>
          <a:prstGeom prst="rect">
            <a:avLst/>
          </a:prstGeom>
        </p:spPr>
      </p:pic>
      <p:sp>
        <p:nvSpPr>
          <p:cNvPr id="31" name="Text 28"/>
          <p:cNvSpPr txBox="1"/>
          <p:nvPr/>
        </p:nvSpPr>
        <p:spPr>
          <a:xfrm>
            <a:off x="15118080" y="16431322"/>
            <a:ext cx="13655040" cy="777240"/>
          </a:xfrm>
          <a:prstGeom prst="rect">
            <a:avLst/>
          </a:prstGeom>
          <a:noFill/>
          <a:ln/>
        </p:spPr>
        <p:txBody>
          <a:bodyPr wrap="square" lIns="0" tIns="0" rIns="0" bIns="0" rtlCol="0" anchor="t"/>
          <a:lstStyle/>
          <a:p>
            <a:pPr indent="0" marL="0">
              <a:lnSpc>
                <a:spcPct val="102000"/>
              </a:lnSpc>
              <a:spcAft>
                <a:spcPts val="800"/>
              </a:spcAft>
              <a:buNone/>
            </a:pPr>
            <a:r>
              <a:rPr lang="en-US" sz="2000" b="1" dirty="0">
                <a:solidFill>
                  <a:srgbClr val="5E5B55"/>
                </a:solidFill>
                <a:latin typeface="Arial" pitchFamily="34" charset="0"/>
                <a:ea typeface="Arial" pitchFamily="34" charset="-122"/>
                <a:cs typeface="Arial" pitchFamily="34" charset="-120"/>
              </a:rPr>
              <a:t>Figure 1. </a:t>
            </a:r>
            <a:pPr indent="0" marL="0">
              <a:lnSpc>
                <a:spcPct val="102000"/>
              </a:lnSpc>
              <a:spcAft>
                <a:spcPts val="800"/>
              </a:spcAft>
              <a:buNone/>
            </a:pPr>
            <a:r>
              <a:rPr lang="en-US" sz="2000" dirty="0">
                <a:solidFill>
                  <a:srgbClr val="5E5B55"/>
                </a:solidFill>
                <a:latin typeface="Arial" pitchFamily="34" charset="0"/>
                <a:ea typeface="Arial" pitchFamily="34" charset="-122"/>
                <a:cs typeface="Arial" pitchFamily="34" charset="-120"/>
              </a:rPr>
              <a:t>One course IDE. Everything runs on the student’s machine; coursework lives in an ordinary host folder that survives deleting or updating the container. The only network dependency is the first download.</a:t>
            </a:r>
            <a:endParaRPr lang="en-US" sz="2000" dirty="0"/>
          </a:p>
        </p:txBody>
      </p:sp>
      <p:sp>
        <p:nvSpPr>
          <p:cNvPr id="32" name="Text 29"/>
          <p:cNvSpPr txBox="1"/>
          <p:nvPr/>
        </p:nvSpPr>
        <p:spPr>
          <a:xfrm>
            <a:off x="15118080" y="17345722"/>
            <a:ext cx="13655040" cy="548640"/>
          </a:xfrm>
          <a:prstGeom prst="rect">
            <a:avLst/>
          </a:prstGeom>
          <a:noFill/>
          <a:ln/>
        </p:spPr>
        <p:txBody>
          <a:bodyPr wrap="square" lIns="0" tIns="0" rIns="0" bIns="0" rtlCol="0" anchor="b"/>
          <a:lstStyle/>
          <a:p>
            <a:pPr indent="0" marL="0">
              <a:buNone/>
            </a:pPr>
            <a:r>
              <a:rPr lang="en-US" sz="2800" b="1" dirty="0">
                <a:solidFill>
                  <a:srgbClr val="22252B"/>
                </a:solidFill>
                <a:latin typeface="Arial" pitchFamily="34" charset="0"/>
                <a:ea typeface="Arial" pitchFamily="34" charset="-122"/>
                <a:cs typeface="Arial" pitchFamily="34" charset="-120"/>
              </a:rPr>
              <a:t>2.2  Evaluation: same exam, four kinds of computer</a:t>
            </a:r>
            <a:endParaRPr lang="en-US" sz="2800" dirty="0"/>
          </a:p>
        </p:txBody>
      </p:sp>
      <p:sp>
        <p:nvSpPr>
          <p:cNvPr id="33" name="Text 30"/>
          <p:cNvSpPr txBox="1"/>
          <p:nvPr/>
        </p:nvSpPr>
        <p:spPr>
          <a:xfrm>
            <a:off x="15118080" y="17985802"/>
            <a:ext cx="13655040" cy="2834640"/>
          </a:xfrm>
          <a:prstGeom prst="rect">
            <a:avLst/>
          </a:prstGeom>
          <a:noFill/>
          <a:ln/>
        </p:spPr>
        <p:txBody>
          <a:bodyPr wrap="square" lIns="0" tIns="0" rIns="0" bIns="0" rtlCol="0" anchor="t"/>
          <a:lstStyle/>
          <a:p>
            <a:pPr indent="0" marL="0">
              <a:lnSpc>
                <a:spcPct val="105000"/>
              </a:lnSpc>
              <a:spcAft>
                <a:spcPts val="800"/>
              </a:spcAft>
              <a:buNone/>
            </a:pPr>
            <a:r>
              <a:rPr lang="en-US" sz="2500" dirty="0">
                <a:solidFill>
                  <a:srgbClr val="22252B"/>
                </a:solidFill>
                <a:latin typeface="Arial" pitchFamily="34" charset="0"/>
                <a:ea typeface="Arial" pitchFamily="34" charset="-122"/>
                <a:cs typeface="Arial" pitchFamily="34" charset="-120"/>
              </a:rPr>
              <a:t>We cannot borrow one of every laptop students own, so we rented them (Table 1). On each host the same unmodified script (ci-test.sh) performed a student’s first day and more: a timed download that records the image digest; a timed start until the editor answers; a starter-file check; three assemble-link-run cycles; a scripted gdb probe; idle memory; a timed build and run of four real CS 218 assignments (ast3, ast04, ast06, ast12, the last multithreaded) with peak memory sampled; and destruction and recreation of the container to check that files survive. Every number on this poster is transcribed from the JSON the script writes.</a:t>
            </a:r>
            <a:endParaRPr lang="en-US" sz="2500" dirty="0"/>
          </a:p>
        </p:txBody>
      </p:sp>
      <p:sp>
        <p:nvSpPr>
          <p:cNvPr id="34" name="Text 31"/>
          <p:cNvSpPr txBox="1"/>
          <p:nvPr/>
        </p:nvSpPr>
        <p:spPr>
          <a:xfrm>
            <a:off x="15118080" y="20866162"/>
            <a:ext cx="13655040" cy="502920"/>
          </a:xfrm>
          <a:prstGeom prst="rect">
            <a:avLst/>
          </a:prstGeom>
          <a:noFill/>
          <a:ln/>
        </p:spPr>
        <p:txBody>
          <a:bodyPr wrap="square" lIns="0" tIns="0" rIns="0" bIns="0" rtlCol="0" anchor="t"/>
          <a:lstStyle/>
          <a:p>
            <a:pPr indent="0" marL="0">
              <a:lnSpc>
                <a:spcPct val="105000"/>
              </a:lnSpc>
              <a:buNone/>
            </a:pPr>
            <a:r>
              <a:rPr lang="en-US" sz="2000" b="1" dirty="0">
                <a:solidFill>
                  <a:srgbClr val="5E5B55"/>
                </a:solidFill>
                <a:latin typeface="Arial" pitchFamily="34" charset="0"/>
                <a:ea typeface="Arial" pitchFamily="34" charset="-122"/>
                <a:cs typeface="Arial" pitchFamily="34" charset="-120"/>
              </a:rPr>
              <a:t>Table 1. </a:t>
            </a:r>
            <a:pPr indent="0" marL="0">
              <a:lnSpc>
                <a:spcPct val="105000"/>
              </a:lnSpc>
              <a:buNone/>
            </a:pPr>
            <a:r>
              <a:rPr lang="en-US" sz="2000" dirty="0">
                <a:solidFill>
                  <a:srgbClr val="5E5B55"/>
                </a:solidFill>
                <a:latin typeface="Arial" pitchFamily="34" charset="0"/>
                <a:ea typeface="Arial" pitchFamily="34" charset="-122"/>
                <a:cs typeface="Arial" pitchFamily="34" charset="-120"/>
              </a:rPr>
              <a:t>The four hosts. Cells 1 and 2 are same-size Intel/ARM siblings, so their comparison isolates emulation.</a:t>
            </a:r>
            <a:endParaRPr lang="en-US" sz="2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5118080" y="21369082"/>
          <a:ext cx="13655040" cy="914400"/>
        </p:xfrm>
        <a:graphic>
          <a:graphicData uri="http://schemas.openxmlformats.org/drawingml/2006/table">
            <a:tbl>
              <a:tblPr/>
              <a:tblGrid>
                <a:gridCol w="2834640"/>
                <a:gridCol w="4937760"/>
                <a:gridCol w="4206240"/>
                <a:gridCol w="1737360"/>
              </a:tblGrid>
              <a:tr h="548640">
                <a:tc>
                  <a:txBody>
                    <a:bodyPr/>
                    <a:lstStyle/>
                    <a:p>
                      <a:pPr indent="0" marL="0">
                        <a:buNone/>
                      </a:pPr>
                      <a:r>
                        <a:rPr lang="en-US" sz="1800" b="1" dirty="0">
                          <a:solidFill>
                            <a:srgbClr val="FFFFFF"/>
                          </a:solidFill>
                          <a:latin typeface="Arial" pitchFamily="34" charset="0"/>
                          <a:ea typeface="Arial" pitchFamily="34" charset="-122"/>
                          <a:cs typeface="Arial" pitchFamily="34" charset="-120"/>
                        </a:rPr>
                        <a:t>Cell</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Host</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OS / Docker</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x86 image</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r>
              <a:tr h="777240">
                <a:tc>
                  <a:txBody>
                    <a:bodyPr/>
                    <a:lstStyle/>
                    <a:p>
                      <a:pPr indent="0" marL="0">
                        <a:buNone/>
                      </a:pPr>
                      <a:r>
                        <a:rPr lang="en-US" sz="1800" b="1" dirty="0">
                          <a:solidFill>
                            <a:srgbClr val="22252B"/>
                          </a:solidFill>
                          <a:latin typeface="Arial" pitchFamily="34" charset="0"/>
                          <a:ea typeface="Arial" pitchFamily="34" charset="-122"/>
                          <a:cs typeface="Arial" pitchFamily="34" charset="-120"/>
                        </a:rPr>
                        <a:t>1  Linux amd64</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AWS m8i.large, Intel Xeon, 2 vCPU / 8 GB</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Ubuntu 24.04, Docker Engine 29.1</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native</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777240">
                <a:tc>
                  <a:txBody>
                    <a:bodyPr/>
                    <a:lstStyle/>
                    <a:p>
                      <a:pPr indent="0" marL="0">
                        <a:buNone/>
                      </a:pPr>
                      <a:r>
                        <a:rPr lang="en-US" sz="1800" b="1" dirty="0">
                          <a:solidFill>
                            <a:srgbClr val="22252B"/>
                          </a:solidFill>
                          <a:latin typeface="Arial" pitchFamily="34" charset="0"/>
                          <a:ea typeface="Arial" pitchFamily="34" charset="-122"/>
                          <a:cs typeface="Arial" pitchFamily="34" charset="-120"/>
                        </a:rPr>
                        <a:t>2  Linux arm64</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AWS m8g.large, Graviton (ARM), 2 vCPU / 8 GB</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Ubuntu 24.04, Docker Engine 29.1, QEMU</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B10202"/>
                          </a:solidFill>
                          <a:latin typeface="Arial" pitchFamily="34" charset="0"/>
                          <a:ea typeface="Arial" pitchFamily="34" charset="-122"/>
                          <a:cs typeface="Arial" pitchFamily="34" charset="-120"/>
                        </a:rPr>
                        <a:t>emulated</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777240">
                <a:tc>
                  <a:txBody>
                    <a:bodyPr/>
                    <a:lstStyle/>
                    <a:p>
                      <a:pPr indent="0" marL="0">
                        <a:buNone/>
                      </a:pPr>
                      <a:r>
                        <a:rPr lang="en-US" sz="1800" b="1" dirty="0">
                          <a:solidFill>
                            <a:srgbClr val="22252B"/>
                          </a:solidFill>
                          <a:latin typeface="Arial" pitchFamily="34" charset="0"/>
                          <a:ea typeface="Arial" pitchFamily="34" charset="-122"/>
                          <a:cs typeface="Arial" pitchFamily="34" charset="-120"/>
                        </a:rPr>
                        <a:t>3  Windows amd64</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Azure D4s_v5, Intel Xeon, 4 vCPU / 16 GB</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Windows 11 Pro 24H2, Docker Desktop, WSL2</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native</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777240">
                <a:tc>
                  <a:txBody>
                    <a:bodyPr/>
                    <a:lstStyle/>
                    <a:p>
                      <a:pPr indent="0" marL="0">
                        <a:buNone/>
                      </a:pPr>
                      <a:r>
                        <a:rPr lang="en-US" sz="1800" b="1" dirty="0">
                          <a:solidFill>
                            <a:srgbClr val="22252B"/>
                          </a:solidFill>
                          <a:latin typeface="Arial" pitchFamily="34" charset="0"/>
                          <a:ea typeface="Arial" pitchFamily="34" charset="-122"/>
                          <a:cs typeface="Arial" pitchFamily="34" charset="-120"/>
                        </a:rPr>
                        <a:t>4  macOS arm64</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MacBook Pro 14-inch (2021), M1 Pro, 16 GB, owned</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22252B"/>
                          </a:solidFill>
                          <a:latin typeface="Arial" pitchFamily="34" charset="0"/>
                          <a:ea typeface="Arial" pitchFamily="34" charset="-122"/>
                          <a:cs typeface="Arial" pitchFamily="34" charset="-120"/>
                        </a:rPr>
                        <a:t>macOS 26.4, Docker Desktop 29.2 (Rosetta)</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800" dirty="0">
                          <a:solidFill>
                            <a:srgbClr val="B10202"/>
                          </a:solidFill>
                          <a:latin typeface="Arial" pitchFamily="34" charset="0"/>
                          <a:ea typeface="Arial" pitchFamily="34" charset="-122"/>
                          <a:cs typeface="Arial" pitchFamily="34" charset="-120"/>
                        </a:rPr>
                        <a:t>emulated</a:t>
                      </a:r>
                      <a:endParaRPr lang="en-US" sz="1800" dirty="0">
                        <a:latin typeface="Arial" charset="0"/>
                        <a:ea typeface="Arial" charset="0"/>
                        <a:cs typeface="Arial" charset="0"/>
                      </a:endParaRPr>
                    </a:p>
                  </a:txBody>
                  <a:tcPr marL="82296" marR="82296" marT="82296" marB="82296"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bl>
          </a:graphicData>
        </a:graphic>
      </p:graphicFrame>
      <p:sp>
        <p:nvSpPr>
          <p:cNvPr id="36" name="Text 32"/>
          <p:cNvSpPr txBox="1"/>
          <p:nvPr/>
        </p:nvSpPr>
        <p:spPr>
          <a:xfrm>
            <a:off x="29413200" y="4937760"/>
            <a:ext cx="1365504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3   Results</a:t>
            </a:r>
            <a:endParaRPr lang="en-US" sz="4000" dirty="0"/>
          </a:p>
        </p:txBody>
      </p:sp>
      <p:sp>
        <p:nvSpPr>
          <p:cNvPr id="37" name="Shape 33"/>
          <p:cNvSpPr/>
          <p:nvPr/>
        </p:nvSpPr>
        <p:spPr>
          <a:xfrm>
            <a:off x="29413200" y="5943600"/>
            <a:ext cx="4338320" cy="2514600"/>
          </a:xfrm>
          <a:prstGeom prst="rect">
            <a:avLst/>
          </a:prstGeom>
          <a:solidFill>
            <a:srgbClr val="F5F4F0"/>
          </a:solidFill>
          <a:ln w="12700">
            <a:solidFill>
              <a:srgbClr val="F5F4F0"/>
            </a:solidFill>
            <a:prstDash val="solid"/>
          </a:ln>
        </p:spPr>
      </p:sp>
      <p:sp>
        <p:nvSpPr>
          <p:cNvPr id="38" name="Text 34"/>
          <p:cNvSpPr txBox="1"/>
          <p:nvPr/>
        </p:nvSpPr>
        <p:spPr>
          <a:xfrm>
            <a:off x="29641800" y="6080760"/>
            <a:ext cx="3881120" cy="960120"/>
          </a:xfrm>
          <a:prstGeom prst="rect">
            <a:avLst/>
          </a:prstGeom>
          <a:noFill/>
          <a:ln/>
        </p:spPr>
        <p:txBody>
          <a:bodyPr wrap="square" lIns="0" tIns="0" rIns="0" bIns="0" rtlCol="0" anchor="ctr"/>
          <a:lstStyle/>
          <a:p>
            <a:pPr indent="0" marL="0">
              <a:buNone/>
            </a:pPr>
            <a:r>
              <a:rPr lang="en-US" sz="5000" b="1" dirty="0">
                <a:solidFill>
                  <a:srgbClr val="B10202"/>
                </a:solidFill>
                <a:latin typeface="Arial" pitchFamily="34" charset="0"/>
                <a:ea typeface="Arial" pitchFamily="34" charset="-122"/>
                <a:cs typeface="Arial" pitchFamily="34" charset="-120"/>
              </a:rPr>
              <a:t>4 of 4</a:t>
            </a:r>
            <a:endParaRPr lang="en-US" sz="5000" dirty="0"/>
          </a:p>
        </p:txBody>
      </p:sp>
      <p:sp>
        <p:nvSpPr>
          <p:cNvPr id="39" name="Text 35"/>
          <p:cNvSpPr txBox="1"/>
          <p:nvPr/>
        </p:nvSpPr>
        <p:spPr>
          <a:xfrm>
            <a:off x="29641800" y="7040880"/>
            <a:ext cx="3881120" cy="1325880"/>
          </a:xfrm>
          <a:prstGeom prst="rect">
            <a:avLst/>
          </a:prstGeom>
          <a:noFill/>
          <a:ln/>
        </p:spPr>
        <p:txBody>
          <a:bodyPr wrap="square" lIns="0" tIns="0" rIns="0" bIns="0" rtlCol="0" anchor="t"/>
          <a:lstStyle/>
          <a:p>
            <a:pPr indent="0" marL="0">
              <a:lnSpc>
                <a:spcPct val="100000"/>
              </a:lnSpc>
              <a:buNone/>
            </a:pPr>
            <a:r>
              <a:rPr lang="en-US" sz="1800" dirty="0">
                <a:solidFill>
                  <a:srgbClr val="22252B"/>
                </a:solidFill>
                <a:latin typeface="Arial" pitchFamily="34" charset="0"/>
                <a:ea typeface="Arial" pitchFamily="34" charset="-122"/>
                <a:cs typeface="Arial" pitchFamily="34" charset="-120"/>
              </a:rPr>
              <a:t>hosts ran every real CS 218 assignment correctly, including the multithreaded one</a:t>
            </a:r>
            <a:endParaRPr lang="en-US" sz="1800" dirty="0"/>
          </a:p>
        </p:txBody>
      </p:sp>
      <p:sp>
        <p:nvSpPr>
          <p:cNvPr id="40" name="Shape 36"/>
          <p:cNvSpPr/>
          <p:nvPr/>
        </p:nvSpPr>
        <p:spPr>
          <a:xfrm>
            <a:off x="34071560" y="5943600"/>
            <a:ext cx="4338320" cy="2514600"/>
          </a:xfrm>
          <a:prstGeom prst="rect">
            <a:avLst/>
          </a:prstGeom>
          <a:solidFill>
            <a:srgbClr val="F5F4F0"/>
          </a:solidFill>
          <a:ln w="12700">
            <a:solidFill>
              <a:srgbClr val="F5F4F0"/>
            </a:solidFill>
            <a:prstDash val="solid"/>
          </a:ln>
        </p:spPr>
      </p:sp>
      <p:sp>
        <p:nvSpPr>
          <p:cNvPr id="41" name="Text 37"/>
          <p:cNvSpPr txBox="1"/>
          <p:nvPr/>
        </p:nvSpPr>
        <p:spPr>
          <a:xfrm>
            <a:off x="34300160" y="6080760"/>
            <a:ext cx="3881120" cy="960120"/>
          </a:xfrm>
          <a:prstGeom prst="rect">
            <a:avLst/>
          </a:prstGeom>
          <a:noFill/>
          <a:ln/>
        </p:spPr>
        <p:txBody>
          <a:bodyPr wrap="square" lIns="0" tIns="0" rIns="0" bIns="0" rtlCol="0" anchor="ctr"/>
          <a:lstStyle/>
          <a:p>
            <a:pPr indent="0" marL="0">
              <a:buNone/>
            </a:pPr>
            <a:r>
              <a:rPr lang="en-US" sz="5000" b="1" dirty="0">
                <a:solidFill>
                  <a:srgbClr val="B10202"/>
                </a:solidFill>
                <a:latin typeface="Arial" pitchFamily="34" charset="0"/>
                <a:ea typeface="Arial" pitchFamily="34" charset="-122"/>
                <a:cs typeface="Arial" pitchFamily="34" charset="-120"/>
              </a:rPr>
              <a:t>0.5 s</a:t>
            </a:r>
            <a:endParaRPr lang="en-US" sz="5000" dirty="0"/>
          </a:p>
        </p:txBody>
      </p:sp>
      <p:sp>
        <p:nvSpPr>
          <p:cNvPr id="42" name="Text 38"/>
          <p:cNvSpPr txBox="1"/>
          <p:nvPr/>
        </p:nvSpPr>
        <p:spPr>
          <a:xfrm>
            <a:off x="34300160" y="7040880"/>
            <a:ext cx="3881120" cy="1325880"/>
          </a:xfrm>
          <a:prstGeom prst="rect">
            <a:avLst/>
          </a:prstGeom>
          <a:noFill/>
          <a:ln/>
        </p:spPr>
        <p:txBody>
          <a:bodyPr wrap="square" lIns="0" tIns="0" rIns="0" bIns="0" rtlCol="0" anchor="t"/>
          <a:lstStyle/>
          <a:p>
            <a:pPr indent="0" marL="0">
              <a:lnSpc>
                <a:spcPct val="100000"/>
              </a:lnSpc>
              <a:buNone/>
            </a:pPr>
            <a:r>
              <a:rPr lang="en-US" sz="1800" dirty="0">
                <a:solidFill>
                  <a:srgbClr val="22252B"/>
                </a:solidFill>
                <a:latin typeface="Arial" pitchFamily="34" charset="0"/>
                <a:ea typeface="Arial" pitchFamily="34" charset="-122"/>
                <a:cs typeface="Arial" pitchFamily="34" charset="-120"/>
              </a:rPr>
              <a:t>until the editor is ready on Intel/AMD; 5–7 s under emulation; a course VM boots in minutes</a:t>
            </a:r>
            <a:endParaRPr lang="en-US" sz="1800" dirty="0"/>
          </a:p>
        </p:txBody>
      </p:sp>
      <p:sp>
        <p:nvSpPr>
          <p:cNvPr id="43" name="Shape 39"/>
          <p:cNvSpPr/>
          <p:nvPr/>
        </p:nvSpPr>
        <p:spPr>
          <a:xfrm>
            <a:off x="38729920" y="5943600"/>
            <a:ext cx="4338320" cy="2514600"/>
          </a:xfrm>
          <a:prstGeom prst="rect">
            <a:avLst/>
          </a:prstGeom>
          <a:solidFill>
            <a:srgbClr val="F5F4F0"/>
          </a:solidFill>
          <a:ln w="12700">
            <a:solidFill>
              <a:srgbClr val="F5F4F0"/>
            </a:solidFill>
            <a:prstDash val="solid"/>
          </a:ln>
        </p:spPr>
      </p:sp>
      <p:sp>
        <p:nvSpPr>
          <p:cNvPr id="44" name="Text 40"/>
          <p:cNvSpPr txBox="1"/>
          <p:nvPr/>
        </p:nvSpPr>
        <p:spPr>
          <a:xfrm>
            <a:off x="38958520" y="6080760"/>
            <a:ext cx="3881120" cy="960120"/>
          </a:xfrm>
          <a:prstGeom prst="rect">
            <a:avLst/>
          </a:prstGeom>
          <a:noFill/>
          <a:ln/>
        </p:spPr>
        <p:txBody>
          <a:bodyPr wrap="square" lIns="0" tIns="0" rIns="0" bIns="0" rtlCol="0" anchor="ctr"/>
          <a:lstStyle/>
          <a:p>
            <a:pPr indent="0" marL="0">
              <a:buNone/>
            </a:pPr>
            <a:r>
              <a:rPr lang="en-US" sz="5000" b="1" dirty="0">
                <a:solidFill>
                  <a:srgbClr val="B10202"/>
                </a:solidFill>
                <a:latin typeface="Arial" pitchFamily="34" charset="0"/>
                <a:ea typeface="Arial" pitchFamily="34" charset="-122"/>
                <a:cs typeface="Arial" pitchFamily="34" charset="-120"/>
              </a:rPr>
              <a:t>552 MB</a:t>
            </a:r>
            <a:endParaRPr lang="en-US" sz="5000" dirty="0"/>
          </a:p>
        </p:txBody>
      </p:sp>
      <p:sp>
        <p:nvSpPr>
          <p:cNvPr id="45" name="Text 41"/>
          <p:cNvSpPr txBox="1"/>
          <p:nvPr/>
        </p:nvSpPr>
        <p:spPr>
          <a:xfrm>
            <a:off x="38958520" y="7040880"/>
            <a:ext cx="3881120" cy="1325880"/>
          </a:xfrm>
          <a:prstGeom prst="rect">
            <a:avLst/>
          </a:prstGeom>
          <a:noFill/>
          <a:ln/>
        </p:spPr>
        <p:txBody>
          <a:bodyPr wrap="square" lIns="0" tIns="0" rIns="0" bIns="0" rtlCol="0" anchor="t"/>
          <a:lstStyle/>
          <a:p>
            <a:pPr indent="0" marL="0">
              <a:lnSpc>
                <a:spcPct val="100000"/>
              </a:lnSpc>
              <a:buNone/>
            </a:pPr>
            <a:r>
              <a:rPr lang="en-US" sz="1800" dirty="0">
                <a:solidFill>
                  <a:srgbClr val="22252B"/>
                </a:solidFill>
                <a:latin typeface="Arial" pitchFamily="34" charset="0"/>
                <a:ea typeface="Arial" pitchFamily="34" charset="-122"/>
                <a:cs typeface="Arial" pitchFamily="34" charset="-120"/>
              </a:rPr>
              <a:t>one-time download, byte-identical on every host, versus a 19 GB virtual machine</a:t>
            </a:r>
            <a:endParaRPr lang="en-US" sz="1800" dirty="0"/>
          </a:p>
        </p:txBody>
      </p:sp>
      <p:sp>
        <p:nvSpPr>
          <p:cNvPr id="46" name="Text 42"/>
          <p:cNvSpPr txBox="1"/>
          <p:nvPr/>
        </p:nvSpPr>
        <p:spPr>
          <a:xfrm>
            <a:off x="29413200" y="8778240"/>
            <a:ext cx="13655040" cy="502920"/>
          </a:xfrm>
          <a:prstGeom prst="rect">
            <a:avLst/>
          </a:prstGeom>
          <a:noFill/>
          <a:ln/>
        </p:spPr>
        <p:txBody>
          <a:bodyPr wrap="square" lIns="0" tIns="0" rIns="0" bIns="0" rtlCol="0" anchor="t"/>
          <a:lstStyle/>
          <a:p>
            <a:pPr indent="0" marL="0">
              <a:lnSpc>
                <a:spcPct val="105000"/>
              </a:lnSpc>
              <a:buNone/>
            </a:pPr>
            <a:r>
              <a:rPr lang="en-US" sz="2000" b="1" dirty="0">
                <a:solidFill>
                  <a:srgbClr val="5E5B55"/>
                </a:solidFill>
                <a:latin typeface="Arial" pitchFamily="34" charset="0"/>
                <a:ea typeface="Arial" pitchFamily="34" charset="-122"/>
                <a:cs typeface="Arial" pitchFamily="34" charset="-120"/>
              </a:rPr>
              <a:t>Table 2. </a:t>
            </a:r>
            <a:pPr indent="0" marL="0">
              <a:lnSpc>
                <a:spcPct val="105000"/>
              </a:lnSpc>
              <a:buNone/>
            </a:pPr>
            <a:r>
              <a:rPr lang="en-US" sz="2000" dirty="0">
                <a:solidFill>
                  <a:srgbClr val="5E5B55"/>
                </a:solidFill>
                <a:latin typeface="Arial" pitchFamily="34" charset="0"/>
                <a:ea typeface="Arial" pitchFamily="34" charset="-122"/>
                <a:cs typeface="Arial" pitchFamily="34" charset="-120"/>
              </a:rPr>
              <a:t>Selected results for the x86 image (all values from the unmodified script).</a:t>
            </a:r>
            <a:endParaRPr lang="en-US" sz="20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29413200" y="9281160"/>
          <a:ext cx="13655040" cy="914400"/>
        </p:xfrm>
        <a:graphic>
          <a:graphicData uri="http://schemas.openxmlformats.org/drawingml/2006/table">
            <a:tbl>
              <a:tblPr/>
              <a:tblGrid>
                <a:gridCol w="4937760"/>
                <a:gridCol w="2194560"/>
                <a:gridCol w="2194560"/>
                <a:gridCol w="2194560"/>
                <a:gridCol w="2194560"/>
              </a:tblGrid>
              <a:tr h="868680">
                <a:tc>
                  <a:txBody>
                    <a:bodyPr/>
                    <a:lstStyle/>
                    <a:p>
                      <a:pPr indent="0" marL="0">
                        <a:buNone/>
                      </a:pPr>
                      <a:r>
                        <a:rPr lang="en-US" sz="1800" b="1" dirty="0">
                          <a:solidFill>
                            <a:srgbClr val="FFFFFF"/>
                          </a:solidFill>
                          <a:latin typeface="Arial" pitchFamily="34" charset="0"/>
                          <a:ea typeface="Arial" pitchFamily="34" charset="-122"/>
                          <a:cs typeface="Arial" pitchFamily="34" charset="-120"/>
                        </a:rPr>
                        <a:t>Metric</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1 Linux</a:t>
                      </a:r>
                      <a:endParaRPr lang="en-US" sz="1800" dirty="0">
                        <a:latin typeface="Arial" charset="0"/>
                        <a:ea typeface="Arial" charset="0"/>
                        <a:cs typeface="Arial" charset="0"/>
                      </a:endParaRPr>
                    </a:p>
                    <a:p>
                      <a:pPr algn="ctr" indent="0" marL="0">
                        <a:buNone/>
                      </a:pPr>
                      <a:r>
                        <a:rPr lang="en-US" sz="1800" b="1" dirty="0">
                          <a:solidFill>
                            <a:srgbClr val="FFFFFF"/>
                          </a:solidFill>
                          <a:latin typeface="Arial" pitchFamily="34" charset="0"/>
                          <a:ea typeface="Arial" pitchFamily="34" charset="-122"/>
                          <a:cs typeface="Arial" pitchFamily="34" charset="-120"/>
                        </a:rPr>
                        <a:t>native</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2 Linux ARM</a:t>
                      </a:r>
                      <a:endParaRPr lang="en-US" sz="1800" dirty="0">
                        <a:latin typeface="Arial" charset="0"/>
                        <a:ea typeface="Arial" charset="0"/>
                        <a:cs typeface="Arial" charset="0"/>
                      </a:endParaRPr>
                    </a:p>
                    <a:p>
                      <a:pPr algn="ctr" indent="0" marL="0">
                        <a:buNone/>
                      </a:pPr>
                      <a:r>
                        <a:rPr lang="en-US" sz="1800" b="1" dirty="0">
                          <a:solidFill>
                            <a:srgbClr val="FFFFFF"/>
                          </a:solidFill>
                          <a:latin typeface="Arial" pitchFamily="34" charset="0"/>
                          <a:ea typeface="Arial" pitchFamily="34" charset="-122"/>
                          <a:cs typeface="Arial" pitchFamily="34" charset="-120"/>
                        </a:rPr>
                        <a:t>emulated</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3 Windows 11</a:t>
                      </a:r>
                      <a:endParaRPr lang="en-US" sz="1800" dirty="0">
                        <a:latin typeface="Arial" charset="0"/>
                        <a:ea typeface="Arial" charset="0"/>
                        <a:cs typeface="Arial" charset="0"/>
                      </a:endParaRPr>
                    </a:p>
                    <a:p>
                      <a:pPr algn="ctr" indent="0" marL="0">
                        <a:buNone/>
                      </a:pPr>
                      <a:r>
                        <a:rPr lang="en-US" sz="1800" b="1" dirty="0">
                          <a:solidFill>
                            <a:srgbClr val="FFFFFF"/>
                          </a:solidFill>
                          <a:latin typeface="Arial" pitchFamily="34" charset="0"/>
                          <a:ea typeface="Arial" pitchFamily="34" charset="-122"/>
                          <a:cs typeface="Arial" pitchFamily="34" charset="-120"/>
                        </a:rPr>
                        <a:t>native</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4 M1 Mac</a:t>
                      </a:r>
                      <a:endParaRPr lang="en-US" sz="1800" dirty="0">
                        <a:latin typeface="Arial" charset="0"/>
                        <a:ea typeface="Arial" charset="0"/>
                        <a:cs typeface="Arial" charset="0"/>
                      </a:endParaRPr>
                    </a:p>
                    <a:p>
                      <a:pPr algn="ctr" indent="0" marL="0">
                        <a:buNone/>
                      </a:pPr>
                      <a:r>
                        <a:rPr lang="en-US" sz="1800" b="1" dirty="0">
                          <a:solidFill>
                            <a:srgbClr val="FFFFFF"/>
                          </a:solidFill>
                          <a:latin typeface="Arial" pitchFamily="34" charset="0"/>
                          <a:ea typeface="Arial" pitchFamily="34" charset="-122"/>
                          <a:cs typeface="Arial" pitchFamily="34" charset="-120"/>
                        </a:rPr>
                        <a:t>emulated</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Debugger (gdb) probe</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1F5FB0"/>
                          </a:solidFill>
                          <a:latin typeface="Arial" pitchFamily="34" charset="0"/>
                          <a:ea typeface="Arial" pitchFamily="34" charset="-122"/>
                          <a:cs typeface="Arial" pitchFamily="34" charset="-120"/>
                        </a:rPr>
                        <a:t>working</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b="1" dirty="0">
                          <a:solidFill>
                            <a:srgbClr val="B10202"/>
                          </a:solidFill>
                          <a:latin typeface="Arial" pitchFamily="34" charset="0"/>
                          <a:ea typeface="Arial" pitchFamily="34" charset="-122"/>
                          <a:cs typeface="Arial" pitchFamily="34" charset="-120"/>
                        </a:rPr>
                        <a:t>broken</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1F5FB0"/>
                          </a:solidFill>
                          <a:latin typeface="Arial" pitchFamily="34" charset="0"/>
                          <a:ea typeface="Arial" pitchFamily="34" charset="-122"/>
                          <a:cs typeface="Arial" pitchFamily="34" charset="-120"/>
                        </a:rPr>
                        <a:t>working</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b="1" dirty="0">
                          <a:solidFill>
                            <a:srgbClr val="B10202"/>
                          </a:solidFill>
                          <a:latin typeface="Arial" pitchFamily="34" charset="0"/>
                          <a:ea typeface="Arial" pitchFamily="34" charset="-122"/>
                          <a:cs typeface="Arial" pitchFamily="34" charset="-120"/>
                        </a:rPr>
                        <a:t>broken</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Start until editor ready (s)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0.5</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6.7</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0.6</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4.8</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Idle memory (MiB)</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54</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255</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56</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263</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Peak memory, coursework (MiB)</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n/a</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334</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90</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358</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ast06 build (s)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0.2</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2.8</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0.5</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2.5</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ast12 build (s)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0.3</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3.6</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0.6</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3.1</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All four assignments pass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Files survive replacement</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yes</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22252B"/>
                          </a:solidFill>
                          <a:latin typeface="Arial" pitchFamily="34" charset="0"/>
                          <a:ea typeface="Arial" pitchFamily="34" charset="-122"/>
                          <a:cs typeface="Arial" pitchFamily="34" charset="-120"/>
                        </a:rPr>
                        <a:t>Checks passed / failed</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13 / 0</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12 / 0</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13 / 0</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algn="ctr" indent="0" marL="0">
                        <a:buNone/>
                      </a:pPr>
                      <a:r>
                        <a:rPr lang="en-US" sz="1800" dirty="0">
                          <a:solidFill>
                            <a:srgbClr val="22252B"/>
                          </a:solidFill>
                          <a:latin typeface="Arial" pitchFamily="34" charset="0"/>
                          <a:ea typeface="Arial" pitchFamily="34" charset="-122"/>
                          <a:cs typeface="Arial" pitchFamily="34" charset="-120"/>
                        </a:rPr>
                        <a:t>12 / 0</a:t>
                      </a:r>
                      <a:endParaRPr lang="en-US" sz="1800" dirty="0">
                        <a:latin typeface="Arial" charset="0"/>
                        <a:ea typeface="Arial" charset="0"/>
                        <a:cs typeface="Arial" charset="0"/>
                      </a:endParaRPr>
                    </a:p>
                  </a:txBody>
                  <a:tcPr marL="73152" marR="73152" marT="73152" marB="73152"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bl>
          </a:graphicData>
        </a:graphic>
      </p:graphicFrame>
      <p:graphicFrame>
        <p:nvGraphicFramePr>
          <p:cNvPr id="48" name="Chart 0" descr=""/>
          <p:cNvGraphicFramePr/>
          <p:nvPr/>
        </p:nvGraphicFramePr>
        <p:xfrm>
          <a:off x="29413200" y="16230600"/>
          <a:ext cx="13655040" cy="3840480"/>
        </p:xfrm>
        <a:graphic xmlns:a="http://schemas.openxmlformats.org/drawingml/2006/main">
          <a:graphicData uri="http://schemas.openxmlformats.org/drawingml/2006/chart">
            <c:chart xmlns:c="http://schemas.openxmlformats.org/drawingml/2006/chart" r:id="rId2"/>
          </a:graphicData>
        </a:graphic>
      </p:graphicFrame>
      <p:sp>
        <p:nvSpPr>
          <p:cNvPr id="49" name="Text 43"/>
          <p:cNvSpPr txBox="1"/>
          <p:nvPr/>
        </p:nvSpPr>
        <p:spPr>
          <a:xfrm>
            <a:off x="29413200" y="20345400"/>
            <a:ext cx="13655040" cy="2606040"/>
          </a:xfrm>
          <a:prstGeom prst="rect">
            <a:avLst/>
          </a:prstGeom>
          <a:noFill/>
          <a:ln/>
        </p:spPr>
        <p:txBody>
          <a:bodyPr wrap="square" lIns="0" tIns="0" rIns="0" bIns="0" rtlCol="0" anchor="t"/>
          <a:lstStyle/>
          <a:p>
            <a:pPr indent="0" marL="0">
              <a:lnSpc>
                <a:spcPct val="105000"/>
              </a:lnSpc>
              <a:spcAft>
                <a:spcPts val="800"/>
              </a:spcAft>
              <a:buNone/>
            </a:pPr>
            <a:r>
              <a:rPr lang="en-US" sz="2100" b="1" dirty="0">
                <a:solidFill>
                  <a:srgbClr val="B10202"/>
                </a:solidFill>
                <a:latin typeface="Arial" pitchFamily="34" charset="0"/>
                <a:ea typeface="Arial" pitchFamily="34" charset="-122"/>
                <a:cs typeface="Arial" pitchFamily="34" charset="-120"/>
              </a:rPr>
              <a:t>The support boundary is a translator boundary, not an operating-system boundary. </a:t>
            </a:r>
            <a:pPr indent="0" marL="0">
              <a:lnSpc>
                <a:spcPct val="105000"/>
              </a:lnSpc>
              <a:spcAft>
                <a:spcPts val="800"/>
              </a:spcAft>
              <a:buNone/>
            </a:pPr>
            <a:r>
              <a:rPr lang="en-US" sz="2100" dirty="0">
                <a:solidFill>
                  <a:srgbClr val="22252B"/>
                </a:solidFill>
                <a:latin typeface="Arial" pitchFamily="34" charset="0"/>
                <a:ea typeface="Arial" pitchFamily="34" charset="-122"/>
                <a:cs typeface="Arial" pitchFamily="34" charset="-120"/>
              </a:rPr>
              <a:t>Windows and Linux on Intel/AMD are native and get everything; Windows 11, which dominates student laptops, was the strongest host in the matrix. Apple Silicon works because Apple supplies its Rosetta translator to Docker’s Linux VM. Emulation costs about one order of magnitude on builds (10–14×), yet every emulated build finished in under four seconds. The one loss is gdb: under translation a debugger script still “succeeds” and writes its file, but with no register values, so the handout tells Apple Silicon owners to produce debugger deliverables on an Intel machine. On ARM Linux the stock Ubuntu 24.04 QEMU crashed translating the editor itself; Docker’s own translator passed every check, so the fix is one line in the handout.</a:t>
            </a:r>
            <a:endParaRPr lang="en-US" sz="2100" dirty="0"/>
          </a:p>
        </p:txBody>
      </p:sp>
      <p:sp>
        <p:nvSpPr>
          <p:cNvPr id="50" name="Text 44"/>
          <p:cNvSpPr txBox="1"/>
          <p:nvPr/>
        </p:nvSpPr>
        <p:spPr>
          <a:xfrm>
            <a:off x="29413200" y="23042880"/>
            <a:ext cx="13655040" cy="2011680"/>
          </a:xfrm>
          <a:prstGeom prst="rect">
            <a:avLst/>
          </a:prstGeom>
          <a:noFill/>
          <a:ln/>
        </p:spPr>
        <p:txBody>
          <a:bodyPr wrap="square" lIns="0" tIns="0" rIns="0" bIns="0" rtlCol="0" anchor="t"/>
          <a:lstStyle/>
          <a:p>
            <a:pPr indent="0" marL="0">
              <a:lnSpc>
                <a:spcPct val="105000"/>
              </a:lnSpc>
              <a:spcAft>
                <a:spcPts val="800"/>
              </a:spcAft>
              <a:buNone/>
            </a:pPr>
            <a:r>
              <a:rPr lang="en-US" sz="2100" b="1" dirty="0">
                <a:solidFill>
                  <a:srgbClr val="B10202"/>
                </a:solidFill>
                <a:latin typeface="Arial" pitchFamily="34" charset="0"/>
                <a:ea typeface="Arial" pitchFamily="34" charset="-122"/>
                <a:cs typeface="Arial" pitchFamily="34" charset="-120"/>
              </a:rPr>
              <a:t>Where this sits. </a:t>
            </a:r>
            <a:pPr indent="0" marL="0">
              <a:lnSpc>
                <a:spcPct val="105000"/>
              </a:lnSpc>
              <a:spcAft>
                <a:spcPts val="800"/>
              </a:spcAft>
              <a:buNone/>
            </a:pPr>
            <a:r>
              <a:rPr lang="en-US" sz="2100" dirty="0">
                <a:solidFill>
                  <a:srgbClr val="22252B"/>
                </a:solidFill>
                <a:latin typeface="Arial" pitchFamily="34" charset="0"/>
                <a:ea typeface="Arial" pitchFamily="34" charset="-122"/>
                <a:cs typeface="Arial" pitchFamily="34" charset="-120"/>
              </a:rPr>
              <a:t>CS50 took the container and browser editor to GitHub’s servers [1]; this project puts the same pair back on the student’s machine, and the measurements show the trade is affordable. Cadenas et al. kept a working debugger by changing the course’s instruction set to whatever the emulator provided [5]; this design keeps the real x86-64 instruction set and loses the debugger on ARM. Native hardware gets both; nothing on ARM yet does, and this evaluation makes that trade-off measured and explicit.</a:t>
            </a:r>
            <a:endParaRPr lang="en-US" sz="2100" dirty="0"/>
          </a:p>
        </p:txBody>
      </p:sp>
      <p:sp>
        <p:nvSpPr>
          <p:cNvPr id="51" name="Shape 45"/>
          <p:cNvSpPr/>
          <p:nvPr/>
        </p:nvSpPr>
        <p:spPr>
          <a:xfrm>
            <a:off x="822960" y="25283160"/>
            <a:ext cx="42245280" cy="0"/>
          </a:xfrm>
          <a:prstGeom prst="line">
            <a:avLst/>
          </a:prstGeom>
          <a:noFill/>
          <a:ln w="38100">
            <a:solidFill>
              <a:srgbClr val="D9D6CF"/>
            </a:solidFill>
            <a:prstDash val="solid"/>
          </a:ln>
        </p:spPr>
      </p:sp>
      <p:sp>
        <p:nvSpPr>
          <p:cNvPr id="52" name="Text 46"/>
          <p:cNvSpPr txBox="1"/>
          <p:nvPr/>
        </p:nvSpPr>
        <p:spPr>
          <a:xfrm>
            <a:off x="822960" y="25603200"/>
            <a:ext cx="2795016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4   Discussion: every approach hands the setup burden to someone</a:t>
            </a:r>
            <a:endParaRPr lang="en-US" sz="400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822960" y="26609040"/>
          <a:ext cx="27950160" cy="914400"/>
        </p:xfrm>
        <a:graphic>
          <a:graphicData uri="http://schemas.openxmlformats.org/drawingml/2006/table">
            <a:tbl>
              <a:tblPr/>
              <a:tblGrid>
                <a:gridCol w="9326880"/>
                <a:gridCol w="6400800"/>
                <a:gridCol w="12344400"/>
              </a:tblGrid>
              <a:tr h="594360">
                <a:tc>
                  <a:txBody>
                    <a:bodyPr/>
                    <a:lstStyle/>
                    <a:p>
                      <a:pPr indent="0" marL="0">
                        <a:buNone/>
                      </a:pPr>
                      <a:r>
                        <a:rPr lang="en-US" sz="1900" b="1" dirty="0">
                          <a:solidFill>
                            <a:srgbClr val="FFFFFF"/>
                          </a:solidFill>
                          <a:latin typeface="Arial" pitchFamily="34" charset="0"/>
                          <a:ea typeface="Arial" pitchFamily="34" charset="-122"/>
                          <a:cs typeface="Arial" pitchFamily="34" charset="-120"/>
                        </a:rPr>
                        <a:t>Approach</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Who carries the burden</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What it costs the student</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22252B"/>
                    </a:solidFill>
                  </a:tcPr>
                </a:tc>
              </a:tr>
              <a:tr h="960120">
                <a:tc>
                  <a:txBody>
                    <a:bodyPr/>
                    <a:lstStyle/>
                    <a:p>
                      <a:pPr indent="0" marL="0">
                        <a:buNone/>
                      </a:pPr>
                      <a:r>
                        <a:rPr lang="en-US" sz="1900" b="1" dirty="0">
                          <a:solidFill>
                            <a:srgbClr val="22252B"/>
                          </a:solidFill>
                          <a:latin typeface="Arial" pitchFamily="34" charset="0"/>
                          <a:ea typeface="Arial" pitchFamily="34" charset="-122"/>
                          <a:cs typeface="Arial" pitchFamily="34" charset="-120"/>
                        </a:rPr>
                        <a:t>Shared login servers over SSH (UNLV bobby / sally / cardiac)</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The department</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Network and VPN dependence; the environment and its documentation vanish when the servers are retired</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960120">
                <a:tc>
                  <a:txBody>
                    <a:bodyPr/>
                    <a:lstStyle/>
                    <a:p>
                      <a:pPr indent="0" marL="0">
                        <a:buNone/>
                      </a:pPr>
                      <a:r>
                        <a:rPr lang="en-US" sz="1900" b="1" dirty="0">
                          <a:solidFill>
                            <a:srgbClr val="22252B"/>
                          </a:solidFill>
                          <a:latin typeface="Arial" pitchFamily="34" charset="0"/>
                          <a:ea typeface="Arial" pitchFamily="34" charset="-122"/>
                          <a:cs typeface="Arial" pitchFamily="34" charset="-120"/>
                        </a:rPr>
                        <a:t>Course virtual machines (CS 218 images; CS50 Appliance [2]; Reading’s QEMU lab [5])</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The student’s hardware</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Multi-gigabyte images, fixed RAM reservations, slow boots, disk corruption; unusable or very slow on Apple Silicon</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960120">
                <a:tc>
                  <a:txBody>
                    <a:bodyPr/>
                    <a:lstStyle/>
                    <a:p>
                      <a:pPr indent="0" marL="0">
                        <a:buNone/>
                      </a:pPr>
                      <a:r>
                        <a:rPr lang="en-US" sz="1900" b="1" dirty="0">
                          <a:solidFill>
                            <a:srgbClr val="22252B"/>
                          </a:solidFill>
                          <a:latin typeface="Arial" pitchFamily="34" charset="0"/>
                          <a:ea typeface="Arial" pitchFamily="34" charset="-122"/>
                          <a:cs typeface="Arial" pitchFamily="34" charset="-120"/>
                        </a:rPr>
                        <a:t>Cloud-hosted browser IDE (CS50 on GitHub Codespaces, 700,000+ users [1])</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A vendor, a grant, an account</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Internet required; the environment disappears with the account; students leave “not sure how to set up an IDE on my computer”</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5F4F0"/>
                    </a:solidFill>
                  </a:tcPr>
                </a:tc>
              </a:tr>
              <a:tr h="960120">
                <a:tc>
                  <a:txBody>
                    <a:bodyPr/>
                    <a:lstStyle/>
                    <a:p>
                      <a:pPr indent="0" marL="0">
                        <a:buNone/>
                      </a:pPr>
                      <a:r>
                        <a:rPr lang="en-US" sz="1900" b="1" dirty="0">
                          <a:solidFill>
                            <a:srgbClr val="22252B"/>
                          </a:solidFill>
                          <a:latin typeface="Arial" pitchFamily="34" charset="0"/>
                          <a:ea typeface="Arial" pitchFamily="34" charset="-122"/>
                          <a:cs typeface="Arial" pitchFamily="34" charset="-120"/>
                        </a:rPr>
                        <a:t>Monitored classroom platform (CodeDive, South Korea [8])</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The institution’s cluster, and the student’s privacy</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900" dirty="0">
                          <a:solidFill>
                            <a:srgbClr val="22252B"/>
                          </a:solidFill>
                          <a:latin typeface="Arial" pitchFamily="34" charset="0"/>
                          <a:ea typeface="Arial" pitchFamily="34" charset="-122"/>
                          <a:cs typeface="Arial" pitchFamily="34" charset="-120"/>
                        </a:rPr>
                        <a:t>Every process and every one-second typing pause recorded (24,845 snapshots from 95 students in two weeks); consent that cannot realistically be withheld</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FFFFF"/>
                    </a:solidFill>
                  </a:tcPr>
                </a:tc>
              </a:tr>
              <a:tr h="960120">
                <a:tc>
                  <a:txBody>
                    <a:bodyPr/>
                    <a:lstStyle/>
                    <a:p>
                      <a:pPr indent="0" marL="0">
                        <a:buNone/>
                      </a:pPr>
                      <a:r>
                        <a:rPr lang="en-US" sz="1900" b="1" dirty="0">
                          <a:solidFill>
                            <a:srgbClr val="B10202"/>
                          </a:solidFill>
                          <a:latin typeface="Arial" pitchFamily="34" charset="0"/>
                          <a:ea typeface="Arial" pitchFamily="34" charset="-122"/>
                          <a:cs typeface="Arial" pitchFamily="34" charset="-120"/>
                        </a:rPr>
                        <a:t>Local container with browser editor (this project; cf. UCSD [3], Florida Tech [4])</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BEAEA"/>
                    </a:solidFill>
                  </a:tcPr>
                </a:tc>
                <a:tc>
                  <a:txBody>
                    <a:bodyPr/>
                    <a:lstStyle/>
                    <a:p>
                      <a:pPr indent="0" marL="0">
                        <a:buNone/>
                      </a:pPr>
                      <a:r>
                        <a:rPr lang="en-US" sz="1900" dirty="0">
                          <a:solidFill>
                            <a:srgbClr val="B10202"/>
                          </a:solidFill>
                          <a:latin typeface="Arial" pitchFamily="34" charset="0"/>
                          <a:ea typeface="Arial" pitchFamily="34" charset="-122"/>
                          <a:cs typeface="Arial" pitchFamily="34" charset="-120"/>
                        </a:rPr>
                        <a:t>The student, once: install Docker Desktop</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BEAEA"/>
                    </a:solidFill>
                  </a:tcPr>
                </a:tc>
                <a:tc>
                  <a:txBody>
                    <a:bodyPr/>
                    <a:lstStyle/>
                    <a:p>
                      <a:pPr indent="0" marL="0">
                        <a:buNone/>
                      </a:pPr>
                      <a:r>
                        <a:rPr lang="en-US" sz="1900" dirty="0">
                          <a:solidFill>
                            <a:srgbClr val="B10202"/>
                          </a:solidFill>
                          <a:latin typeface="Arial" pitchFamily="34" charset="0"/>
                          <a:ea typeface="Arial" pitchFamily="34" charset="-122"/>
                          <a:cs typeface="Arial" pitchFamily="34" charset="-120"/>
                        </a:rPr>
                        <a:t>One download and one command; offline afterward; files stay on the laptop; debugger unavailable on Apple Silicon and ARM</a:t>
                      </a:r>
                      <a:endParaRPr lang="en-US" sz="1900" dirty="0">
                        <a:latin typeface="Arial" charset="0"/>
                        <a:ea typeface="Arial" charset="0"/>
                        <a:cs typeface="Arial" charset="0"/>
                      </a:endParaRPr>
                    </a:p>
                  </a:txBody>
                  <a:tcPr marL="91440" marR="91440" marT="91440" marB="91440" anchor="ctr">
                    <a:lnL w="12700" cap="flat" cmpd="sng" algn="ctr">
                      <a:solidFill>
                        <a:srgbClr val="D9D6CF"/>
                      </a:solidFill>
                      <a:prstDash val="solid"/>
                      <a:round/>
                      <a:headEnd type="none" w="med" len="med"/>
                      <a:tailEnd type="none" w="med" len="med"/>
                    </a:lnL>
                    <a:lnR w="12700" cap="flat" cmpd="sng" algn="ctr">
                      <a:solidFill>
                        <a:srgbClr val="D9D6CF"/>
                      </a:solidFill>
                      <a:prstDash val="solid"/>
                      <a:round/>
                      <a:headEnd type="none" w="med" len="med"/>
                      <a:tailEnd type="none" w="med" len="med"/>
                    </a:lnR>
                    <a:lnT w="12700" cap="flat" cmpd="sng" algn="ctr">
                      <a:solidFill>
                        <a:srgbClr val="D9D6CF"/>
                      </a:solidFill>
                      <a:prstDash val="solid"/>
                      <a:round/>
                      <a:headEnd type="none" w="med" len="med"/>
                      <a:tailEnd type="none" w="med" len="med"/>
                    </a:lnT>
                    <a:lnB w="12700" cap="flat" cmpd="sng" algn="ctr">
                      <a:solidFill>
                        <a:srgbClr val="D9D6CF"/>
                      </a:solidFill>
                      <a:prstDash val="solid"/>
                      <a:round/>
                      <a:headEnd type="none" w="med" len="med"/>
                      <a:tailEnd type="none" w="med" len="med"/>
                    </a:lnB>
                    <a:solidFill>
                      <a:srgbClr val="FBEAEA"/>
                    </a:solidFill>
                  </a:tcPr>
                </a:tc>
              </a:tr>
            </a:tbl>
          </a:graphicData>
        </a:graphic>
      </p:graphicFrame>
      <p:sp>
        <p:nvSpPr>
          <p:cNvPr id="54" name="Text 47"/>
          <p:cNvSpPr txBox="1"/>
          <p:nvPr/>
        </p:nvSpPr>
        <p:spPr>
          <a:xfrm>
            <a:off x="29413200" y="25603200"/>
            <a:ext cx="13655040" cy="868680"/>
          </a:xfrm>
          <a:prstGeom prst="rect">
            <a:avLst/>
          </a:prstGeom>
          <a:noFill/>
          <a:ln/>
        </p:spPr>
        <p:txBody>
          <a:bodyPr wrap="square" lIns="0" tIns="0" rIns="0" bIns="0" rtlCol="0" anchor="b"/>
          <a:lstStyle/>
          <a:p>
            <a:pPr indent="0" marL="0">
              <a:buNone/>
            </a:pPr>
            <a:r>
              <a:rPr lang="en-US" sz="4000" b="1" dirty="0">
                <a:solidFill>
                  <a:srgbClr val="B10202"/>
                </a:solidFill>
                <a:latin typeface="Arial" pitchFamily="34" charset="0"/>
                <a:ea typeface="Arial" pitchFamily="34" charset="-122"/>
                <a:cs typeface="Arial" pitchFamily="34" charset="-120"/>
              </a:rPr>
              <a:t>5   What comes next</a:t>
            </a:r>
            <a:endParaRPr lang="en-US" sz="4000" dirty="0"/>
          </a:p>
        </p:txBody>
      </p:sp>
      <p:sp>
        <p:nvSpPr>
          <p:cNvPr id="55" name="Text 48"/>
          <p:cNvSpPr txBox="1"/>
          <p:nvPr/>
        </p:nvSpPr>
        <p:spPr>
          <a:xfrm>
            <a:off x="29413200" y="26609040"/>
            <a:ext cx="13655040" cy="2697480"/>
          </a:xfrm>
          <a:prstGeom prst="rect">
            <a:avLst/>
          </a:prstGeom>
          <a:noFill/>
          <a:ln/>
        </p:spPr>
        <p:txBody>
          <a:bodyPr wrap="square" lIns="0" tIns="0" rIns="0" bIns="0" rtlCol="0" anchor="t"/>
          <a:lstStyle/>
          <a:p>
            <a:pPr marL="381000" indent="-381000">
              <a:lnSpc>
                <a:spcPct val="103000"/>
              </a:lnSpc>
              <a:spcAft>
                <a:spcPts val="600"/>
              </a:spcAft>
              <a:buSzPct val="100000"/>
              <a:buChar char="•"/>
            </a:pPr>
            <a:r>
              <a:rPr lang="en-US" sz="2000" dirty="0">
                <a:solidFill>
                  <a:srgbClr val="22252B"/>
                </a:solidFill>
                <a:latin typeface="Arial" pitchFamily="34" charset="0"/>
                <a:ea typeface="Arial" pitchFamily="34" charset="-122"/>
                <a:cs typeface="Arial" pitchFamily="34" charset="-120"/>
              </a:rPr>
              <a:t>A classroom study in CS 218 and CS 135 with IRB approval: how many students reach a working setup without help, how many staff minutes it saves, and how students feel about it, using instruments adapted from [3, 4, 6]. A three-student high-school pilot has already run on the C++ image.</a:t>
            </a:r>
            <a:endParaRPr lang="en-US" sz="2000" dirty="0"/>
          </a:p>
          <a:p>
            <a:pPr marL="381000" indent="-381000">
              <a:lnSpc>
                <a:spcPct val="103000"/>
              </a:lnSpc>
              <a:spcAft>
                <a:spcPts val="600"/>
              </a:spcAft>
              <a:buSzPct val="100000"/>
              <a:buChar char="•"/>
            </a:pPr>
            <a:r>
              <a:rPr lang="en-US" sz="2000" dirty="0">
                <a:solidFill>
                  <a:srgbClr val="22252B"/>
                </a:solidFill>
                <a:latin typeface="Arial" pitchFamily="34" charset="0"/>
                <a:ea typeface="Arial" pitchFamily="34" charset="-122"/>
                <a:cs typeface="Arial" pitchFamily="34" charset="-120"/>
              </a:rPr>
              <a:t>A hybrid assembly image for ARM that runs the editor natively and translates only the student’s program, which could restore the debugger on Apple Silicon and Windows-on-ARM.</a:t>
            </a:r>
            <a:endParaRPr lang="en-US" sz="2000" dirty="0"/>
          </a:p>
          <a:p>
            <a:pPr marL="381000" indent="-381000">
              <a:lnSpc>
                <a:spcPct val="103000"/>
              </a:lnSpc>
              <a:spcAft>
                <a:spcPts val="600"/>
              </a:spcAft>
              <a:buSzPct val="100000"/>
              <a:buChar char="•"/>
            </a:pPr>
            <a:r>
              <a:rPr lang="en-US" sz="2000" dirty="0">
                <a:solidFill>
                  <a:srgbClr val="22252B"/>
                </a:solidFill>
                <a:latin typeface="Arial" pitchFamily="34" charset="0"/>
                <a:ea typeface="Arial" pitchFamily="34" charset="-122"/>
                <a:cs typeface="Arial" pitchFamily="34" charset="-120"/>
              </a:rPr>
              <a:t>Reuse the one-script, rent-four-computers method to vet environments for other courses, starting with Operating Systems.</a:t>
            </a:r>
            <a:endParaRPr lang="en-US" sz="2000" dirty="0"/>
          </a:p>
        </p:txBody>
      </p:sp>
      <p:sp>
        <p:nvSpPr>
          <p:cNvPr id="56" name="Text 49"/>
          <p:cNvSpPr txBox="1"/>
          <p:nvPr/>
        </p:nvSpPr>
        <p:spPr>
          <a:xfrm>
            <a:off x="29413200" y="29260800"/>
            <a:ext cx="13655040" cy="685800"/>
          </a:xfrm>
          <a:prstGeom prst="rect">
            <a:avLst/>
          </a:prstGeom>
          <a:noFill/>
          <a:ln/>
        </p:spPr>
        <p:txBody>
          <a:bodyPr wrap="square" lIns="0" tIns="0" rIns="0" bIns="0" rtlCol="0" anchor="t"/>
          <a:lstStyle/>
          <a:p>
            <a:pPr indent="0" marL="0">
              <a:lnSpc>
                <a:spcPct val="102000"/>
              </a:lnSpc>
              <a:buNone/>
            </a:pPr>
            <a:r>
              <a:rPr lang="en-US" sz="1500" i="1" dirty="0">
                <a:solidFill>
                  <a:srgbClr val="5E5B55"/>
                </a:solidFill>
                <a:latin typeface="Arial" pitchFamily="34" charset="0"/>
                <a:ea typeface="Arial" pitchFamily="34" charset="-122"/>
                <a:cs typeface="Arial" pitchFamily="34" charset="-120"/>
              </a:rPr>
              <a:t>Supported by the UNLV Office of Undergraduate Research Summer Undergraduate Research Fellowship. Every number on this poster comes from the published test script’s output files, archived in the repository under tests/record-results.</a:t>
            </a:r>
            <a:endParaRPr lang="en-US" sz="1500" dirty="0"/>
          </a:p>
        </p:txBody>
      </p:sp>
      <p:sp>
        <p:nvSpPr>
          <p:cNvPr id="57" name="Text 50"/>
          <p:cNvSpPr txBox="1"/>
          <p:nvPr/>
        </p:nvSpPr>
        <p:spPr>
          <a:xfrm>
            <a:off x="29413200" y="30038040"/>
            <a:ext cx="13655040" cy="411480"/>
          </a:xfrm>
          <a:prstGeom prst="rect">
            <a:avLst/>
          </a:prstGeom>
          <a:noFill/>
          <a:ln/>
        </p:spPr>
        <p:txBody>
          <a:bodyPr wrap="square" lIns="0" tIns="0" rIns="0" bIns="0" rtlCol="0" anchor="b"/>
          <a:lstStyle/>
          <a:p>
            <a:pPr indent="0" marL="0">
              <a:buNone/>
            </a:pPr>
            <a:r>
              <a:rPr lang="en-US" sz="2000" b="1" dirty="0">
                <a:solidFill>
                  <a:srgbClr val="22252B"/>
                </a:solidFill>
                <a:latin typeface="Arial" pitchFamily="34" charset="0"/>
                <a:ea typeface="Arial" pitchFamily="34" charset="-122"/>
                <a:cs typeface="Arial" pitchFamily="34" charset="-120"/>
              </a:rPr>
              <a:t>References (numbered as in the written report)</a:t>
            </a:r>
            <a:endParaRPr lang="en-US" sz="2000" dirty="0"/>
          </a:p>
        </p:txBody>
      </p:sp>
      <p:sp>
        <p:nvSpPr>
          <p:cNvPr id="58" name="Text 51"/>
          <p:cNvSpPr txBox="1"/>
          <p:nvPr/>
        </p:nvSpPr>
        <p:spPr>
          <a:xfrm>
            <a:off x="29413200" y="30449520"/>
            <a:ext cx="13655040" cy="1645920"/>
          </a:xfrm>
          <a:prstGeom prst="rect">
            <a:avLst/>
          </a:prstGeom>
          <a:noFill/>
          <a:ln/>
        </p:spPr>
        <p:txBody>
          <a:bodyPr wrap="square" lIns="0" tIns="0" rIns="0" bIns="0" rtlCol="0" anchor="t"/>
          <a:lstStyle/>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[1] D. J. Malan. Containerizing CS50: Standardizing Students’ Programming Environments. ITiCSE 2024.</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[2] D. J. Malan. From Cluster to Cloud to Appliance. ITiCSE 2013.</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[3] S. Valstar, W. G. Griswold, L. Porter. Using DevContainers to Standardize Student Development Environments. ITiCSE 2020.</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[4] K. Fernalld, T. OConnor, S. Sudhakaran, N. Nur. Lightweight Symphony: Reducing CS Student Anxiety with Standardized Docker Environments. SIGITE 2023.</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[5] J. O. Cadenas et al. Virtualization for Cost-Effective Teaching of Assembly Language Programming. IEEE Trans. Educ. 58(4), 2015.</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[6] D. P. Harvie, J. R. Cody, C. Morrell, T. T. Estes. Using Virtual Machines to Enhance the Educational Experience. SIGITE 2019.</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[8] H. Park et al. CodeDive: A Web-Based IDE with Real-Time Code Activity Monitoring. Applied Sciences 15(19), 2025.</a:t>
            </a:r>
            <a:endParaRPr lang="en-US" sz="1350" dirty="0"/>
          </a:p>
          <a:p>
            <a:pPr indent="0" marL="0">
              <a:lnSpc>
                <a:spcPct val="100000"/>
              </a:lnSpc>
              <a:spcAft>
                <a:spcPts val="100"/>
              </a:spcAft>
              <a:buNone/>
            </a:pPr>
            <a:r>
              <a:rPr lang="en-US" sz="1350" dirty="0">
                <a:solidFill>
                  <a:srgbClr val="5E5B55"/>
                </a:solidFill>
                <a:latin typeface="Arial" pitchFamily="34" charset="0"/>
                <a:ea typeface="Arial" pitchFamily="34" charset="-122"/>
                <a:cs typeface="Arial" pitchFamily="34" charset="-120"/>
              </a:rPr>
              <a:t>[12] UNLV Dept. of Computer Science. Student Center: Remote Access and File Storage. tux.cs.unlv.edu, accessed Aug. 2026.</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2026-09-28T22:38:10Z</dcterms:created>
  <dcterms:modified xsi:type="dcterms:W3CDTF">2026-09-28T22:38:10Z</dcterms:modified>
</cp:coreProperties>
</file>