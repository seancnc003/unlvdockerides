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32918400"/>
  <p:notesSz cx="32918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2000" b="0" i="0" u="none" strike="noStrike">
                <a:solidFill>
                  <a:srgbClr val="22252B"/>
                </a:solidFill>
                <a:latin typeface="Arial"/>
              </a:defRPr>
            </a:pPr>
            <a:r>
              <a:rPr sz="2000" b="0" i="0" u="none" strike="noStrike">
                <a:solidFill>
                  <a:srgbClr val="22252B"/>
                </a:solidFill>
                <a:latin typeface="Arial"/>
              </a:rPr>
              <a:t>Figure 2. Seconds until the editor is ready</a:t>
            </a:r>
          </a:p>
        </c:rich>
      </c:tx>
      <c:layout/>
      <c:overlay val="0"/>
    </c:title>
    <c:autoTitleDeleted val="0"/>
    <c:plotArea>
      <c:layout/>
      <c:barChart>
        <c:barDir val="bar"/>
        <c:grouping val="clustered"/>
        <c:varyColors val="0"/>
        <c:ser>
          <c:idx val="0"/>
          <c:order val="0"/>
          <c:tx>
            <c:strRef>
              <c:f>Sheet1!$B$1</c:f>
              <c:strCache>
                <c:ptCount val="1"/>
                <c:pt idx="0">
                  <c:v>Seconds until the editor is ready</c:v>
                </c:pt>
              </c:strCache>
            </c:strRef>
          </c:tx>
          <c:spPr>
            <a:solidFill>
              <a:srgbClr val="1F5FB0"/>
            </a:solidFill>
            <a:effectLst/>
          </c:spPr>
          <c:invertIfNegative val="0"/>
          <c:dLbls>
            <c:numFmt formatCode="0.0" sourceLinked="0"/>
            <c:txPr>
              <a:bodyPr/>
              <a:lstStyle/>
              <a:p>
                <a:pPr>
                  <a:defRPr b="0" i="0" strike="noStrike" sz="1700" u="none">
                    <a:solidFill>
                      <a:srgbClr val="22252B"/>
                    </a:solidFill>
                    <a:latin typeface="Arial"/>
                  </a:defRPr>
                </a:pPr>
              </a:p>
            </c:txPr>
            <c:showLegendKey val="0"/>
            <c:showVal val="1"/>
            <c:showCatName val="0"/>
            <c:showSerName val="0"/>
            <c:showPercent val="0"/>
            <c:showBubbleSize val="0"/>
            <c:showLeaderLines val="0"/>
          </c:dLbls>
          <c:cat>
            <c:multiLvlStrRef>
              <c:f>Sheet1!$A$2:$A$5</c:f>
              <c:multiLvlStrCache>
                <c:ptCount val="4"/>
                <c:lvl>
                  <c:pt idx="0">
                    <c:v>Linux on ARM</c:v>
                  </c:pt>
                  <c:pt idx="1">
                    <c:v>Apple Silicon Mac</c:v>
                  </c:pt>
                  <c:pt idx="2">
                    <c:v>Windows 11 (Intel)</c:v>
                  </c:pt>
                  <c:pt idx="3">
                    <c:v>Linux PC (Intel)</c:v>
                  </c:pt>
                </c:lvl>
              </c:multiLvlStrCache>
            </c:multiLvlStrRef>
          </c:cat>
          <c:val>
            <c:numRef>
              <c:f>Sheet1!$B$2:$B$5</c:f>
              <c:numCache>
                <c:formatCode>General</c:formatCode>
                <c:ptCount val="4"/>
                <c:pt idx="0">
                  <c:v>6.7</c:v>
                </c:pt>
                <c:pt idx="1">
                  <c:v>4.8</c:v>
                </c:pt>
                <c:pt idx="2">
                  <c:v>0.6</c:v>
                </c:pt>
                <c:pt idx="3">
                  <c:v>0.5</c:v>
                </c:pt>
              </c:numCache>
            </c:numRef>
          </c:val>
        </c:ser>
        <c:dLbls>
          <c:numFmt formatCode="0.0" sourceLinked="0"/>
          <c:txPr>
            <a:bodyPr/>
            <a:lstStyle/>
            <a:p>
              <a:pPr>
                <a:defRPr b="0" i="0" strike="noStrike" sz="1700" u="none">
                  <a:solidFill>
                    <a:srgbClr val="22252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700" b="0" i="0" u="none" strike="noStrike">
                <a:solidFill>
                  <a:srgbClr val="22252B"/>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12700" cap="flat">
              <a:solidFill>
                <a:srgbClr val="D9D6CF"/>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500" b="0" i="0" u="none" strike="noStrike">
                <a:solidFill>
                  <a:srgbClr val="5E5B55"/>
                </a:solidFill>
                <a:latin typeface="Arial"/>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90-second pitch: Every semester hundreds of UNLV students lose their first week of programming class to installing software, and the newest Macs sometimes cannot run the course tools at all. I packaged each course's exact tools plus an editor into a container: one download, one command, runs on the student's own laptop in a browser tab, nothing recorded. The research question was whether that promise holds on the laptops students actually own. I rented four kinds of computer and ran one unchanged script on each: it downloads the package, opens the editor, runs real CS 218 assignments, tries the debugger, and checks that files survive. All four machines passed every assignment; the editor opens in half a second on Intel chips and about five seconds on Apple Silicon; the download is 552 MB instead of a 19 GB virtual machine. The one limit is the debugger on ARM chips, which we can explain and which the handout covers. Next is a classroom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3891200" cy="3931920"/>
          </a:xfrm>
          <a:prstGeom prst="rect">
            <a:avLst/>
          </a:prstGeom>
          <a:solidFill>
            <a:srgbClr val="B10202"/>
          </a:solidFill>
          <a:ln w="12700">
            <a:solidFill>
              <a:srgbClr val="B10202"/>
            </a:solidFill>
            <a:prstDash val="solid"/>
          </a:ln>
        </p:spPr>
      </p:sp>
      <p:sp>
        <p:nvSpPr>
          <p:cNvPr id="3" name="Text 1"/>
          <p:cNvSpPr txBox="1"/>
          <p:nvPr/>
        </p:nvSpPr>
        <p:spPr>
          <a:xfrm>
            <a:off x="822960" y="320040"/>
            <a:ext cx="33467040" cy="2148840"/>
          </a:xfrm>
          <a:prstGeom prst="rect">
            <a:avLst/>
          </a:prstGeom>
          <a:noFill/>
          <a:ln/>
        </p:spPr>
        <p:txBody>
          <a:bodyPr wrap="square" lIns="0" tIns="0" rIns="0" bIns="0" rtlCol="0" anchor="ctr"/>
          <a:lstStyle/>
          <a:p>
            <a:pPr indent="0" marL="0">
              <a:lnSpc>
                <a:spcPct val="98000"/>
              </a:lnSpc>
              <a:buNone/>
            </a:pPr>
            <a:r>
              <a:rPr lang="en-US" sz="5400" b="1" dirty="0">
                <a:solidFill>
                  <a:srgbClr val="FFFFFF"/>
                </a:solidFill>
                <a:latin typeface="Arial" pitchFamily="34" charset="0"/>
                <a:ea typeface="Arial" pitchFamily="34" charset="-122"/>
                <a:cs typeface="Arial" pitchFamily="34" charset="-120"/>
              </a:rPr>
              <a:t>Decentralized, Browser-Based Docker IDEs for C++ and x86-64 Assembly Education: An Evaluation on the Laptops Students Actually Own</a:t>
            </a:r>
            <a:endParaRPr lang="en-US" sz="5400" dirty="0"/>
          </a:p>
        </p:txBody>
      </p:sp>
      <p:sp>
        <p:nvSpPr>
          <p:cNvPr id="4" name="Text 2"/>
          <p:cNvSpPr txBox="1"/>
          <p:nvPr/>
        </p:nvSpPr>
        <p:spPr>
          <a:xfrm>
            <a:off x="822960" y="2560320"/>
            <a:ext cx="33467040" cy="64008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Sean Cuenco</a:t>
            </a:r>
            <a:pPr indent="0" marL="0">
              <a:buNone/>
            </a:pPr>
            <a:r>
              <a:rPr lang="en-US" sz="2800" dirty="0">
                <a:solidFill>
                  <a:srgbClr val="FFFFFF"/>
                </a:solidFill>
                <a:latin typeface="Arial" pitchFamily="34" charset="0"/>
                <a:ea typeface="Arial" pitchFamily="34" charset="-122"/>
                <a:cs typeface="Arial" pitchFamily="34" charset="-120"/>
              </a:rPr>
              <a:t>   ·   Faculty Mentor: James Andro-Vasko, Ph.D.   ·   Department of Computer Science, University of Nevada, Las Vegas</a:t>
            </a:r>
            <a:endParaRPr lang="en-US" sz="2800" dirty="0"/>
          </a:p>
        </p:txBody>
      </p:sp>
      <p:sp>
        <p:nvSpPr>
          <p:cNvPr id="5" name="Text 3"/>
          <p:cNvSpPr txBox="1"/>
          <p:nvPr/>
        </p:nvSpPr>
        <p:spPr>
          <a:xfrm>
            <a:off x="822960" y="3154680"/>
            <a:ext cx="33467040" cy="50292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Summer Undergraduate Research Fellowship (SURF) 2026  ·  Office of Undergraduate Research, UNLV</a:t>
            </a:r>
            <a:endParaRPr lang="en-US" sz="2200" dirty="0"/>
          </a:p>
        </p:txBody>
      </p:sp>
      <p:sp>
        <p:nvSpPr>
          <p:cNvPr id="6" name="Text 4"/>
          <p:cNvSpPr txBox="1"/>
          <p:nvPr/>
        </p:nvSpPr>
        <p:spPr>
          <a:xfrm>
            <a:off x="34747200" y="365760"/>
            <a:ext cx="8321040" cy="3200400"/>
          </a:xfrm>
          <a:prstGeom prst="rect">
            <a:avLst/>
          </a:prstGeom>
          <a:noFill/>
          <a:ln/>
        </p:spPr>
        <p:txBody>
          <a:bodyPr wrap="square" lIns="0" tIns="0" rIns="0" bIns="0" rtlCol="0" anchor="ctr"/>
          <a:lstStyle/>
          <a:p>
            <a:pPr algn="r" indent="0" marL="0">
              <a:lnSpc>
                <a:spcPct val="105000"/>
              </a:lnSpc>
              <a:buNone/>
            </a:pPr>
            <a:r>
              <a:rPr lang="en-US" sz="1800" dirty="0">
                <a:solidFill>
                  <a:srgbClr val="FFFFFF"/>
                </a:solidFill>
                <a:latin typeface="Arial" pitchFamily="34" charset="0"/>
                <a:ea typeface="Arial" pitchFamily="34" charset="-122"/>
                <a:cs typeface="Arial" pitchFamily="34" charset="-120"/>
              </a:rPr>
              <a:t>Code, handouts, test script, raw results:</a:t>
            </a:r>
            <a:endParaRPr lang="en-US" sz="1800" dirty="0"/>
          </a:p>
          <a:p>
            <a:pPr algn="r" indent="0" marL="0">
              <a:lnSpc>
                <a:spcPct val="105000"/>
              </a:lnSpc>
              <a:buNone/>
            </a:pPr>
            <a:r>
              <a:rPr lang="en-US" sz="1800" dirty="0">
                <a:solidFill>
                  <a:srgbClr val="FFFFFF"/>
                </a:solidFill>
                <a:latin typeface="Arial" pitchFamily="34" charset="0"/>
                <a:ea typeface="Arial" pitchFamily="34" charset="-122"/>
                <a:cs typeface="Arial" pitchFamily="34" charset="-120"/>
              </a:rPr>
              <a:t>github.com/seancnc003/UNLVDockerIDEs</a:t>
            </a:r>
            <a:endParaRPr lang="en-US" sz="1800" dirty="0"/>
          </a:p>
          <a:p>
            <a:pPr algn="r" indent="0" marL="0">
              <a:lnSpc>
                <a:spcPct val="105000"/>
              </a:lnSpc>
              <a:buNone/>
            </a:pPr>
            <a:endParaRPr lang="en-US" sz="1800" dirty="0"/>
          </a:p>
          <a:p>
            <a:pPr algn="r" indent="0" marL="0">
              <a:lnSpc>
                <a:spcPct val="105000"/>
              </a:lnSpc>
              <a:buNone/>
            </a:pPr>
            <a:r>
              <a:rPr lang="en-US" sz="1800" dirty="0">
                <a:solidFill>
                  <a:srgbClr val="FFFFFF"/>
                </a:solidFill>
                <a:latin typeface="Arial" pitchFamily="34" charset="0"/>
                <a:ea typeface="Arial" pitchFamily="34" charset="-122"/>
                <a:cs typeface="Arial" pitchFamily="34" charset="-120"/>
              </a:rPr>
              <a:t>Ready-made course environments:</a:t>
            </a:r>
            <a:endParaRPr lang="en-US" sz="1800" dirty="0"/>
          </a:p>
          <a:p>
            <a:pPr algn="r" indent="0" marL="0">
              <a:lnSpc>
                <a:spcPct val="105000"/>
              </a:lnSpc>
              <a:buNone/>
            </a:pPr>
            <a:r>
              <a:rPr lang="en-US" sz="1800" dirty="0">
                <a:solidFill>
                  <a:srgbClr val="FFFFFF"/>
                </a:solidFill>
                <a:latin typeface="Arial" pitchFamily="34" charset="0"/>
                <a:ea typeface="Arial" pitchFamily="34" charset="-122"/>
                <a:cs typeface="Arial" pitchFamily="34" charset="-120"/>
              </a:rPr>
              <a:t>hub.docker.com/r/seancnc/unlv-cpp-ide</a:t>
            </a:r>
            <a:endParaRPr lang="en-US" sz="1800" dirty="0"/>
          </a:p>
          <a:p>
            <a:pPr algn="r" indent="0" marL="0">
              <a:lnSpc>
                <a:spcPct val="105000"/>
              </a:lnSpc>
              <a:buNone/>
            </a:pPr>
            <a:r>
              <a:rPr lang="en-US" sz="1800" dirty="0">
                <a:solidFill>
                  <a:srgbClr val="FFFFFF"/>
                </a:solidFill>
                <a:latin typeface="Arial" pitchFamily="34" charset="0"/>
                <a:ea typeface="Arial" pitchFamily="34" charset="-122"/>
                <a:cs typeface="Arial" pitchFamily="34" charset="-120"/>
              </a:rPr>
              <a:t>hub.docker.com/r/seancnc/unlv-x86-ide</a:t>
            </a:r>
            <a:endParaRPr lang="en-US" sz="1800" dirty="0"/>
          </a:p>
        </p:txBody>
      </p:sp>
      <p:sp>
        <p:nvSpPr>
          <p:cNvPr id="7" name="Shape 5"/>
          <p:cNvSpPr/>
          <p:nvPr/>
        </p:nvSpPr>
        <p:spPr>
          <a:xfrm>
            <a:off x="822960" y="4343400"/>
            <a:ext cx="42245280" cy="2651760"/>
          </a:xfrm>
          <a:prstGeom prst="rect">
            <a:avLst/>
          </a:prstGeom>
          <a:solidFill>
            <a:srgbClr val="FBEAEA"/>
          </a:solidFill>
          <a:ln w="12700">
            <a:solidFill>
              <a:srgbClr val="FBEAEA"/>
            </a:solidFill>
            <a:prstDash val="solid"/>
          </a:ln>
        </p:spPr>
      </p:sp>
      <p:sp>
        <p:nvSpPr>
          <p:cNvPr id="8" name="Text 6"/>
          <p:cNvSpPr txBox="1"/>
          <p:nvPr/>
        </p:nvSpPr>
        <p:spPr>
          <a:xfrm>
            <a:off x="1234440" y="4526280"/>
            <a:ext cx="5486400" cy="411480"/>
          </a:xfrm>
          <a:prstGeom prst="rect">
            <a:avLst/>
          </a:prstGeom>
          <a:noFill/>
          <a:ln/>
        </p:spPr>
        <p:txBody>
          <a:bodyPr wrap="square" lIns="0" tIns="0" rIns="0" bIns="0" rtlCol="0" anchor="ctr"/>
          <a:lstStyle/>
          <a:p>
            <a:pPr indent="0" marL="0">
              <a:buNone/>
            </a:pPr>
            <a:r>
              <a:rPr lang="en-US" sz="1800" b="1" spc="200" kern="0" dirty="0">
                <a:solidFill>
                  <a:srgbClr val="B10202"/>
                </a:solidFill>
                <a:latin typeface="Arial" pitchFamily="34" charset="0"/>
                <a:ea typeface="Arial" pitchFamily="34" charset="-122"/>
                <a:cs typeface="Arial" pitchFamily="34" charset="-120"/>
              </a:rPr>
              <a:t>THE HOOK</a:t>
            </a:r>
            <a:endParaRPr lang="en-US" sz="1800" dirty="0"/>
          </a:p>
        </p:txBody>
      </p:sp>
      <p:sp>
        <p:nvSpPr>
          <p:cNvPr id="9" name="Text 7"/>
          <p:cNvSpPr txBox="1"/>
          <p:nvPr/>
        </p:nvSpPr>
        <p:spPr>
          <a:xfrm>
            <a:off x="1234440" y="4937760"/>
            <a:ext cx="27066240" cy="1920240"/>
          </a:xfrm>
          <a:prstGeom prst="rect">
            <a:avLst/>
          </a:prstGeom>
          <a:noFill/>
          <a:ln/>
        </p:spPr>
        <p:txBody>
          <a:bodyPr wrap="square" lIns="0" tIns="0" rIns="0" bIns="0" rtlCol="0" anchor="t"/>
          <a:lstStyle/>
          <a:p>
            <a:pPr indent="0" marL="0">
              <a:lnSpc>
                <a:spcPct val="104000"/>
              </a:lnSpc>
              <a:buNone/>
            </a:pPr>
            <a:r>
              <a:rPr lang="en-US" sz="3000" b="1" dirty="0">
                <a:solidFill>
                  <a:srgbClr val="B10202"/>
                </a:solidFill>
                <a:latin typeface="Arial" pitchFamily="34" charset="0"/>
                <a:ea typeface="Arial" pitchFamily="34" charset="-122"/>
                <a:cs typeface="Arial" pitchFamily="34" charset="-120"/>
              </a:rPr>
              <a:t>Week one of a programming course is often lost to installing software, not to programming. </a:t>
            </a:r>
            <a:pPr indent="0" marL="0">
              <a:lnSpc>
                <a:spcPct val="104000"/>
              </a:lnSpc>
              <a:buNone/>
            </a:pPr>
            <a:r>
              <a:rPr lang="en-US" sz="2600" dirty="0">
                <a:solidFill>
                  <a:srgbClr val="22252B"/>
                </a:solidFill>
                <a:latin typeface="Arial" pitchFamily="34" charset="0"/>
                <a:ea typeface="Arial" pitchFamily="34" charset="-122"/>
                <a:cs typeface="Arial" pitchFamily="34" charset="-120"/>
              </a:rPr>
              <a:t>Every year, hundreds of UNLV students in the introductory C++ and assembly-language courses spend their first days making four tools work on dozens of different laptops, and owners of the newest Macs sometimes cannot run the course’s software at all. This project asks a simple question: can the whole course environment be one download that works the same on every laptop, and how would we know?</a:t>
            </a:r>
            <a:endParaRPr lang="en-US" sz="3000" dirty="0"/>
          </a:p>
        </p:txBody>
      </p:sp>
      <p:sp>
        <p:nvSpPr>
          <p:cNvPr id="10" name="Text 8"/>
          <p:cNvSpPr txBox="1"/>
          <p:nvPr/>
        </p:nvSpPr>
        <p:spPr>
          <a:xfrm>
            <a:off x="29169360" y="4526280"/>
            <a:ext cx="13487400" cy="411480"/>
          </a:xfrm>
          <a:prstGeom prst="rect">
            <a:avLst/>
          </a:prstGeom>
          <a:noFill/>
          <a:ln/>
        </p:spPr>
        <p:txBody>
          <a:bodyPr wrap="square" lIns="0" tIns="0" rIns="0" bIns="0" rtlCol="0" anchor="ctr"/>
          <a:lstStyle/>
          <a:p>
            <a:pPr indent="0" marL="0">
              <a:buNone/>
            </a:pPr>
            <a:r>
              <a:rPr lang="en-US" sz="1800" b="1" spc="200" kern="0" dirty="0">
                <a:solidFill>
                  <a:srgbClr val="B10202"/>
                </a:solidFill>
                <a:latin typeface="Arial" pitchFamily="34" charset="0"/>
                <a:ea typeface="Arial" pitchFamily="34" charset="-122"/>
                <a:cs typeface="Arial" pitchFamily="34" charset="-120"/>
              </a:rPr>
              <a:t>THREE TERMS USED ON THIS POSTER</a:t>
            </a:r>
            <a:endParaRPr lang="en-US" sz="1800" dirty="0"/>
          </a:p>
        </p:txBody>
      </p:sp>
      <p:sp>
        <p:nvSpPr>
          <p:cNvPr id="11" name="Text 9"/>
          <p:cNvSpPr txBox="1"/>
          <p:nvPr/>
        </p:nvSpPr>
        <p:spPr>
          <a:xfrm>
            <a:off x="29169360" y="4937760"/>
            <a:ext cx="13487400" cy="1920240"/>
          </a:xfrm>
          <a:prstGeom prst="rect">
            <a:avLst/>
          </a:prstGeom>
          <a:noFill/>
          <a:ln/>
        </p:spPr>
        <p:txBody>
          <a:bodyPr wrap="square" lIns="0" tIns="0" rIns="0" bIns="0" rtlCol="0" anchor="t"/>
          <a:lstStyle/>
          <a:p>
            <a:pPr indent="0" marL="0">
              <a:lnSpc>
                <a:spcPct val="103000"/>
              </a:lnSpc>
              <a:spcAft>
                <a:spcPts val="400"/>
              </a:spcAft>
              <a:buNone/>
            </a:pPr>
            <a:r>
              <a:rPr lang="en-US" sz="1900" b="1" dirty="0">
                <a:solidFill>
                  <a:srgbClr val="22252B"/>
                </a:solidFill>
                <a:latin typeface="Arial" pitchFamily="34" charset="0"/>
                <a:ea typeface="Arial" pitchFamily="34" charset="-122"/>
                <a:cs typeface="Arial" pitchFamily="34" charset="-120"/>
              </a:rPr>
              <a:t>Container  </a:t>
            </a:r>
            <a:pPr indent="0" marL="0">
              <a:lnSpc>
                <a:spcPct val="103000"/>
              </a:lnSpc>
              <a:spcAft>
                <a:spcPts val="400"/>
              </a:spcAft>
              <a:buNone/>
            </a:pPr>
            <a:r>
              <a:rPr lang="en-US" sz="1900" dirty="0">
                <a:solidFill>
                  <a:srgbClr val="22252B"/>
                </a:solidFill>
                <a:latin typeface="Arial" pitchFamily="34" charset="0"/>
                <a:ea typeface="Arial" pitchFamily="34" charset="-122"/>
                <a:cs typeface="Arial" pitchFamily="34" charset="-120"/>
              </a:rPr>
              <a:t>a sealed, pre-configured copy of a course’s tools that runs inside any laptop. Docker is the free program that runs containers.</a:t>
            </a:r>
            <a:endParaRPr lang="en-US" sz="1900" dirty="0"/>
          </a:p>
          <a:p>
            <a:pPr indent="0" marL="0">
              <a:lnSpc>
                <a:spcPct val="103000"/>
              </a:lnSpc>
              <a:spcAft>
                <a:spcPts val="400"/>
              </a:spcAft>
              <a:buNone/>
            </a:pPr>
            <a:r>
              <a:rPr lang="en-US" sz="1900" b="1" dirty="0">
                <a:solidFill>
                  <a:srgbClr val="22252B"/>
                </a:solidFill>
                <a:latin typeface="Arial" pitchFamily="34" charset="0"/>
                <a:ea typeface="Arial" pitchFamily="34" charset="-122"/>
                <a:cs typeface="Arial" pitchFamily="34" charset="-120"/>
              </a:rPr>
              <a:t>Translation  </a:t>
            </a:r>
            <a:pPr indent="0" marL="0">
              <a:lnSpc>
                <a:spcPct val="103000"/>
              </a:lnSpc>
              <a:spcAft>
                <a:spcPts val="400"/>
              </a:spcAft>
              <a:buNone/>
            </a:pPr>
            <a:r>
              <a:rPr lang="en-US" sz="1900" dirty="0">
                <a:solidFill>
                  <a:srgbClr val="22252B"/>
                </a:solidFill>
                <a:latin typeface="Arial" pitchFamily="34" charset="0"/>
                <a:ea typeface="Arial" pitchFamily="34" charset="-122"/>
                <a:cs typeface="Arial" pitchFamily="34" charset="-120"/>
              </a:rPr>
              <a:t>how an ARM chip (Apple Silicon Macs) runs software built for Intel chips. Correct, but slower.</a:t>
            </a:r>
            <a:endParaRPr lang="en-US" sz="1900" dirty="0"/>
          </a:p>
          <a:p>
            <a:pPr indent="0" marL="0">
              <a:lnSpc>
                <a:spcPct val="103000"/>
              </a:lnSpc>
              <a:spcAft>
                <a:spcPts val="400"/>
              </a:spcAft>
              <a:buNone/>
            </a:pPr>
            <a:r>
              <a:rPr lang="en-US" sz="1900" b="1" dirty="0">
                <a:solidFill>
                  <a:srgbClr val="22252B"/>
                </a:solidFill>
                <a:latin typeface="Arial" pitchFamily="34" charset="0"/>
                <a:ea typeface="Arial" pitchFamily="34" charset="-122"/>
                <a:cs typeface="Arial" pitchFamily="34" charset="-120"/>
              </a:rPr>
              <a:t>Debugger  </a:t>
            </a:r>
            <a:pPr indent="0" marL="0">
              <a:lnSpc>
                <a:spcPct val="103000"/>
              </a:lnSpc>
              <a:spcAft>
                <a:spcPts val="400"/>
              </a:spcAft>
              <a:buNone/>
            </a:pPr>
            <a:r>
              <a:rPr lang="en-US" sz="1900" dirty="0">
                <a:solidFill>
                  <a:srgbClr val="22252B"/>
                </a:solidFill>
                <a:latin typeface="Arial" pitchFamily="34" charset="0"/>
                <a:ea typeface="Arial" pitchFamily="34" charset="-122"/>
                <a:cs typeface="Arial" pitchFamily="34" charset="-120"/>
              </a:rPr>
              <a:t>a tool that pauses a running program so students can look inside it. Some assignments require it.</a:t>
            </a:r>
            <a:endParaRPr lang="en-US" sz="1900" dirty="0"/>
          </a:p>
        </p:txBody>
      </p:sp>
      <p:sp>
        <p:nvSpPr>
          <p:cNvPr id="12" name="Shape 10"/>
          <p:cNvSpPr/>
          <p:nvPr/>
        </p:nvSpPr>
        <p:spPr>
          <a:xfrm>
            <a:off x="822960" y="7498080"/>
            <a:ext cx="13655040" cy="3657600"/>
          </a:xfrm>
          <a:prstGeom prst="rect">
            <a:avLst/>
          </a:prstGeom>
          <a:solidFill>
            <a:srgbClr val="F5F4F0"/>
          </a:solidFill>
          <a:ln w="12700">
            <a:solidFill>
              <a:srgbClr val="F5F4F0"/>
            </a:solidFill>
            <a:prstDash val="solid"/>
          </a:ln>
        </p:spPr>
      </p:sp>
      <p:sp>
        <p:nvSpPr>
          <p:cNvPr id="13" name="Text 11"/>
          <p:cNvSpPr txBox="1"/>
          <p:nvPr/>
        </p:nvSpPr>
        <p:spPr>
          <a:xfrm>
            <a:off x="1143000" y="7680960"/>
            <a:ext cx="13014960" cy="548640"/>
          </a:xfrm>
          <a:prstGeom prst="rect">
            <a:avLst/>
          </a:prstGeom>
          <a:noFill/>
          <a:ln/>
        </p:spPr>
        <p:txBody>
          <a:bodyPr wrap="square" lIns="0" tIns="0" rIns="0" bIns="0" rtlCol="0" anchor="ctr"/>
          <a:lstStyle/>
          <a:p>
            <a:pPr indent="0" marL="0">
              <a:buNone/>
            </a:pPr>
            <a:r>
              <a:rPr lang="en-US" sz="3000" b="1" dirty="0">
                <a:solidFill>
                  <a:srgbClr val="B10202"/>
                </a:solidFill>
                <a:latin typeface="Arial" pitchFamily="34" charset="0"/>
                <a:ea typeface="Arial" pitchFamily="34" charset="-122"/>
                <a:cs typeface="Arial" pitchFamily="34" charset="-120"/>
              </a:rPr>
              <a:t>Abstract</a:t>
            </a:r>
            <a:endParaRPr lang="en-US" sz="3000" dirty="0"/>
          </a:p>
        </p:txBody>
      </p:sp>
      <p:sp>
        <p:nvSpPr>
          <p:cNvPr id="14" name="Text 12"/>
          <p:cNvSpPr txBox="1"/>
          <p:nvPr/>
        </p:nvSpPr>
        <p:spPr>
          <a:xfrm>
            <a:off x="1143000" y="8275320"/>
            <a:ext cx="13014960" cy="2834640"/>
          </a:xfrm>
          <a:prstGeom prst="rect">
            <a:avLst/>
          </a:prstGeom>
          <a:noFill/>
          <a:ln/>
        </p:spPr>
        <p:txBody>
          <a:bodyPr wrap="square" lIns="0" tIns="0" rIns="0" bIns="0" rtlCol="0" anchor="t"/>
          <a:lstStyle/>
          <a:p>
            <a:pPr indent="0" marL="0">
              <a:lnSpc>
                <a:spcPct val="104000"/>
              </a:lnSpc>
              <a:buNone/>
            </a:pPr>
            <a:r>
              <a:rPr lang="en-US" sz="1900" dirty="0">
                <a:solidFill>
                  <a:srgbClr val="22252B"/>
                </a:solidFill>
                <a:latin typeface="Arial" pitchFamily="34" charset="0"/>
                <a:ea typeface="Arial" pitchFamily="34" charset="-122"/>
                <a:cs typeface="Arial" pitchFamily="34" charset="-120"/>
              </a:rPr>
              <a:t>UNLV’s introductory C++ and x86-64 assembly courses lose their first week to software setup, and the newest Macs often cannot run the course’s virtual machine. This project packages each course’s exact tools and a browser-based editor into a Docker container that runs entirely on the student’s laptop: one 552 MB download, one command, no server, no account. To test whether that promise holds on the laptops students actually own, one unmodified script performed a student’s first day and four real assignments on four machines: Intel and ARM Linux rented from AWS, Windows 11 rented from Azure, and an M1 MacBook Pro. All four passed every assignment; the editor opened in 0.5 s on Intel chips and about 5 s on Apple Silicon. The one limit, the debugger on ARM chips, is documented and explained.</a:t>
            </a:r>
            <a:endParaRPr lang="en-US" sz="1900" dirty="0"/>
          </a:p>
        </p:txBody>
      </p:sp>
      <p:sp>
        <p:nvSpPr>
          <p:cNvPr id="15" name="Text 13"/>
          <p:cNvSpPr txBox="1"/>
          <p:nvPr/>
        </p:nvSpPr>
        <p:spPr>
          <a:xfrm>
            <a:off x="822960" y="11521440"/>
            <a:ext cx="13655040" cy="868680"/>
          </a:xfrm>
          <a:prstGeom prst="rect">
            <a:avLst/>
          </a:prstGeom>
          <a:noFill/>
          <a:ln/>
        </p:spPr>
        <p:txBody>
          <a:bodyPr wrap="square" lIns="0" tIns="0" rIns="0" bIns="0" rtlCol="0" anchor="b"/>
          <a:lstStyle/>
          <a:p>
            <a:pPr indent="0" marL="0">
              <a:buNone/>
            </a:pPr>
            <a:r>
              <a:rPr lang="en-US" sz="3800" b="1" dirty="0">
                <a:solidFill>
                  <a:srgbClr val="B10202"/>
                </a:solidFill>
                <a:latin typeface="Arial" pitchFamily="34" charset="0"/>
                <a:ea typeface="Arial" pitchFamily="34" charset="-122"/>
                <a:cs typeface="Arial" pitchFamily="34" charset="-120"/>
              </a:rPr>
              <a:t>Introduction and background</a:t>
            </a:r>
            <a:endParaRPr lang="en-US" sz="3800" dirty="0"/>
          </a:p>
        </p:txBody>
      </p:sp>
      <p:sp>
        <p:nvSpPr>
          <p:cNvPr id="16" name="Text 14"/>
          <p:cNvSpPr txBox="1"/>
          <p:nvPr/>
        </p:nvSpPr>
        <p:spPr>
          <a:xfrm>
            <a:off x="822960" y="12527280"/>
            <a:ext cx="13655040" cy="196596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The problem is old and well documented. Other universities measured 75–100 minutes of class time per semester lost to installs [6], help traffic dominated by “it works on my machine” [3], and students with M1/M2 MacBooks unable to run the course’s virtual machine [4]. Institutions have answered four ways, and UNLV has lived through the first two:</a:t>
            </a:r>
            <a:endParaRPr lang="en-US" sz="2200" dirty="0"/>
          </a:p>
        </p:txBody>
      </p:sp>
      <p:sp>
        <p:nvSpPr>
          <p:cNvPr id="17" name="Text 15"/>
          <p:cNvSpPr txBox="1"/>
          <p:nvPr/>
        </p:nvSpPr>
        <p:spPr>
          <a:xfrm>
            <a:off x="822960" y="14493240"/>
            <a:ext cx="13655040" cy="45720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1  Shared login servers (UNLV, 2000s–2024)</a:t>
            </a:r>
            <a:endParaRPr lang="en-US" sz="2100" dirty="0"/>
          </a:p>
        </p:txBody>
      </p:sp>
      <p:sp>
        <p:nvSpPr>
          <p:cNvPr id="18" name="Text 16"/>
          <p:cNvSpPr txBox="1"/>
          <p:nvPr/>
        </p:nvSpPr>
        <p:spPr>
          <a:xfrm>
            <a:off x="822960" y="14950440"/>
            <a:ext cx="13655040" cy="960120"/>
          </a:xfrm>
          <a:prstGeom prst="rect">
            <a:avLst/>
          </a:prstGeom>
          <a:noFill/>
          <a:ln/>
        </p:spPr>
        <p:txBody>
          <a:bodyPr wrap="square" lIns="0" tIns="0" rIns="0" bIns="0" rtlCol="0" anchor="t"/>
          <a:lstStyle/>
          <a:p>
            <a:pPr indent="0" marL="0">
              <a:lnSpc>
                <a:spcPct val="102000"/>
              </a:lnSpc>
              <a:buNone/>
            </a:pPr>
            <a:r>
              <a:rPr lang="en-US" sz="2100" dirty="0">
                <a:solidFill>
                  <a:srgbClr val="22252B"/>
                </a:solidFill>
                <a:latin typeface="Arial" pitchFamily="34" charset="0"/>
                <a:ea typeface="Arial" pitchFamily="34" charset="-122"/>
                <a:cs typeface="Arial" pitchFamily="34" charset="-120"/>
              </a:rPr>
              <a:t>Every student logged in to a department computer over the network (PuTTY). Retired, and the documentation was deleted in 2025 [12].</a:t>
            </a:r>
            <a:endParaRPr lang="en-US" sz="2100" dirty="0"/>
          </a:p>
        </p:txBody>
      </p:sp>
      <p:sp>
        <p:nvSpPr>
          <p:cNvPr id="19" name="Text 17"/>
          <p:cNvSpPr txBox="1"/>
          <p:nvPr/>
        </p:nvSpPr>
        <p:spPr>
          <a:xfrm>
            <a:off x="822960" y="15910560"/>
            <a:ext cx="13655040" cy="45720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2  A virtual machine per course (CS 218 today)</a:t>
            </a:r>
            <a:endParaRPr lang="en-US" sz="2100" dirty="0"/>
          </a:p>
        </p:txBody>
      </p:sp>
      <p:sp>
        <p:nvSpPr>
          <p:cNvPr id="20" name="Text 18"/>
          <p:cNvSpPr txBox="1"/>
          <p:nvPr/>
        </p:nvSpPr>
        <p:spPr>
          <a:xfrm>
            <a:off x="822960" y="16367760"/>
            <a:ext cx="13655040" cy="960120"/>
          </a:xfrm>
          <a:prstGeom prst="rect">
            <a:avLst/>
          </a:prstGeom>
          <a:noFill/>
          <a:ln/>
        </p:spPr>
        <p:txBody>
          <a:bodyPr wrap="square" lIns="0" tIns="0" rIns="0" bIns="0" rtlCol="0" anchor="t"/>
          <a:lstStyle/>
          <a:p>
            <a:pPr indent="0" marL="0">
              <a:lnSpc>
                <a:spcPct val="102000"/>
              </a:lnSpc>
              <a:buNone/>
            </a:pPr>
            <a:r>
              <a:rPr lang="en-US" sz="2100" dirty="0">
                <a:solidFill>
                  <a:srgbClr val="22252B"/>
                </a:solidFill>
                <a:latin typeface="Arial" pitchFamily="34" charset="0"/>
                <a:ea typeface="Arial" pitchFamily="34" charset="-122"/>
                <a:cs typeface="Arial" pitchFamily="34" charset="-120"/>
              </a:rPr>
              <a:t>A 19 GB copy of a whole computer that runs inside the laptop. Slow, and so slow on Apple Silicon Macs that the course sends M1/M2 owners to the lab.</a:t>
            </a:r>
            <a:endParaRPr lang="en-US" sz="2100" dirty="0"/>
          </a:p>
        </p:txBody>
      </p:sp>
      <p:sp>
        <p:nvSpPr>
          <p:cNvPr id="21" name="Text 19"/>
          <p:cNvSpPr txBox="1"/>
          <p:nvPr/>
        </p:nvSpPr>
        <p:spPr>
          <a:xfrm>
            <a:off x="822960" y="17327880"/>
            <a:ext cx="13655040" cy="45720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3  Cloud editors (Harvard CS50 [1])</a:t>
            </a:r>
            <a:endParaRPr lang="en-US" sz="2100" dirty="0"/>
          </a:p>
        </p:txBody>
      </p:sp>
      <p:sp>
        <p:nvSpPr>
          <p:cNvPr id="22" name="Text 20"/>
          <p:cNvSpPr txBox="1"/>
          <p:nvPr/>
        </p:nvSpPr>
        <p:spPr>
          <a:xfrm>
            <a:off x="822960" y="17785080"/>
            <a:ext cx="13655040" cy="960120"/>
          </a:xfrm>
          <a:prstGeom prst="rect">
            <a:avLst/>
          </a:prstGeom>
          <a:noFill/>
          <a:ln/>
        </p:spPr>
        <p:txBody>
          <a:bodyPr wrap="square" lIns="0" tIns="0" rIns="0" bIns="0" rtlCol="0" anchor="t"/>
          <a:lstStyle/>
          <a:p>
            <a:pPr indent="0" marL="0">
              <a:lnSpc>
                <a:spcPct val="102000"/>
              </a:lnSpc>
              <a:buNone/>
            </a:pPr>
            <a:r>
              <a:rPr lang="en-US" sz="2100" dirty="0">
                <a:solidFill>
                  <a:srgbClr val="22252B"/>
                </a:solidFill>
                <a:latin typeface="Arial" pitchFamily="34" charset="0"/>
                <a:ea typeface="Arial" pitchFamily="34" charset="-122"/>
                <a:cs typeface="Arial" pitchFamily="34" charset="-120"/>
              </a:rPr>
              <a:t>The environment lives on a company’s servers. Needs internet and an account; students never learn to set up their own machine.</a:t>
            </a:r>
            <a:endParaRPr lang="en-US" sz="2100" dirty="0"/>
          </a:p>
        </p:txBody>
      </p:sp>
      <p:sp>
        <p:nvSpPr>
          <p:cNvPr id="23" name="Text 21"/>
          <p:cNvSpPr txBox="1"/>
          <p:nvPr/>
        </p:nvSpPr>
        <p:spPr>
          <a:xfrm>
            <a:off x="822960" y="18745200"/>
            <a:ext cx="13655040" cy="45720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4  Monitored platforms (CodeDive, South Korea [8])</a:t>
            </a:r>
            <a:endParaRPr lang="en-US" sz="2100" dirty="0"/>
          </a:p>
        </p:txBody>
      </p:sp>
      <p:sp>
        <p:nvSpPr>
          <p:cNvPr id="24" name="Text 22"/>
          <p:cNvSpPr txBox="1"/>
          <p:nvPr/>
        </p:nvSpPr>
        <p:spPr>
          <a:xfrm>
            <a:off x="822960" y="19202400"/>
            <a:ext cx="13655040" cy="960120"/>
          </a:xfrm>
          <a:prstGeom prst="rect">
            <a:avLst/>
          </a:prstGeom>
          <a:noFill/>
          <a:ln/>
        </p:spPr>
        <p:txBody>
          <a:bodyPr wrap="square" lIns="0" tIns="0" rIns="0" bIns="0" rtlCol="0" anchor="t"/>
          <a:lstStyle/>
          <a:p>
            <a:pPr indent="0" marL="0">
              <a:lnSpc>
                <a:spcPct val="102000"/>
              </a:lnSpc>
              <a:buNone/>
            </a:pPr>
            <a:r>
              <a:rPr lang="en-US" sz="2100" dirty="0">
                <a:solidFill>
                  <a:srgbClr val="22252B"/>
                </a:solidFill>
                <a:latin typeface="Arial" pitchFamily="34" charset="0"/>
                <a:ea typeface="Arial" pitchFamily="34" charset="-122"/>
                <a:cs typeface="Arial" pitchFamily="34" charset="-120"/>
              </a:rPr>
              <a:t>The university’s cluster runs the editor and records every command and every one-second pause in typing.</a:t>
            </a:r>
            <a:endParaRPr lang="en-US" sz="2100" dirty="0"/>
          </a:p>
        </p:txBody>
      </p:sp>
      <p:sp>
        <p:nvSpPr>
          <p:cNvPr id="25" name="Text 23"/>
          <p:cNvSpPr txBox="1"/>
          <p:nvPr/>
        </p:nvSpPr>
        <p:spPr>
          <a:xfrm>
            <a:off x="822960" y="20253960"/>
            <a:ext cx="13655040" cy="868680"/>
          </a:xfrm>
          <a:prstGeom prst="rect">
            <a:avLst/>
          </a:prstGeom>
          <a:noFill/>
          <a:ln/>
        </p:spPr>
        <p:txBody>
          <a:bodyPr wrap="square" lIns="0" tIns="0" rIns="0" bIns="0" rtlCol="0" anchor="b"/>
          <a:lstStyle/>
          <a:p>
            <a:pPr indent="0" marL="0">
              <a:buNone/>
            </a:pPr>
            <a:r>
              <a:rPr lang="en-US" sz="3800" b="1" dirty="0">
                <a:solidFill>
                  <a:srgbClr val="B10202"/>
                </a:solidFill>
                <a:latin typeface="Arial" pitchFamily="34" charset="0"/>
                <a:ea typeface="Arial" pitchFamily="34" charset="-122"/>
                <a:cs typeface="Arial" pitchFamily="34" charset="-120"/>
              </a:rPr>
              <a:t>Problem and research focus</a:t>
            </a:r>
            <a:endParaRPr lang="en-US" sz="3800" dirty="0"/>
          </a:p>
        </p:txBody>
      </p:sp>
      <p:sp>
        <p:nvSpPr>
          <p:cNvPr id="26" name="Text 24"/>
          <p:cNvSpPr txBox="1"/>
          <p:nvPr/>
        </p:nvSpPr>
        <p:spPr>
          <a:xfrm>
            <a:off x="822960" y="21259800"/>
            <a:ext cx="13655040" cy="23317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Before the fellowship I built a fifth option: a container holding each course’s exact tools plus the VS Code editor, running entirely on the student’s own laptop and opened in a browser tab. One download, one command, no server, no account, nothing recorded. It worked on the laptop I built it on. The research question is whether that promise survives contact with the laptops students actually own:</a:t>
            </a:r>
            <a:endParaRPr lang="en-US" sz="2200" dirty="0"/>
          </a:p>
        </p:txBody>
      </p:sp>
      <p:sp>
        <p:nvSpPr>
          <p:cNvPr id="27" name="Text 25"/>
          <p:cNvSpPr txBox="1"/>
          <p:nvPr/>
        </p:nvSpPr>
        <p:spPr>
          <a:xfrm>
            <a:off x="822960" y="23637240"/>
            <a:ext cx="13655040" cy="2468880"/>
          </a:xfrm>
          <a:prstGeom prst="rect">
            <a:avLst/>
          </a:prstGeom>
          <a:noFill/>
          <a:ln/>
        </p:spPr>
        <p:txBody>
          <a:bodyPr wrap="square" lIns="0" tIns="0" rIns="0" bIns="0" rtlCol="0" anchor="t"/>
          <a:lstStyle/>
          <a:p>
            <a:pPr indent="0" marL="0">
              <a:lnSpc>
                <a:spcPct val="103000"/>
              </a:lnSpc>
              <a:spcAft>
                <a:spcPts val="600"/>
              </a:spcAft>
              <a:buNone/>
            </a:pPr>
            <a:r>
              <a:rPr lang="en-US" sz="2200" b="1" dirty="0">
                <a:solidFill>
                  <a:srgbClr val="B10202"/>
                </a:solidFill>
                <a:latin typeface="Arial" pitchFamily="34" charset="0"/>
                <a:ea typeface="Arial" pitchFamily="34" charset="-122"/>
                <a:cs typeface="Arial" pitchFamily="34" charset="-120"/>
              </a:rPr>
              <a:t>Q1  </a:t>
            </a:r>
            <a:pPr indent="0" marL="0">
              <a:lnSpc>
                <a:spcPct val="103000"/>
              </a:lnSpc>
              <a:spcAft>
                <a:spcPts val="600"/>
              </a:spcAft>
              <a:buNone/>
            </a:pPr>
            <a:r>
              <a:rPr lang="en-US" sz="2200" dirty="0">
                <a:solidFill>
                  <a:srgbClr val="22252B"/>
                </a:solidFill>
                <a:latin typeface="Arial" pitchFamily="34" charset="0"/>
                <a:ea typeface="Arial" pitchFamily="34" charset="-122"/>
                <a:cs typeface="Arial" pitchFamily="34" charset="-120"/>
              </a:rPr>
              <a:t>Does the same package behave identically on Windows, macOS, and Linux, on Intel and ARM chips, including real CS 218 assignments?</a:t>
            </a:r>
            <a:endParaRPr lang="en-US" sz="2200" dirty="0"/>
          </a:p>
          <a:p>
            <a:pPr indent="0" marL="0">
              <a:lnSpc>
                <a:spcPct val="103000"/>
              </a:lnSpc>
              <a:spcAft>
                <a:spcPts val="600"/>
              </a:spcAft>
              <a:buNone/>
            </a:pPr>
            <a:r>
              <a:rPr lang="en-US" sz="2200" b="1" dirty="0">
                <a:solidFill>
                  <a:srgbClr val="B10202"/>
                </a:solidFill>
                <a:latin typeface="Arial" pitchFamily="34" charset="0"/>
                <a:ea typeface="Arial" pitchFamily="34" charset="-122"/>
                <a:cs typeface="Arial" pitchFamily="34" charset="-120"/>
              </a:rPr>
              <a:t>Q2  </a:t>
            </a:r>
            <a:pPr indent="0" marL="0">
              <a:lnSpc>
                <a:spcPct val="103000"/>
              </a:lnSpc>
              <a:spcAft>
                <a:spcPts val="600"/>
              </a:spcAft>
              <a:buNone/>
            </a:pPr>
            <a:r>
              <a:rPr lang="en-US" sz="2200" dirty="0">
                <a:solidFill>
                  <a:srgbClr val="22252B"/>
                </a:solidFill>
                <a:latin typeface="Arial" pitchFamily="34" charset="0"/>
                <a:ea typeface="Arial" pitchFamily="34" charset="-122"/>
                <a:cs typeface="Arial" pitchFamily="34" charset="-120"/>
              </a:rPr>
              <a:t>What does it cost the student: download size, start-up time, memory?</a:t>
            </a:r>
            <a:endParaRPr lang="en-US" sz="2200" dirty="0"/>
          </a:p>
          <a:p>
            <a:pPr indent="0" marL="0">
              <a:lnSpc>
                <a:spcPct val="103000"/>
              </a:lnSpc>
              <a:spcAft>
                <a:spcPts val="600"/>
              </a:spcAft>
              <a:buNone/>
            </a:pPr>
            <a:r>
              <a:rPr lang="en-US" sz="2200" b="1" dirty="0">
                <a:solidFill>
                  <a:srgbClr val="B10202"/>
                </a:solidFill>
                <a:latin typeface="Arial" pitchFamily="34" charset="0"/>
                <a:ea typeface="Arial" pitchFamily="34" charset="-122"/>
                <a:cs typeface="Arial" pitchFamily="34" charset="-120"/>
              </a:rPr>
              <a:t>Q3  </a:t>
            </a:r>
            <a:pPr indent="0" marL="0">
              <a:lnSpc>
                <a:spcPct val="103000"/>
              </a:lnSpc>
              <a:spcAft>
                <a:spcPts val="600"/>
              </a:spcAft>
              <a:buNone/>
            </a:pPr>
            <a:r>
              <a:rPr lang="en-US" sz="2200" dirty="0">
                <a:solidFill>
                  <a:srgbClr val="22252B"/>
                </a:solidFill>
                <a:latin typeface="Arial" pitchFamily="34" charset="0"/>
                <a:ea typeface="Arial" pitchFamily="34" charset="-122"/>
                <a:cs typeface="Arial" pitchFamily="34" charset="-120"/>
              </a:rPr>
              <a:t>Where does it break, and can we say exactly why?</a:t>
            </a:r>
            <a:endParaRPr lang="en-US" sz="2200" dirty="0"/>
          </a:p>
        </p:txBody>
      </p:sp>
      <p:sp>
        <p:nvSpPr>
          <p:cNvPr id="28" name="Text 26"/>
          <p:cNvSpPr txBox="1"/>
          <p:nvPr/>
        </p:nvSpPr>
        <p:spPr>
          <a:xfrm>
            <a:off x="15118080" y="7498080"/>
            <a:ext cx="13655040" cy="868680"/>
          </a:xfrm>
          <a:prstGeom prst="rect">
            <a:avLst/>
          </a:prstGeom>
          <a:noFill/>
          <a:ln/>
        </p:spPr>
        <p:txBody>
          <a:bodyPr wrap="square" lIns="0" tIns="0" rIns="0" bIns="0" rtlCol="0" anchor="b"/>
          <a:lstStyle/>
          <a:p>
            <a:pPr indent="0" marL="0">
              <a:buNone/>
            </a:pPr>
            <a:r>
              <a:rPr lang="en-US" sz="3800" b="1" dirty="0">
                <a:solidFill>
                  <a:srgbClr val="B10202"/>
                </a:solidFill>
                <a:latin typeface="Arial" pitchFamily="34" charset="0"/>
                <a:ea typeface="Arial" pitchFamily="34" charset="-122"/>
                <a:cs typeface="Arial" pitchFamily="34" charset="-120"/>
              </a:rPr>
              <a:t>Methodology</a:t>
            </a:r>
            <a:endParaRPr lang="en-US" sz="3800" dirty="0"/>
          </a:p>
        </p:txBody>
      </p:sp>
      <p:sp>
        <p:nvSpPr>
          <p:cNvPr id="29" name="Text 27"/>
          <p:cNvSpPr txBox="1"/>
          <p:nvPr/>
        </p:nvSpPr>
        <p:spPr>
          <a:xfrm>
            <a:off x="15118080" y="8503920"/>
            <a:ext cx="13655040" cy="548640"/>
          </a:xfrm>
          <a:prstGeom prst="rect">
            <a:avLst/>
          </a:prstGeom>
          <a:noFill/>
          <a:ln/>
        </p:spPr>
        <p:txBody>
          <a:bodyPr wrap="square" lIns="0" tIns="0" rIns="0" bIns="0" rtlCol="0" anchor="b"/>
          <a:lstStyle/>
          <a:p>
            <a:pPr indent="0" marL="0">
              <a:buNone/>
            </a:pPr>
            <a:r>
              <a:rPr lang="en-US" sz="2700" b="1" dirty="0">
                <a:solidFill>
                  <a:srgbClr val="22252B"/>
                </a:solidFill>
                <a:latin typeface="Arial" pitchFamily="34" charset="0"/>
                <a:ea typeface="Arial" pitchFamily="34" charset="-122"/>
                <a:cs typeface="Arial" pitchFamily="34" charset="-120"/>
              </a:rPr>
              <a:t>What we built</a:t>
            </a:r>
            <a:endParaRPr lang="en-US" sz="2700" dirty="0"/>
          </a:p>
        </p:txBody>
      </p:sp>
      <p:sp>
        <p:nvSpPr>
          <p:cNvPr id="30" name="Text 28"/>
          <p:cNvSpPr txBox="1"/>
          <p:nvPr/>
        </p:nvSpPr>
        <p:spPr>
          <a:xfrm>
            <a:off x="15118080" y="9144000"/>
            <a:ext cx="13655040" cy="18745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Two containers, one per course, each holding the editor and the exact tool versions the instructor chose: the C++ compiler for CS 135; the assembler, linker, and debugger for CS 218. A student installs Docker once, runs the one command below, and opens a browser tab. Coursework stays in a normal folder on the laptop (Figure 1).</a:t>
            </a:r>
            <a:endParaRPr lang="en-US" sz="2200" dirty="0"/>
          </a:p>
        </p:txBody>
      </p:sp>
      <p:sp>
        <p:nvSpPr>
          <p:cNvPr id="31" name="Shape 29"/>
          <p:cNvSpPr/>
          <p:nvPr/>
        </p:nvSpPr>
        <p:spPr>
          <a:xfrm>
            <a:off x="15118080" y="11018520"/>
            <a:ext cx="13655040" cy="914400"/>
          </a:xfrm>
          <a:prstGeom prst="rect">
            <a:avLst/>
          </a:prstGeom>
          <a:solidFill>
            <a:srgbClr val="22252B"/>
          </a:solidFill>
          <a:ln w="12700">
            <a:solidFill>
              <a:srgbClr val="22252B"/>
            </a:solidFill>
            <a:prstDash val="solid"/>
          </a:ln>
        </p:spPr>
      </p:sp>
      <p:sp>
        <p:nvSpPr>
          <p:cNvPr id="32" name="Text 30"/>
          <p:cNvSpPr txBox="1"/>
          <p:nvPr/>
        </p:nvSpPr>
        <p:spPr>
          <a:xfrm>
            <a:off x="15438120" y="11018520"/>
            <a:ext cx="13014960" cy="914400"/>
          </a:xfrm>
          <a:prstGeom prst="rect">
            <a:avLst/>
          </a:prstGeom>
          <a:noFill/>
          <a:ln/>
        </p:spPr>
        <p:txBody>
          <a:bodyPr wrap="square" lIns="0" tIns="0" rIns="0" bIns="0" rtlCol="0" anchor="ctr"/>
          <a:lstStyle/>
          <a:p>
            <a:pPr indent="0" marL="0">
              <a:buNone/>
            </a:pPr>
            <a:r>
              <a:rPr lang="en-US" sz="1800" dirty="0">
                <a:solidFill>
                  <a:srgbClr val="FFFFFF"/>
                </a:solidFill>
                <a:latin typeface="Courier New" pitchFamily="34" charset="0"/>
                <a:ea typeface="Courier New" pitchFamily="34" charset="-122"/>
                <a:cs typeface="Courier New" pitchFamily="34" charset="-120"/>
              </a:rPr>
              <a:t>docker run -p 127.0.0.1:8218:8080 -v ~/UNLV/x86-workspace:/home/coder/workspace seancnc/unlv-x86-ide</a:t>
            </a:r>
            <a:endParaRPr lang="en-US" sz="1800" dirty="0"/>
          </a:p>
        </p:txBody>
      </p:sp>
      <p:pic>
        <p:nvPicPr>
          <p:cNvPr id="33" name="Image 0" descr="/private/tmp/claude-501/-Users-seancuenco-Documents-UNLVDockerIDEs/cb525298-55fd-43a6-807a-d35debab5bc5/scratchpad/fig1-architecture.png">    </p:cNvPr>
          <p:cNvPicPr>
            <a:picLocks noChangeAspect="1"/>
          </p:cNvPicPr>
          <p:nvPr/>
        </p:nvPicPr>
        <p:blipFill>
          <a:blip r:embed="rId1"/>
          <a:stretch>
            <a:fillRect/>
          </a:stretch>
        </p:blipFill>
        <p:spPr>
          <a:xfrm>
            <a:off x="18928080" y="12161520"/>
            <a:ext cx="6035040" cy="5740648"/>
          </a:xfrm>
          <a:prstGeom prst="rect">
            <a:avLst/>
          </a:prstGeom>
        </p:spPr>
      </p:pic>
      <p:sp>
        <p:nvSpPr>
          <p:cNvPr id="34" name="Text 31"/>
          <p:cNvSpPr txBox="1"/>
          <p:nvPr/>
        </p:nvSpPr>
        <p:spPr>
          <a:xfrm>
            <a:off x="15118080" y="17947888"/>
            <a:ext cx="13655040" cy="548640"/>
          </a:xfrm>
          <a:prstGeom prst="rect">
            <a:avLst/>
          </a:prstGeom>
          <a:noFill/>
          <a:ln/>
        </p:spPr>
        <p:txBody>
          <a:bodyPr wrap="square" lIns="0" tIns="0" rIns="0" bIns="0" rtlCol="0" anchor="t"/>
          <a:lstStyle/>
          <a:p>
            <a:pPr indent="0" marL="0">
              <a:lnSpc>
                <a:spcPct val="102000"/>
              </a:lnSpc>
              <a:buNone/>
            </a:pPr>
            <a:r>
              <a:rPr lang="en-US" sz="1900" b="1" dirty="0">
                <a:solidFill>
                  <a:srgbClr val="5E5B55"/>
                </a:solidFill>
                <a:latin typeface="Arial" pitchFamily="34" charset="0"/>
                <a:ea typeface="Arial" pitchFamily="34" charset="-122"/>
                <a:cs typeface="Arial" pitchFamily="34" charset="-120"/>
              </a:rPr>
              <a:t>Figure 1. </a:t>
            </a:r>
            <a:pPr indent="0" marL="0">
              <a:lnSpc>
                <a:spcPct val="102000"/>
              </a:lnSpc>
              <a:buNone/>
            </a:pPr>
            <a:r>
              <a:rPr lang="en-US" sz="1900" dirty="0">
                <a:solidFill>
                  <a:srgbClr val="5E5B55"/>
                </a:solidFill>
                <a:latin typeface="Arial" pitchFamily="34" charset="0"/>
                <a:ea typeface="Arial" pitchFamily="34" charset="-122"/>
                <a:cs typeface="Arial" pitchFamily="34" charset="-120"/>
              </a:rPr>
              <a:t>Everything runs on the student’s machine. The only time the internet is needed is the first download.</a:t>
            </a:r>
            <a:endParaRPr lang="en-US" sz="1900" dirty="0"/>
          </a:p>
        </p:txBody>
      </p:sp>
      <p:sp>
        <p:nvSpPr>
          <p:cNvPr id="35" name="Text 32"/>
          <p:cNvSpPr txBox="1"/>
          <p:nvPr/>
        </p:nvSpPr>
        <p:spPr>
          <a:xfrm>
            <a:off x="15118080" y="18587968"/>
            <a:ext cx="13655040" cy="548640"/>
          </a:xfrm>
          <a:prstGeom prst="rect">
            <a:avLst/>
          </a:prstGeom>
          <a:noFill/>
          <a:ln/>
        </p:spPr>
        <p:txBody>
          <a:bodyPr wrap="square" lIns="0" tIns="0" rIns="0" bIns="0" rtlCol="0" anchor="b"/>
          <a:lstStyle/>
          <a:p>
            <a:pPr indent="0" marL="0">
              <a:buNone/>
            </a:pPr>
            <a:r>
              <a:rPr lang="en-US" sz="2700" b="1" dirty="0">
                <a:solidFill>
                  <a:srgbClr val="22252B"/>
                </a:solidFill>
                <a:latin typeface="Arial" pitchFamily="34" charset="0"/>
                <a:ea typeface="Arial" pitchFamily="34" charset="-122"/>
                <a:cs typeface="Arial" pitchFamily="34" charset="-120"/>
              </a:rPr>
              <a:t>How we tested it: same exam, four kinds of computer</a:t>
            </a:r>
            <a:endParaRPr lang="en-US" sz="2700" dirty="0"/>
          </a:p>
        </p:txBody>
      </p:sp>
      <p:sp>
        <p:nvSpPr>
          <p:cNvPr id="36" name="Text 33"/>
          <p:cNvSpPr txBox="1"/>
          <p:nvPr/>
        </p:nvSpPr>
        <p:spPr>
          <a:xfrm>
            <a:off x="15118080" y="19228048"/>
            <a:ext cx="13655040" cy="1463040"/>
          </a:xfrm>
          <a:prstGeom prst="rect">
            <a:avLst/>
          </a:prstGeom>
          <a:noFill/>
          <a:ln/>
        </p:spPr>
        <p:txBody>
          <a:bodyPr wrap="square" lIns="0" tIns="0" rIns="0" bIns="0" rtlCol="0" anchor="t"/>
          <a:lstStyle/>
          <a:p>
            <a:pPr indent="0" marL="0">
              <a:lnSpc>
                <a:spcPct val="104000"/>
              </a:lnSpc>
              <a:buNone/>
            </a:pPr>
            <a:r>
              <a:rPr lang="en-US" sz="2100" dirty="0">
                <a:solidFill>
                  <a:srgbClr val="22252B"/>
                </a:solidFill>
                <a:latin typeface="Arial" pitchFamily="34" charset="0"/>
                <a:ea typeface="Arial" pitchFamily="34" charset="-122"/>
                <a:cs typeface="Arial" pitchFamily="34" charset="-120"/>
              </a:rPr>
              <a:t>We cannot borrow one of every laptop students own, so we rented them. Three blank machines came from Amazon’s and Microsoft’s clouds for under $10 in total; the fourth was a base-model MacBook Pro, the Mac a budget-conscious student buys.</a:t>
            </a:r>
            <a:endParaRPr lang="en-US" sz="2100" dirty="0"/>
          </a:p>
        </p:txBody>
      </p:sp>
      <p:sp>
        <p:nvSpPr>
          <p:cNvPr id="37" name="Shape 34"/>
          <p:cNvSpPr/>
          <p:nvPr/>
        </p:nvSpPr>
        <p:spPr>
          <a:xfrm>
            <a:off x="15118080" y="20691088"/>
            <a:ext cx="3208020" cy="1737360"/>
          </a:xfrm>
          <a:prstGeom prst="rect">
            <a:avLst/>
          </a:prstGeom>
          <a:solidFill>
            <a:srgbClr val="F5F4F0"/>
          </a:solidFill>
          <a:ln w="12700">
            <a:solidFill>
              <a:srgbClr val="F5F4F0"/>
            </a:solidFill>
            <a:prstDash val="solid"/>
          </a:ln>
        </p:spPr>
      </p:sp>
      <p:sp>
        <p:nvSpPr>
          <p:cNvPr id="38" name="Text 35"/>
          <p:cNvSpPr txBox="1"/>
          <p:nvPr/>
        </p:nvSpPr>
        <p:spPr>
          <a:xfrm>
            <a:off x="15255240" y="20800816"/>
            <a:ext cx="2933700" cy="640080"/>
          </a:xfrm>
          <a:prstGeom prst="rect">
            <a:avLst/>
          </a:prstGeom>
          <a:noFill/>
          <a:ln/>
        </p:spPr>
        <p:txBody>
          <a:bodyPr wrap="square" lIns="0" tIns="0" rIns="0" bIns="0" rtlCol="0" anchor="ctr"/>
          <a:lstStyle/>
          <a:p>
            <a:pPr indent="0" marL="0">
              <a:buNone/>
            </a:pPr>
            <a:r>
              <a:rPr lang="en-US" sz="2000" b="1" dirty="0">
                <a:solidFill>
                  <a:srgbClr val="22252B"/>
                </a:solidFill>
                <a:latin typeface="Arial" pitchFamily="34" charset="0"/>
                <a:ea typeface="Arial" pitchFamily="34" charset="-122"/>
                <a:cs typeface="Arial" pitchFamily="34" charset="-120"/>
              </a:rPr>
              <a:t>Windows 11 PC</a:t>
            </a:r>
            <a:endParaRPr lang="en-US" sz="2000" dirty="0"/>
          </a:p>
        </p:txBody>
      </p:sp>
      <p:sp>
        <p:nvSpPr>
          <p:cNvPr id="39" name="Text 36"/>
          <p:cNvSpPr txBox="1"/>
          <p:nvPr/>
        </p:nvSpPr>
        <p:spPr>
          <a:xfrm>
            <a:off x="15255240" y="21468328"/>
            <a:ext cx="2933700" cy="868680"/>
          </a:xfrm>
          <a:prstGeom prst="rect">
            <a:avLst/>
          </a:prstGeom>
          <a:noFill/>
          <a:ln/>
        </p:spPr>
        <p:txBody>
          <a:bodyPr wrap="square" lIns="0" tIns="0" rIns="0" bIns="0" rtlCol="0" anchor="t"/>
          <a:lstStyle/>
          <a:p>
            <a:pPr indent="0" marL="0">
              <a:lnSpc>
                <a:spcPct val="105000"/>
              </a:lnSpc>
              <a:buNone/>
            </a:pPr>
            <a:r>
              <a:rPr lang="en-US" sz="1700" dirty="0">
                <a:solidFill>
                  <a:srgbClr val="5E5B55"/>
                </a:solidFill>
                <a:latin typeface="Arial" pitchFamily="34" charset="0"/>
                <a:ea typeface="Arial" pitchFamily="34" charset="-122"/>
                <a:cs typeface="Arial" pitchFamily="34" charset="-120"/>
              </a:rPr>
              <a:t>Intel chip</a:t>
            </a:r>
            <a:endParaRPr lang="en-US" sz="1700" dirty="0"/>
          </a:p>
          <a:p>
            <a:pPr indent="0" marL="0">
              <a:lnSpc>
                <a:spcPct val="105000"/>
              </a:lnSpc>
              <a:buNone/>
            </a:pPr>
            <a:r>
              <a:rPr lang="en-US" sz="1700" dirty="0">
                <a:solidFill>
                  <a:srgbClr val="5E5B55"/>
                </a:solidFill>
                <a:latin typeface="Arial" pitchFamily="34" charset="0"/>
                <a:ea typeface="Arial" pitchFamily="34" charset="-122"/>
                <a:cs typeface="Arial" pitchFamily="34" charset="-120"/>
              </a:rPr>
              <a:t>rented (Azure)</a:t>
            </a:r>
            <a:endParaRPr lang="en-US" sz="1700" dirty="0"/>
          </a:p>
        </p:txBody>
      </p:sp>
      <p:sp>
        <p:nvSpPr>
          <p:cNvPr id="40" name="Shape 37"/>
          <p:cNvSpPr/>
          <p:nvPr/>
        </p:nvSpPr>
        <p:spPr>
          <a:xfrm>
            <a:off x="18600420" y="20691088"/>
            <a:ext cx="3208020" cy="1737360"/>
          </a:xfrm>
          <a:prstGeom prst="rect">
            <a:avLst/>
          </a:prstGeom>
          <a:solidFill>
            <a:srgbClr val="F5F4F0"/>
          </a:solidFill>
          <a:ln w="12700">
            <a:solidFill>
              <a:srgbClr val="F5F4F0"/>
            </a:solidFill>
            <a:prstDash val="solid"/>
          </a:ln>
        </p:spPr>
      </p:sp>
      <p:sp>
        <p:nvSpPr>
          <p:cNvPr id="41" name="Text 38"/>
          <p:cNvSpPr txBox="1"/>
          <p:nvPr/>
        </p:nvSpPr>
        <p:spPr>
          <a:xfrm>
            <a:off x="18737580" y="20800816"/>
            <a:ext cx="2933700" cy="640080"/>
          </a:xfrm>
          <a:prstGeom prst="rect">
            <a:avLst/>
          </a:prstGeom>
          <a:noFill/>
          <a:ln/>
        </p:spPr>
        <p:txBody>
          <a:bodyPr wrap="square" lIns="0" tIns="0" rIns="0" bIns="0" rtlCol="0" anchor="ctr"/>
          <a:lstStyle/>
          <a:p>
            <a:pPr indent="0" marL="0">
              <a:buNone/>
            </a:pPr>
            <a:r>
              <a:rPr lang="en-US" sz="2000" b="1" dirty="0">
                <a:solidFill>
                  <a:srgbClr val="22252B"/>
                </a:solidFill>
                <a:latin typeface="Arial" pitchFamily="34" charset="0"/>
                <a:ea typeface="Arial" pitchFamily="34" charset="-122"/>
                <a:cs typeface="Arial" pitchFamily="34" charset="-120"/>
              </a:rPr>
              <a:t>Linux PC</a:t>
            </a:r>
            <a:endParaRPr lang="en-US" sz="2000" dirty="0"/>
          </a:p>
        </p:txBody>
      </p:sp>
      <p:sp>
        <p:nvSpPr>
          <p:cNvPr id="42" name="Text 39"/>
          <p:cNvSpPr txBox="1"/>
          <p:nvPr/>
        </p:nvSpPr>
        <p:spPr>
          <a:xfrm>
            <a:off x="18737580" y="21468328"/>
            <a:ext cx="2933700" cy="868680"/>
          </a:xfrm>
          <a:prstGeom prst="rect">
            <a:avLst/>
          </a:prstGeom>
          <a:noFill/>
          <a:ln/>
        </p:spPr>
        <p:txBody>
          <a:bodyPr wrap="square" lIns="0" tIns="0" rIns="0" bIns="0" rtlCol="0" anchor="t"/>
          <a:lstStyle/>
          <a:p>
            <a:pPr indent="0" marL="0">
              <a:lnSpc>
                <a:spcPct val="105000"/>
              </a:lnSpc>
              <a:buNone/>
            </a:pPr>
            <a:r>
              <a:rPr lang="en-US" sz="1700" dirty="0">
                <a:solidFill>
                  <a:srgbClr val="5E5B55"/>
                </a:solidFill>
                <a:latin typeface="Arial" pitchFamily="34" charset="0"/>
                <a:ea typeface="Arial" pitchFamily="34" charset="-122"/>
                <a:cs typeface="Arial" pitchFamily="34" charset="-120"/>
              </a:rPr>
              <a:t>Intel chip</a:t>
            </a:r>
            <a:endParaRPr lang="en-US" sz="1700" dirty="0"/>
          </a:p>
          <a:p>
            <a:pPr indent="0" marL="0">
              <a:lnSpc>
                <a:spcPct val="105000"/>
              </a:lnSpc>
              <a:buNone/>
            </a:pPr>
            <a:r>
              <a:rPr lang="en-US" sz="1700" dirty="0">
                <a:solidFill>
                  <a:srgbClr val="5E5B55"/>
                </a:solidFill>
                <a:latin typeface="Arial" pitchFamily="34" charset="0"/>
                <a:ea typeface="Arial" pitchFamily="34" charset="-122"/>
                <a:cs typeface="Arial" pitchFamily="34" charset="-120"/>
              </a:rPr>
              <a:t>rented (AWS)</a:t>
            </a:r>
            <a:endParaRPr lang="en-US" sz="1700" dirty="0"/>
          </a:p>
        </p:txBody>
      </p:sp>
      <p:sp>
        <p:nvSpPr>
          <p:cNvPr id="43" name="Shape 40"/>
          <p:cNvSpPr/>
          <p:nvPr/>
        </p:nvSpPr>
        <p:spPr>
          <a:xfrm>
            <a:off x="22082760" y="20691088"/>
            <a:ext cx="3208020" cy="1737360"/>
          </a:xfrm>
          <a:prstGeom prst="rect">
            <a:avLst/>
          </a:prstGeom>
          <a:solidFill>
            <a:srgbClr val="F5F4F0"/>
          </a:solidFill>
          <a:ln w="12700">
            <a:solidFill>
              <a:srgbClr val="F5F4F0"/>
            </a:solidFill>
            <a:prstDash val="solid"/>
          </a:ln>
        </p:spPr>
      </p:sp>
      <p:sp>
        <p:nvSpPr>
          <p:cNvPr id="44" name="Text 41"/>
          <p:cNvSpPr txBox="1"/>
          <p:nvPr/>
        </p:nvSpPr>
        <p:spPr>
          <a:xfrm>
            <a:off x="22219920" y="20800816"/>
            <a:ext cx="2933700" cy="640080"/>
          </a:xfrm>
          <a:prstGeom prst="rect">
            <a:avLst/>
          </a:prstGeom>
          <a:noFill/>
          <a:ln/>
        </p:spPr>
        <p:txBody>
          <a:bodyPr wrap="square" lIns="0" tIns="0" rIns="0" bIns="0" rtlCol="0" anchor="ctr"/>
          <a:lstStyle/>
          <a:p>
            <a:pPr indent="0" marL="0">
              <a:buNone/>
            </a:pPr>
            <a:r>
              <a:rPr lang="en-US" sz="2000" b="1" dirty="0">
                <a:solidFill>
                  <a:srgbClr val="22252B"/>
                </a:solidFill>
                <a:latin typeface="Arial" pitchFamily="34" charset="0"/>
                <a:ea typeface="Arial" pitchFamily="34" charset="-122"/>
                <a:cs typeface="Arial" pitchFamily="34" charset="-120"/>
              </a:rPr>
              <a:t>Apple Silicon Mac</a:t>
            </a:r>
            <a:endParaRPr lang="en-US" sz="2000" dirty="0"/>
          </a:p>
        </p:txBody>
      </p:sp>
      <p:sp>
        <p:nvSpPr>
          <p:cNvPr id="45" name="Text 42"/>
          <p:cNvSpPr txBox="1"/>
          <p:nvPr/>
        </p:nvSpPr>
        <p:spPr>
          <a:xfrm>
            <a:off x="22219920" y="21468328"/>
            <a:ext cx="2933700" cy="868680"/>
          </a:xfrm>
          <a:prstGeom prst="rect">
            <a:avLst/>
          </a:prstGeom>
          <a:noFill/>
          <a:ln/>
        </p:spPr>
        <p:txBody>
          <a:bodyPr wrap="square" lIns="0" tIns="0" rIns="0" bIns="0" rtlCol="0" anchor="t"/>
          <a:lstStyle/>
          <a:p>
            <a:pPr indent="0" marL="0">
              <a:lnSpc>
                <a:spcPct val="105000"/>
              </a:lnSpc>
              <a:buNone/>
            </a:pPr>
            <a:r>
              <a:rPr lang="en-US" sz="1700" dirty="0">
                <a:solidFill>
                  <a:srgbClr val="5E5B55"/>
                </a:solidFill>
                <a:latin typeface="Arial" pitchFamily="34" charset="0"/>
                <a:ea typeface="Arial" pitchFamily="34" charset="-122"/>
                <a:cs typeface="Arial" pitchFamily="34" charset="-120"/>
              </a:rPr>
              <a:t>M1 Pro, 16 GB</a:t>
            </a:r>
            <a:endParaRPr lang="en-US" sz="1700" dirty="0"/>
          </a:p>
          <a:p>
            <a:pPr indent="0" marL="0">
              <a:lnSpc>
                <a:spcPct val="105000"/>
              </a:lnSpc>
              <a:buNone/>
            </a:pPr>
            <a:r>
              <a:rPr lang="en-US" sz="1700" dirty="0">
                <a:solidFill>
                  <a:srgbClr val="5E5B55"/>
                </a:solidFill>
                <a:latin typeface="Arial" pitchFamily="34" charset="0"/>
                <a:ea typeface="Arial" pitchFamily="34" charset="-122"/>
                <a:cs typeface="Arial" pitchFamily="34" charset="-120"/>
              </a:rPr>
              <a:t>owned</a:t>
            </a:r>
            <a:endParaRPr lang="en-US" sz="1700" dirty="0"/>
          </a:p>
        </p:txBody>
      </p:sp>
      <p:sp>
        <p:nvSpPr>
          <p:cNvPr id="46" name="Shape 43"/>
          <p:cNvSpPr/>
          <p:nvPr/>
        </p:nvSpPr>
        <p:spPr>
          <a:xfrm>
            <a:off x="25565100" y="20691088"/>
            <a:ext cx="3208020" cy="1737360"/>
          </a:xfrm>
          <a:prstGeom prst="rect">
            <a:avLst/>
          </a:prstGeom>
          <a:solidFill>
            <a:srgbClr val="F5F4F0"/>
          </a:solidFill>
          <a:ln w="12700">
            <a:solidFill>
              <a:srgbClr val="F5F4F0"/>
            </a:solidFill>
            <a:prstDash val="solid"/>
          </a:ln>
        </p:spPr>
      </p:sp>
      <p:sp>
        <p:nvSpPr>
          <p:cNvPr id="47" name="Text 44"/>
          <p:cNvSpPr txBox="1"/>
          <p:nvPr/>
        </p:nvSpPr>
        <p:spPr>
          <a:xfrm>
            <a:off x="25702260" y="20800816"/>
            <a:ext cx="2933700" cy="640080"/>
          </a:xfrm>
          <a:prstGeom prst="rect">
            <a:avLst/>
          </a:prstGeom>
          <a:noFill/>
          <a:ln/>
        </p:spPr>
        <p:txBody>
          <a:bodyPr wrap="square" lIns="0" tIns="0" rIns="0" bIns="0" rtlCol="0" anchor="ctr"/>
          <a:lstStyle/>
          <a:p>
            <a:pPr indent="0" marL="0">
              <a:buNone/>
            </a:pPr>
            <a:r>
              <a:rPr lang="en-US" sz="2000" b="1" dirty="0">
                <a:solidFill>
                  <a:srgbClr val="22252B"/>
                </a:solidFill>
                <a:latin typeface="Arial" pitchFamily="34" charset="0"/>
                <a:ea typeface="Arial" pitchFamily="34" charset="-122"/>
                <a:cs typeface="Arial" pitchFamily="34" charset="-120"/>
              </a:rPr>
              <a:t>Linux on ARM</a:t>
            </a:r>
            <a:endParaRPr lang="en-US" sz="2000" dirty="0"/>
          </a:p>
        </p:txBody>
      </p:sp>
      <p:sp>
        <p:nvSpPr>
          <p:cNvPr id="48" name="Text 45"/>
          <p:cNvSpPr txBox="1"/>
          <p:nvPr/>
        </p:nvSpPr>
        <p:spPr>
          <a:xfrm>
            <a:off x="25702260" y="21468328"/>
            <a:ext cx="2933700" cy="868680"/>
          </a:xfrm>
          <a:prstGeom prst="rect">
            <a:avLst/>
          </a:prstGeom>
          <a:noFill/>
          <a:ln/>
        </p:spPr>
        <p:txBody>
          <a:bodyPr wrap="square" lIns="0" tIns="0" rIns="0" bIns="0" rtlCol="0" anchor="t"/>
          <a:lstStyle/>
          <a:p>
            <a:pPr indent="0" marL="0">
              <a:lnSpc>
                <a:spcPct val="105000"/>
              </a:lnSpc>
              <a:buNone/>
            </a:pPr>
            <a:r>
              <a:rPr lang="en-US" sz="1700" dirty="0">
                <a:solidFill>
                  <a:srgbClr val="5E5B55"/>
                </a:solidFill>
                <a:latin typeface="Arial" pitchFamily="34" charset="0"/>
                <a:ea typeface="Arial" pitchFamily="34" charset="-122"/>
                <a:cs typeface="Arial" pitchFamily="34" charset="-120"/>
              </a:rPr>
              <a:t>ARM chip</a:t>
            </a:r>
            <a:endParaRPr lang="en-US" sz="1700" dirty="0"/>
          </a:p>
          <a:p>
            <a:pPr indent="0" marL="0">
              <a:lnSpc>
                <a:spcPct val="105000"/>
              </a:lnSpc>
              <a:buNone/>
            </a:pPr>
            <a:r>
              <a:rPr lang="en-US" sz="1700" dirty="0">
                <a:solidFill>
                  <a:srgbClr val="5E5B55"/>
                </a:solidFill>
                <a:latin typeface="Arial" pitchFamily="34" charset="0"/>
                <a:ea typeface="Arial" pitchFamily="34" charset="-122"/>
                <a:cs typeface="Arial" pitchFamily="34" charset="-120"/>
              </a:rPr>
              <a:t>rented (AWS)</a:t>
            </a:r>
            <a:endParaRPr lang="en-US" sz="1700" dirty="0"/>
          </a:p>
        </p:txBody>
      </p:sp>
      <p:sp>
        <p:nvSpPr>
          <p:cNvPr id="49" name="Text 46"/>
          <p:cNvSpPr txBox="1"/>
          <p:nvPr/>
        </p:nvSpPr>
        <p:spPr>
          <a:xfrm>
            <a:off x="15118080" y="22702768"/>
            <a:ext cx="13655040" cy="548640"/>
          </a:xfrm>
          <a:prstGeom prst="rect">
            <a:avLst/>
          </a:prstGeom>
          <a:noFill/>
          <a:ln/>
        </p:spPr>
        <p:txBody>
          <a:bodyPr wrap="square" lIns="0" tIns="0" rIns="0" bIns="0" rtlCol="0" anchor="b"/>
          <a:lstStyle/>
          <a:p>
            <a:pPr indent="0" marL="0">
              <a:buNone/>
            </a:pPr>
            <a:r>
              <a:rPr lang="en-US" sz="2700" b="1" dirty="0">
                <a:solidFill>
                  <a:srgbClr val="22252B"/>
                </a:solidFill>
                <a:latin typeface="Arial" pitchFamily="34" charset="0"/>
                <a:ea typeface="Arial" pitchFamily="34" charset="-122"/>
                <a:cs typeface="Arial" pitchFamily="34" charset="-120"/>
              </a:rPr>
              <a:t>One script, run unchanged on all four</a:t>
            </a:r>
            <a:endParaRPr lang="en-US" sz="2700" dirty="0"/>
          </a:p>
        </p:txBody>
      </p:sp>
      <p:sp>
        <p:nvSpPr>
          <p:cNvPr id="50" name="Text 47"/>
          <p:cNvSpPr txBox="1"/>
          <p:nvPr/>
        </p:nvSpPr>
        <p:spPr>
          <a:xfrm>
            <a:off x="15118080" y="23342848"/>
            <a:ext cx="13655040" cy="2808992"/>
          </a:xfrm>
          <a:prstGeom prst="rect">
            <a:avLst/>
          </a:prstGeom>
          <a:noFill/>
          <a:ln/>
        </p:spPr>
        <p:txBody>
          <a:bodyPr wrap="square" lIns="0" tIns="0" rIns="0" bIns="0" rtlCol="0" anchor="t"/>
          <a:lstStyle/>
          <a:p>
            <a:pPr indent="0" marL="0">
              <a:lnSpc>
                <a:spcPct val="103000"/>
              </a:lnSpc>
              <a:spcAft>
                <a:spcPts val="500"/>
              </a:spcAft>
              <a:buNone/>
            </a:pPr>
            <a:r>
              <a:rPr lang="en-US" sz="2000" dirty="0">
                <a:solidFill>
                  <a:srgbClr val="22252B"/>
                </a:solidFill>
                <a:latin typeface="Arial" pitchFamily="34" charset="0"/>
                <a:ea typeface="Arial" pitchFamily="34" charset="-122"/>
                <a:cs typeface="Arial" pitchFamily="34" charset="-120"/>
              </a:rPr>
              <a:t>1  Download the package and confirm it is the identical file on every machine.</a:t>
            </a:r>
            <a:endParaRPr lang="en-US" sz="2000" dirty="0"/>
          </a:p>
          <a:p>
            <a:pPr indent="0" marL="0">
              <a:lnSpc>
                <a:spcPct val="103000"/>
              </a:lnSpc>
              <a:spcAft>
                <a:spcPts val="500"/>
              </a:spcAft>
              <a:buNone/>
            </a:pPr>
            <a:r>
              <a:rPr lang="en-US" sz="2000" dirty="0">
                <a:solidFill>
                  <a:srgbClr val="22252B"/>
                </a:solidFill>
                <a:latin typeface="Arial" pitchFamily="34" charset="0"/>
                <a:ea typeface="Arial" pitchFamily="34" charset="-122"/>
                <a:cs typeface="Arial" pitchFamily="34" charset="-120"/>
              </a:rPr>
              <a:t>2  Start it and time how long until the editor appears.</a:t>
            </a:r>
            <a:endParaRPr lang="en-US" sz="2000" dirty="0"/>
          </a:p>
          <a:p>
            <a:pPr indent="0" marL="0">
              <a:lnSpc>
                <a:spcPct val="103000"/>
              </a:lnSpc>
              <a:spcAft>
                <a:spcPts val="500"/>
              </a:spcAft>
              <a:buNone/>
            </a:pPr>
            <a:r>
              <a:rPr lang="en-US" sz="2000" dirty="0">
                <a:solidFill>
                  <a:srgbClr val="22252B"/>
                </a:solidFill>
                <a:latin typeface="Arial" pitchFamily="34" charset="0"/>
                <a:ea typeface="Arial" pitchFamily="34" charset="-122"/>
                <a:cs typeface="Arial" pitchFamily="34" charset="-120"/>
              </a:rPr>
              <a:t>3  Write, assemble, and run a program three times; try the debugger.</a:t>
            </a:r>
            <a:endParaRPr lang="en-US" sz="2000" dirty="0"/>
          </a:p>
          <a:p>
            <a:pPr indent="0" marL="0">
              <a:lnSpc>
                <a:spcPct val="103000"/>
              </a:lnSpc>
              <a:spcAft>
                <a:spcPts val="500"/>
              </a:spcAft>
              <a:buNone/>
            </a:pPr>
            <a:r>
              <a:rPr lang="en-US" sz="2000" dirty="0">
                <a:solidFill>
                  <a:srgbClr val="22252B"/>
                </a:solidFill>
                <a:latin typeface="Arial" pitchFamily="34" charset="0"/>
                <a:ea typeface="Arial" pitchFamily="34" charset="-122"/>
                <a:cs typeface="Arial" pitchFamily="34" charset="-120"/>
              </a:rPr>
              <a:t>4  Build and run four real CS 218 assignments, including a multithreaded one, and measure memory.</a:t>
            </a:r>
            <a:endParaRPr lang="en-US" sz="2000" dirty="0"/>
          </a:p>
          <a:p>
            <a:pPr indent="0" marL="0">
              <a:lnSpc>
                <a:spcPct val="103000"/>
              </a:lnSpc>
              <a:spcAft>
                <a:spcPts val="500"/>
              </a:spcAft>
              <a:buNone/>
            </a:pPr>
            <a:r>
              <a:rPr lang="en-US" sz="2000" dirty="0">
                <a:solidFill>
                  <a:srgbClr val="22252B"/>
                </a:solidFill>
                <a:latin typeface="Arial" pitchFamily="34" charset="0"/>
                <a:ea typeface="Arial" pitchFamily="34" charset="-122"/>
                <a:cs typeface="Arial" pitchFamily="34" charset="-120"/>
              </a:rPr>
              <a:t>5  Delete the container and check that the student’s files survive.</a:t>
            </a:r>
            <a:endParaRPr lang="en-US" sz="2000" dirty="0"/>
          </a:p>
          <a:p>
            <a:pPr indent="0" marL="0">
              <a:lnSpc>
                <a:spcPct val="103000"/>
              </a:lnSpc>
              <a:spcAft>
                <a:spcPts val="500"/>
              </a:spcAft>
              <a:buNone/>
            </a:pPr>
            <a:r>
              <a:rPr lang="en-US" sz="2000" i="1" dirty="0">
                <a:solidFill>
                  <a:srgbClr val="5E5B55"/>
                </a:solidFill>
                <a:latin typeface="Arial" pitchFamily="34" charset="0"/>
                <a:ea typeface="Arial" pitchFamily="34" charset="-122"/>
                <a:cs typeface="Arial" pitchFamily="34" charset="-120"/>
              </a:rPr>
              <a:t>The script writes every number to a file. Nothing on this poster was typed by hand.</a:t>
            </a:r>
            <a:endParaRPr lang="en-US" sz="2000" dirty="0"/>
          </a:p>
        </p:txBody>
      </p:sp>
      <p:sp>
        <p:nvSpPr>
          <p:cNvPr id="51" name="Text 48"/>
          <p:cNvSpPr txBox="1"/>
          <p:nvPr/>
        </p:nvSpPr>
        <p:spPr>
          <a:xfrm>
            <a:off x="29413200" y="7498080"/>
            <a:ext cx="13655040" cy="868680"/>
          </a:xfrm>
          <a:prstGeom prst="rect">
            <a:avLst/>
          </a:prstGeom>
          <a:noFill/>
          <a:ln/>
        </p:spPr>
        <p:txBody>
          <a:bodyPr wrap="square" lIns="0" tIns="0" rIns="0" bIns="0" rtlCol="0" anchor="b"/>
          <a:lstStyle/>
          <a:p>
            <a:pPr indent="0" marL="0">
              <a:buNone/>
            </a:pPr>
            <a:r>
              <a:rPr lang="en-US" sz="3800" b="1" dirty="0">
                <a:solidFill>
                  <a:srgbClr val="B10202"/>
                </a:solidFill>
                <a:latin typeface="Arial" pitchFamily="34" charset="0"/>
                <a:ea typeface="Arial" pitchFamily="34" charset="-122"/>
                <a:cs typeface="Arial" pitchFamily="34" charset="-120"/>
              </a:rPr>
              <a:t>Results</a:t>
            </a:r>
            <a:endParaRPr lang="en-US" sz="3800" dirty="0"/>
          </a:p>
        </p:txBody>
      </p:sp>
      <p:sp>
        <p:nvSpPr>
          <p:cNvPr id="52" name="Shape 49"/>
          <p:cNvSpPr/>
          <p:nvPr/>
        </p:nvSpPr>
        <p:spPr>
          <a:xfrm>
            <a:off x="29413200" y="8503920"/>
            <a:ext cx="4338320" cy="2514600"/>
          </a:xfrm>
          <a:prstGeom prst="rect">
            <a:avLst/>
          </a:prstGeom>
          <a:solidFill>
            <a:srgbClr val="F5F4F0"/>
          </a:solidFill>
          <a:ln w="12700">
            <a:solidFill>
              <a:srgbClr val="F5F4F0"/>
            </a:solidFill>
            <a:prstDash val="solid"/>
          </a:ln>
        </p:spPr>
      </p:sp>
      <p:sp>
        <p:nvSpPr>
          <p:cNvPr id="53" name="Text 50"/>
          <p:cNvSpPr txBox="1"/>
          <p:nvPr/>
        </p:nvSpPr>
        <p:spPr>
          <a:xfrm>
            <a:off x="29641800" y="8641080"/>
            <a:ext cx="3881120" cy="960120"/>
          </a:xfrm>
          <a:prstGeom prst="rect">
            <a:avLst/>
          </a:prstGeom>
          <a:noFill/>
          <a:ln/>
        </p:spPr>
        <p:txBody>
          <a:bodyPr wrap="square" lIns="0" tIns="0" rIns="0" bIns="0" rtlCol="0" anchor="ctr"/>
          <a:lstStyle/>
          <a:p>
            <a:pPr indent="0" marL="0">
              <a:buNone/>
            </a:pPr>
            <a:r>
              <a:rPr lang="en-US" sz="5000" b="1" dirty="0">
                <a:solidFill>
                  <a:srgbClr val="B10202"/>
                </a:solidFill>
                <a:latin typeface="Arial" pitchFamily="34" charset="0"/>
                <a:ea typeface="Arial" pitchFamily="34" charset="-122"/>
                <a:cs typeface="Arial" pitchFamily="34" charset="-120"/>
              </a:rPr>
              <a:t>4 of 4</a:t>
            </a:r>
            <a:endParaRPr lang="en-US" sz="5000" dirty="0"/>
          </a:p>
        </p:txBody>
      </p:sp>
      <p:sp>
        <p:nvSpPr>
          <p:cNvPr id="54" name="Text 51"/>
          <p:cNvSpPr txBox="1"/>
          <p:nvPr/>
        </p:nvSpPr>
        <p:spPr>
          <a:xfrm>
            <a:off x="29641800" y="9601200"/>
            <a:ext cx="3881120" cy="132588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machines ran every real CS 218 assignment correctly, including the multithreaded one</a:t>
            </a:r>
            <a:endParaRPr lang="en-US" sz="1800" dirty="0"/>
          </a:p>
        </p:txBody>
      </p:sp>
      <p:sp>
        <p:nvSpPr>
          <p:cNvPr id="55" name="Shape 52"/>
          <p:cNvSpPr/>
          <p:nvPr/>
        </p:nvSpPr>
        <p:spPr>
          <a:xfrm>
            <a:off x="34071560" y="8503920"/>
            <a:ext cx="4338320" cy="2514600"/>
          </a:xfrm>
          <a:prstGeom prst="rect">
            <a:avLst/>
          </a:prstGeom>
          <a:solidFill>
            <a:srgbClr val="F5F4F0"/>
          </a:solidFill>
          <a:ln w="12700">
            <a:solidFill>
              <a:srgbClr val="F5F4F0"/>
            </a:solidFill>
            <a:prstDash val="solid"/>
          </a:ln>
        </p:spPr>
      </p:sp>
      <p:sp>
        <p:nvSpPr>
          <p:cNvPr id="56" name="Text 53"/>
          <p:cNvSpPr txBox="1"/>
          <p:nvPr/>
        </p:nvSpPr>
        <p:spPr>
          <a:xfrm>
            <a:off x="34300160" y="8641080"/>
            <a:ext cx="3881120" cy="960120"/>
          </a:xfrm>
          <a:prstGeom prst="rect">
            <a:avLst/>
          </a:prstGeom>
          <a:noFill/>
          <a:ln/>
        </p:spPr>
        <p:txBody>
          <a:bodyPr wrap="square" lIns="0" tIns="0" rIns="0" bIns="0" rtlCol="0" anchor="ctr"/>
          <a:lstStyle/>
          <a:p>
            <a:pPr indent="0" marL="0">
              <a:buNone/>
            </a:pPr>
            <a:r>
              <a:rPr lang="en-US" sz="5000" b="1" dirty="0">
                <a:solidFill>
                  <a:srgbClr val="B10202"/>
                </a:solidFill>
                <a:latin typeface="Arial" pitchFamily="34" charset="0"/>
                <a:ea typeface="Arial" pitchFamily="34" charset="-122"/>
                <a:cs typeface="Arial" pitchFamily="34" charset="-120"/>
              </a:rPr>
              <a:t>0.5 s</a:t>
            </a:r>
            <a:endParaRPr lang="en-US" sz="5000" dirty="0"/>
          </a:p>
        </p:txBody>
      </p:sp>
      <p:sp>
        <p:nvSpPr>
          <p:cNvPr id="57" name="Text 54"/>
          <p:cNvSpPr txBox="1"/>
          <p:nvPr/>
        </p:nvSpPr>
        <p:spPr>
          <a:xfrm>
            <a:off x="34300160" y="9601200"/>
            <a:ext cx="3881120" cy="132588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until the editor opens on Intel chips; about 5 s on Apple Silicon. A course VM takes minutes.</a:t>
            </a:r>
            <a:endParaRPr lang="en-US" sz="1800" dirty="0"/>
          </a:p>
        </p:txBody>
      </p:sp>
      <p:sp>
        <p:nvSpPr>
          <p:cNvPr id="58" name="Shape 55"/>
          <p:cNvSpPr/>
          <p:nvPr/>
        </p:nvSpPr>
        <p:spPr>
          <a:xfrm>
            <a:off x="38729920" y="8503920"/>
            <a:ext cx="4338320" cy="2514600"/>
          </a:xfrm>
          <a:prstGeom prst="rect">
            <a:avLst/>
          </a:prstGeom>
          <a:solidFill>
            <a:srgbClr val="F5F4F0"/>
          </a:solidFill>
          <a:ln w="12700">
            <a:solidFill>
              <a:srgbClr val="F5F4F0"/>
            </a:solidFill>
            <a:prstDash val="solid"/>
          </a:ln>
        </p:spPr>
      </p:sp>
      <p:sp>
        <p:nvSpPr>
          <p:cNvPr id="59" name="Text 56"/>
          <p:cNvSpPr txBox="1"/>
          <p:nvPr/>
        </p:nvSpPr>
        <p:spPr>
          <a:xfrm>
            <a:off x="38958520" y="8641080"/>
            <a:ext cx="3881120" cy="960120"/>
          </a:xfrm>
          <a:prstGeom prst="rect">
            <a:avLst/>
          </a:prstGeom>
          <a:noFill/>
          <a:ln/>
        </p:spPr>
        <p:txBody>
          <a:bodyPr wrap="square" lIns="0" tIns="0" rIns="0" bIns="0" rtlCol="0" anchor="ctr"/>
          <a:lstStyle/>
          <a:p>
            <a:pPr indent="0" marL="0">
              <a:buNone/>
            </a:pPr>
            <a:r>
              <a:rPr lang="en-US" sz="5000" b="1" dirty="0">
                <a:solidFill>
                  <a:srgbClr val="B10202"/>
                </a:solidFill>
                <a:latin typeface="Arial" pitchFamily="34" charset="0"/>
                <a:ea typeface="Arial" pitchFamily="34" charset="-122"/>
                <a:cs typeface="Arial" pitchFamily="34" charset="-120"/>
              </a:rPr>
              <a:t>552 MB</a:t>
            </a:r>
            <a:endParaRPr lang="en-US" sz="5000" dirty="0"/>
          </a:p>
        </p:txBody>
      </p:sp>
      <p:sp>
        <p:nvSpPr>
          <p:cNvPr id="60" name="Text 57"/>
          <p:cNvSpPr txBox="1"/>
          <p:nvPr/>
        </p:nvSpPr>
        <p:spPr>
          <a:xfrm>
            <a:off x="38958520" y="9601200"/>
            <a:ext cx="3881120" cy="132588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one-time download, the identical file on every machine, versus a 19 GB virtual machine</a:t>
            </a:r>
            <a:endParaRPr lang="en-US" sz="1800" dirty="0"/>
          </a:p>
        </p:txBody>
      </p:sp>
      <p:sp>
        <p:nvSpPr>
          <p:cNvPr id="61" name="Text 58"/>
          <p:cNvSpPr txBox="1"/>
          <p:nvPr/>
        </p:nvSpPr>
        <p:spPr>
          <a:xfrm>
            <a:off x="29413200" y="11338560"/>
            <a:ext cx="13655040" cy="457200"/>
          </a:xfrm>
          <a:prstGeom prst="rect">
            <a:avLst/>
          </a:prstGeom>
          <a:noFill/>
          <a:ln/>
        </p:spPr>
        <p:txBody>
          <a:bodyPr wrap="square" lIns="0" tIns="0" rIns="0" bIns="0" rtlCol="0" anchor="t"/>
          <a:lstStyle/>
          <a:p>
            <a:pPr indent="0" marL="0">
              <a:lnSpc>
                <a:spcPct val="105000"/>
              </a:lnSpc>
              <a:buNone/>
            </a:pPr>
            <a:r>
              <a:rPr lang="en-US" sz="1900" b="1" dirty="0">
                <a:solidFill>
                  <a:srgbClr val="5E5B55"/>
                </a:solidFill>
                <a:latin typeface="Arial" pitchFamily="34" charset="0"/>
                <a:ea typeface="Arial" pitchFamily="34" charset="-122"/>
                <a:cs typeface="Arial" pitchFamily="34" charset="-120"/>
              </a:rPr>
              <a:t>Table 1. </a:t>
            </a:r>
            <a:pPr indent="0" marL="0">
              <a:lnSpc>
                <a:spcPct val="105000"/>
              </a:lnSpc>
              <a:buNone/>
            </a:pPr>
            <a:r>
              <a:rPr lang="en-US" sz="1900" dirty="0">
                <a:solidFill>
                  <a:srgbClr val="5E5B55"/>
                </a:solidFill>
                <a:latin typeface="Arial" pitchFamily="34" charset="0"/>
                <a:ea typeface="Arial" pitchFamily="34" charset="-122"/>
                <a:cs typeface="Arial" pitchFamily="34" charset="-120"/>
              </a:rPr>
              <a:t>What the script recorded on each machine (memory in MiB).</a:t>
            </a:r>
            <a:endParaRPr lang="en-US" sz="19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29413200" y="11795760"/>
          <a:ext cx="13655040" cy="914400"/>
        </p:xfrm>
        <a:graphic>
          <a:graphicData uri="http://schemas.openxmlformats.org/drawingml/2006/table">
            <a:tbl>
              <a:tblPr/>
              <a:tblGrid>
                <a:gridCol w="4937760"/>
                <a:gridCol w="2194560"/>
                <a:gridCol w="2194560"/>
                <a:gridCol w="2194560"/>
                <a:gridCol w="2194560"/>
              </a:tblGrid>
              <a:tr h="868680">
                <a:tc>
                  <a:txBody>
                    <a:bodyPr/>
                    <a:lstStyle/>
                    <a:p>
                      <a:pPr indent="0" marL="0">
                        <a:buNone/>
                      </a:pPr>
                      <a:r>
                        <a:rPr lang="en-US" sz="1800" b="1" dirty="0">
                          <a:solidFill>
                            <a:srgbClr val="FFFFFF"/>
                          </a:solidFill>
                          <a:latin typeface="Arial" pitchFamily="34" charset="0"/>
                          <a:ea typeface="Arial" pitchFamily="34" charset="-122"/>
                          <a:cs typeface="Arial" pitchFamily="34" charset="-120"/>
                        </a:rPr>
                        <a:t>Measure</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Windows 11</a:t>
                      </a:r>
                      <a:endParaRPr lang="en-US" sz="1800" dirty="0">
                        <a:latin typeface="Arial" charset="0"/>
                        <a:ea typeface="Arial" charset="0"/>
                        <a:cs typeface="Arial" charset="0"/>
                      </a:endParaRPr>
                    </a:p>
                    <a:p>
                      <a:pPr algn="ctr" indent="0" marL="0">
                        <a:buNone/>
                      </a:pPr>
                      <a:r>
                        <a:rPr lang="en-US" sz="1800" b="1" dirty="0">
                          <a:solidFill>
                            <a:srgbClr val="FFFFFF"/>
                          </a:solidFill>
                          <a:latin typeface="Arial" pitchFamily="34" charset="0"/>
                          <a:ea typeface="Arial" pitchFamily="34" charset="-122"/>
                          <a:cs typeface="Arial" pitchFamily="34" charset="-120"/>
                        </a:rPr>
                        <a:t>(Intel)</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Linux PC</a:t>
                      </a:r>
                      <a:endParaRPr lang="en-US" sz="1800" dirty="0">
                        <a:latin typeface="Arial" charset="0"/>
                        <a:ea typeface="Arial" charset="0"/>
                        <a:cs typeface="Arial" charset="0"/>
                      </a:endParaRPr>
                    </a:p>
                    <a:p>
                      <a:pPr algn="ctr" indent="0" marL="0">
                        <a:buNone/>
                      </a:pPr>
                      <a:r>
                        <a:rPr lang="en-US" sz="1800" b="1" dirty="0">
                          <a:solidFill>
                            <a:srgbClr val="FFFFFF"/>
                          </a:solidFill>
                          <a:latin typeface="Arial" pitchFamily="34" charset="0"/>
                          <a:ea typeface="Arial" pitchFamily="34" charset="-122"/>
                          <a:cs typeface="Arial" pitchFamily="34" charset="-120"/>
                        </a:rPr>
                        <a:t>(Intel)</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Apple</a:t>
                      </a:r>
                      <a:endParaRPr lang="en-US" sz="1800" dirty="0">
                        <a:latin typeface="Arial" charset="0"/>
                        <a:ea typeface="Arial" charset="0"/>
                        <a:cs typeface="Arial" charset="0"/>
                      </a:endParaRPr>
                    </a:p>
                    <a:p>
                      <a:pPr algn="ctr" indent="0" marL="0">
                        <a:buNone/>
                      </a:pPr>
                      <a:r>
                        <a:rPr lang="en-US" sz="1800" b="1" dirty="0">
                          <a:solidFill>
                            <a:srgbClr val="FFFFFF"/>
                          </a:solidFill>
                          <a:latin typeface="Arial" pitchFamily="34" charset="0"/>
                          <a:ea typeface="Arial" pitchFamily="34" charset="-122"/>
                          <a:cs typeface="Arial" pitchFamily="34" charset="-120"/>
                        </a:rPr>
                        <a:t>Silicon Mac</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Linux</a:t>
                      </a:r>
                      <a:endParaRPr lang="en-US" sz="1800" dirty="0">
                        <a:latin typeface="Arial" charset="0"/>
                        <a:ea typeface="Arial" charset="0"/>
                        <a:cs typeface="Arial" charset="0"/>
                      </a:endParaRPr>
                    </a:p>
                    <a:p>
                      <a:pPr algn="ctr" indent="0" marL="0">
                        <a:buNone/>
                      </a:pPr>
                      <a:r>
                        <a:rPr lang="en-US" sz="1800" b="1" dirty="0">
                          <a:solidFill>
                            <a:srgbClr val="FFFFFF"/>
                          </a:solidFill>
                          <a:latin typeface="Arial" pitchFamily="34" charset="0"/>
                          <a:ea typeface="Arial" pitchFamily="34" charset="-122"/>
                          <a:cs typeface="Arial" pitchFamily="34" charset="-120"/>
                        </a:rPr>
                        <a:t>on ARM</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All four assignments correct</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Files survive deleting the container</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Debugger</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1F5FB0"/>
                          </a:solidFill>
                          <a:latin typeface="Arial" pitchFamily="34" charset="0"/>
                          <a:ea typeface="Arial" pitchFamily="34" charset="-122"/>
                          <a:cs typeface="Arial" pitchFamily="34" charset="-120"/>
                        </a:rPr>
                        <a:t>works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1F5FB0"/>
                          </a:solidFill>
                          <a:latin typeface="Arial" pitchFamily="34" charset="0"/>
                          <a:ea typeface="Arial" pitchFamily="34" charset="-122"/>
                          <a:cs typeface="Arial" pitchFamily="34" charset="-120"/>
                        </a:rPr>
                        <a:t>works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b="1" dirty="0">
                          <a:solidFill>
                            <a:srgbClr val="B10202"/>
                          </a:solidFill>
                          <a:latin typeface="Arial" pitchFamily="34" charset="0"/>
                          <a:ea typeface="Arial" pitchFamily="34" charset="-122"/>
                          <a:cs typeface="Arial" pitchFamily="34" charset="-120"/>
                        </a:rPr>
                        <a:t>silent</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b="1" dirty="0">
                          <a:solidFill>
                            <a:srgbClr val="B10202"/>
                          </a:solidFill>
                          <a:latin typeface="Arial" pitchFamily="34" charset="0"/>
                          <a:ea typeface="Arial" pitchFamily="34" charset="-122"/>
                          <a:cs typeface="Arial" pitchFamily="34" charset="-120"/>
                        </a:rPr>
                        <a:t>silent</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Editor ready in (seconds)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0.6</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0.5</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4.8</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6.7</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Memory while idle</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56</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54</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263</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255</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Heaviest assignment builds in (s)</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0.6</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0.3</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3.1</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3.6</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r>
              <a:tr h="658368">
                <a:tc>
                  <a:txBody>
                    <a:bodyPr/>
                    <a:lstStyle/>
                    <a:p>
                      <a:pPr algn="l" indent="0" marL="0">
                        <a:buNone/>
                      </a:pPr>
                      <a:r>
                        <a:rPr lang="en-US" sz="1800" b="1" dirty="0">
                          <a:solidFill>
                            <a:srgbClr val="22252B"/>
                          </a:solidFill>
                          <a:latin typeface="Arial" pitchFamily="34" charset="0"/>
                          <a:ea typeface="Arial" pitchFamily="34" charset="-122"/>
                          <a:cs typeface="Arial" pitchFamily="34" charset="-120"/>
                        </a:rPr>
                        <a:t>Checks passed / failed</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13 / 0</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13 / 0</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12 / 0</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algn="ctr" indent="0" marL="0">
                        <a:buNone/>
                      </a:pPr>
                      <a:r>
                        <a:rPr lang="en-US" sz="1800" dirty="0">
                          <a:solidFill>
                            <a:srgbClr val="22252B"/>
                          </a:solidFill>
                          <a:latin typeface="Arial" pitchFamily="34" charset="0"/>
                          <a:ea typeface="Arial" pitchFamily="34" charset="-122"/>
                          <a:cs typeface="Arial" pitchFamily="34" charset="-120"/>
                        </a:rPr>
                        <a:t>12 / 0</a:t>
                      </a:r>
                      <a:endParaRPr lang="en-US" sz="18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bl>
          </a:graphicData>
        </a:graphic>
      </p:graphicFrame>
      <p:graphicFrame>
        <p:nvGraphicFramePr>
          <p:cNvPr id="63" name="Chart 0" descr=""/>
          <p:cNvGraphicFramePr/>
          <p:nvPr/>
        </p:nvGraphicFramePr>
        <p:xfrm>
          <a:off x="29413200" y="17593056"/>
          <a:ext cx="13655040" cy="4389120"/>
        </p:xfrm>
        <a:graphic xmlns:a="http://schemas.openxmlformats.org/drawingml/2006/main">
          <a:graphicData uri="http://schemas.openxmlformats.org/drawingml/2006/chart">
            <c:chart xmlns:c="http://schemas.openxmlformats.org/drawingml/2006/chart" r:id="rId2"/>
          </a:graphicData>
        </a:graphic>
      </p:graphicFrame>
      <p:sp>
        <p:nvSpPr>
          <p:cNvPr id="64" name="Text 59"/>
          <p:cNvSpPr txBox="1"/>
          <p:nvPr/>
        </p:nvSpPr>
        <p:spPr>
          <a:xfrm>
            <a:off x="29413200" y="22256496"/>
            <a:ext cx="13655040" cy="3895344"/>
          </a:xfrm>
          <a:prstGeom prst="rect">
            <a:avLst/>
          </a:prstGeom>
          <a:noFill/>
          <a:ln/>
        </p:spPr>
        <p:txBody>
          <a:bodyPr wrap="square" lIns="0" tIns="0" rIns="0" bIns="0" rtlCol="0" anchor="t"/>
          <a:lstStyle/>
          <a:p>
            <a:pPr indent="0" marL="0">
              <a:lnSpc>
                <a:spcPct val="104000"/>
              </a:lnSpc>
              <a:spcAft>
                <a:spcPts val="800"/>
              </a:spcAft>
              <a:buNone/>
            </a:pPr>
            <a:r>
              <a:rPr lang="en-US" sz="2200" b="1" dirty="0">
                <a:solidFill>
                  <a:srgbClr val="B10202"/>
                </a:solidFill>
                <a:latin typeface="Arial" pitchFamily="34" charset="0"/>
                <a:ea typeface="Arial" pitchFamily="34" charset="-122"/>
                <a:cs typeface="Arial" pitchFamily="34" charset="-120"/>
              </a:rPr>
              <a:t>The one limit, in plain words. </a:t>
            </a:r>
            <a:pPr indent="0" marL="0">
              <a:lnSpc>
                <a:spcPct val="104000"/>
              </a:lnSpc>
              <a:spcAft>
                <a:spcPts val="800"/>
              </a:spcAft>
              <a:buNone/>
            </a:pPr>
            <a:r>
              <a:rPr lang="en-US" sz="2200" dirty="0">
                <a:solidFill>
                  <a:srgbClr val="22252B"/>
                </a:solidFill>
                <a:latin typeface="Arial" pitchFamily="34" charset="0"/>
                <a:ea typeface="Arial" pitchFamily="34" charset="-122"/>
                <a:cs typeface="Arial" pitchFamily="34" charset="-120"/>
              </a:rPr>
              <a:t>The assembly course teaches the Intel-style x86-64 instruction set, so that package is built for Intel chips on purpose. Apple Silicon and other ARM chips run it through a translator: every assignment still comes out correct, about ten times slower but still within seconds. The translator cannot support the debugger, so debugger assignments on a Mac must be finished on an Intel machine, and the student handout says so. We also found that the translator that ships with Ubuntu Linux crashes while Docker’s own does not; that fix is one line in the handout. Windows and Intel machines, the majority of student laptops, get everything.</a:t>
            </a:r>
            <a:endParaRPr lang="en-US" sz="2200" dirty="0"/>
          </a:p>
        </p:txBody>
      </p:sp>
      <p:sp>
        <p:nvSpPr>
          <p:cNvPr id="65" name="Shape 60"/>
          <p:cNvSpPr/>
          <p:nvPr/>
        </p:nvSpPr>
        <p:spPr>
          <a:xfrm>
            <a:off x="822960" y="26289000"/>
            <a:ext cx="42245280" cy="0"/>
          </a:xfrm>
          <a:prstGeom prst="line">
            <a:avLst/>
          </a:prstGeom>
          <a:noFill/>
          <a:ln w="38100">
            <a:solidFill>
              <a:srgbClr val="D9D6CF"/>
            </a:solidFill>
            <a:prstDash val="solid"/>
          </a:ln>
        </p:spPr>
      </p:sp>
      <p:sp>
        <p:nvSpPr>
          <p:cNvPr id="66" name="Text 61"/>
          <p:cNvSpPr txBox="1"/>
          <p:nvPr/>
        </p:nvSpPr>
        <p:spPr>
          <a:xfrm>
            <a:off x="822960" y="26609040"/>
            <a:ext cx="42245280" cy="868680"/>
          </a:xfrm>
          <a:prstGeom prst="rect">
            <a:avLst/>
          </a:prstGeom>
          <a:noFill/>
          <a:ln/>
        </p:spPr>
        <p:txBody>
          <a:bodyPr wrap="square" lIns="0" tIns="0" rIns="0" bIns="0" rtlCol="0" anchor="b"/>
          <a:lstStyle/>
          <a:p>
            <a:pPr indent="0" marL="0">
              <a:buNone/>
            </a:pPr>
            <a:r>
              <a:rPr lang="en-US" sz="3800" b="1" dirty="0">
                <a:solidFill>
                  <a:srgbClr val="B10202"/>
                </a:solidFill>
                <a:latin typeface="Arial" pitchFamily="34" charset="0"/>
                <a:ea typeface="Arial" pitchFamily="34" charset="-122"/>
                <a:cs typeface="Arial" pitchFamily="34" charset="-120"/>
              </a:rPr>
              <a:t>Concluding discussion: why this matters</a:t>
            </a:r>
            <a:endParaRPr lang="en-US" sz="3800" dirty="0"/>
          </a:p>
        </p:txBody>
      </p:sp>
      <p:sp>
        <p:nvSpPr>
          <p:cNvPr id="67" name="Shape 62"/>
          <p:cNvSpPr/>
          <p:nvPr/>
        </p:nvSpPr>
        <p:spPr>
          <a:xfrm>
            <a:off x="822960" y="27614880"/>
            <a:ext cx="10287000" cy="3246120"/>
          </a:xfrm>
          <a:prstGeom prst="rect">
            <a:avLst/>
          </a:prstGeom>
          <a:solidFill>
            <a:srgbClr val="F5F4F0"/>
          </a:solidFill>
          <a:ln w="12700">
            <a:solidFill>
              <a:srgbClr val="F5F4F0"/>
            </a:solidFill>
            <a:prstDash val="solid"/>
          </a:ln>
        </p:spPr>
      </p:sp>
      <p:sp>
        <p:nvSpPr>
          <p:cNvPr id="68" name="Text 63"/>
          <p:cNvSpPr txBox="1"/>
          <p:nvPr/>
        </p:nvSpPr>
        <p:spPr>
          <a:xfrm>
            <a:off x="1143000" y="27779472"/>
            <a:ext cx="9646920" cy="548640"/>
          </a:xfrm>
          <a:prstGeom prst="rect">
            <a:avLst/>
          </a:prstGeom>
          <a:noFill/>
          <a:ln/>
        </p:spPr>
        <p:txBody>
          <a:bodyPr wrap="square" lIns="0" tIns="0" rIns="0" bIns="0" rtlCol="0" anchor="ctr"/>
          <a:lstStyle/>
          <a:p>
            <a:pPr indent="0" marL="0">
              <a:buNone/>
            </a:pPr>
            <a:r>
              <a:rPr lang="en-US" sz="2500" b="1" dirty="0">
                <a:solidFill>
                  <a:srgbClr val="B10202"/>
                </a:solidFill>
                <a:latin typeface="Arial" pitchFamily="34" charset="0"/>
                <a:ea typeface="Arial" pitchFamily="34" charset="-122"/>
                <a:cs typeface="Arial" pitchFamily="34" charset="-120"/>
              </a:rPr>
              <a:t>For students</a:t>
            </a:r>
            <a:endParaRPr lang="en-US" sz="2500" dirty="0"/>
          </a:p>
        </p:txBody>
      </p:sp>
      <p:sp>
        <p:nvSpPr>
          <p:cNvPr id="69" name="Text 64"/>
          <p:cNvSpPr txBox="1"/>
          <p:nvPr/>
        </p:nvSpPr>
        <p:spPr>
          <a:xfrm>
            <a:off x="1143000" y="28392120"/>
            <a:ext cx="9646920" cy="23317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Week one goes to learning, not installing. The same environment on every laptop, offline after one download, with coursework in a normal folder. Nothing is recorded or sent anywhere, and no student is left out because of the laptop they could afford.</a:t>
            </a:r>
            <a:endParaRPr lang="en-US" sz="2200" dirty="0"/>
          </a:p>
        </p:txBody>
      </p:sp>
      <p:sp>
        <p:nvSpPr>
          <p:cNvPr id="70" name="Shape 65"/>
          <p:cNvSpPr/>
          <p:nvPr/>
        </p:nvSpPr>
        <p:spPr>
          <a:xfrm>
            <a:off x="11475720" y="27614880"/>
            <a:ext cx="10287000" cy="3246120"/>
          </a:xfrm>
          <a:prstGeom prst="rect">
            <a:avLst/>
          </a:prstGeom>
          <a:solidFill>
            <a:srgbClr val="F5F4F0"/>
          </a:solidFill>
          <a:ln w="12700">
            <a:solidFill>
              <a:srgbClr val="F5F4F0"/>
            </a:solidFill>
            <a:prstDash val="solid"/>
          </a:ln>
        </p:spPr>
      </p:sp>
      <p:sp>
        <p:nvSpPr>
          <p:cNvPr id="71" name="Text 66"/>
          <p:cNvSpPr txBox="1"/>
          <p:nvPr/>
        </p:nvSpPr>
        <p:spPr>
          <a:xfrm>
            <a:off x="11795760" y="27779472"/>
            <a:ext cx="9646920" cy="548640"/>
          </a:xfrm>
          <a:prstGeom prst="rect">
            <a:avLst/>
          </a:prstGeom>
          <a:noFill/>
          <a:ln/>
        </p:spPr>
        <p:txBody>
          <a:bodyPr wrap="square" lIns="0" tIns="0" rIns="0" bIns="0" rtlCol="0" anchor="ctr"/>
          <a:lstStyle/>
          <a:p>
            <a:pPr indent="0" marL="0">
              <a:buNone/>
            </a:pPr>
            <a:r>
              <a:rPr lang="en-US" sz="2500" b="1" dirty="0">
                <a:solidFill>
                  <a:srgbClr val="B10202"/>
                </a:solidFill>
                <a:latin typeface="Arial" pitchFamily="34" charset="0"/>
                <a:ea typeface="Arial" pitchFamily="34" charset="-122"/>
                <a:cs typeface="Arial" pitchFamily="34" charset="-120"/>
              </a:rPr>
              <a:t>For the course and the department</a:t>
            </a:r>
            <a:endParaRPr lang="en-US" sz="2500" dirty="0"/>
          </a:p>
        </p:txBody>
      </p:sp>
      <p:sp>
        <p:nvSpPr>
          <p:cNvPr id="72" name="Text 67"/>
          <p:cNvSpPr txBox="1"/>
          <p:nvPr/>
        </p:nvSpPr>
        <p:spPr>
          <a:xfrm>
            <a:off x="11795760" y="28392120"/>
            <a:ext cx="9646920" cy="23317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No servers to maintain, no VPN, no 19 GB image to rebuild each semester. The instructor updates one recipe and every student gets the same tools. A trade-off nobody had measured is now explicit: keep the real x86-64 instruction set, and lose the debugger on ARM until a hybrid container is built.</a:t>
            </a:r>
            <a:endParaRPr lang="en-US" sz="2200" dirty="0"/>
          </a:p>
        </p:txBody>
      </p:sp>
      <p:sp>
        <p:nvSpPr>
          <p:cNvPr id="73" name="Shape 68"/>
          <p:cNvSpPr/>
          <p:nvPr/>
        </p:nvSpPr>
        <p:spPr>
          <a:xfrm>
            <a:off x="22128480" y="27614880"/>
            <a:ext cx="10287000" cy="3246120"/>
          </a:xfrm>
          <a:prstGeom prst="rect">
            <a:avLst/>
          </a:prstGeom>
          <a:solidFill>
            <a:srgbClr val="F5F4F0"/>
          </a:solidFill>
          <a:ln w="12700">
            <a:solidFill>
              <a:srgbClr val="F5F4F0"/>
            </a:solidFill>
            <a:prstDash val="solid"/>
          </a:ln>
        </p:spPr>
      </p:sp>
      <p:sp>
        <p:nvSpPr>
          <p:cNvPr id="74" name="Text 69"/>
          <p:cNvSpPr txBox="1"/>
          <p:nvPr/>
        </p:nvSpPr>
        <p:spPr>
          <a:xfrm>
            <a:off x="22448520" y="27779472"/>
            <a:ext cx="9646920" cy="548640"/>
          </a:xfrm>
          <a:prstGeom prst="rect">
            <a:avLst/>
          </a:prstGeom>
          <a:noFill/>
          <a:ln/>
        </p:spPr>
        <p:txBody>
          <a:bodyPr wrap="square" lIns="0" tIns="0" rIns="0" bIns="0" rtlCol="0" anchor="ctr"/>
          <a:lstStyle/>
          <a:p>
            <a:pPr indent="0" marL="0">
              <a:buNone/>
            </a:pPr>
            <a:r>
              <a:rPr lang="en-US" sz="2500" b="1" dirty="0">
                <a:solidFill>
                  <a:srgbClr val="B10202"/>
                </a:solidFill>
                <a:latin typeface="Arial" pitchFamily="34" charset="0"/>
                <a:ea typeface="Arial" pitchFamily="34" charset="-122"/>
                <a:cs typeface="Arial" pitchFamily="34" charset="-120"/>
              </a:rPr>
              <a:t>For other courses and researchers</a:t>
            </a:r>
            <a:endParaRPr lang="en-US" sz="2500" dirty="0"/>
          </a:p>
        </p:txBody>
      </p:sp>
      <p:sp>
        <p:nvSpPr>
          <p:cNvPr id="75" name="Text 70"/>
          <p:cNvSpPr txBox="1"/>
          <p:nvPr/>
        </p:nvSpPr>
        <p:spPr>
          <a:xfrm>
            <a:off x="22448520" y="28392120"/>
            <a:ext cx="9646920" cy="23317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The rent-four-computers, one-script method works for any course environment, and every raw result is public so anyone can check the numbers. The design sits between cloud editors and monitored platforms: the same convenience without the account, the internet dependence, or the surveillance.</a:t>
            </a:r>
            <a:endParaRPr lang="en-US" sz="2200" dirty="0"/>
          </a:p>
        </p:txBody>
      </p:sp>
      <p:sp>
        <p:nvSpPr>
          <p:cNvPr id="76" name="Shape 71"/>
          <p:cNvSpPr/>
          <p:nvPr/>
        </p:nvSpPr>
        <p:spPr>
          <a:xfrm>
            <a:off x="32781240" y="27614880"/>
            <a:ext cx="10287000" cy="3246120"/>
          </a:xfrm>
          <a:prstGeom prst="rect">
            <a:avLst/>
          </a:prstGeom>
          <a:solidFill>
            <a:srgbClr val="FBEAEA"/>
          </a:solidFill>
          <a:ln w="12700">
            <a:solidFill>
              <a:srgbClr val="FBEAEA"/>
            </a:solidFill>
            <a:prstDash val="solid"/>
          </a:ln>
        </p:spPr>
      </p:sp>
      <p:sp>
        <p:nvSpPr>
          <p:cNvPr id="77" name="Text 72"/>
          <p:cNvSpPr txBox="1"/>
          <p:nvPr/>
        </p:nvSpPr>
        <p:spPr>
          <a:xfrm>
            <a:off x="33101280" y="27779472"/>
            <a:ext cx="9646920" cy="548640"/>
          </a:xfrm>
          <a:prstGeom prst="rect">
            <a:avLst/>
          </a:prstGeom>
          <a:noFill/>
          <a:ln/>
        </p:spPr>
        <p:txBody>
          <a:bodyPr wrap="square" lIns="0" tIns="0" rIns="0" bIns="0" rtlCol="0" anchor="ctr"/>
          <a:lstStyle/>
          <a:p>
            <a:pPr indent="0" marL="0">
              <a:buNone/>
            </a:pPr>
            <a:r>
              <a:rPr lang="en-US" sz="2500" b="1" dirty="0">
                <a:solidFill>
                  <a:srgbClr val="B10202"/>
                </a:solidFill>
                <a:latin typeface="Arial" pitchFamily="34" charset="0"/>
                <a:ea typeface="Arial" pitchFamily="34" charset="-122"/>
                <a:cs typeface="Arial" pitchFamily="34" charset="-120"/>
              </a:rPr>
              <a:t>What comes next</a:t>
            </a:r>
            <a:endParaRPr lang="en-US" sz="2500" dirty="0"/>
          </a:p>
        </p:txBody>
      </p:sp>
      <p:sp>
        <p:nvSpPr>
          <p:cNvPr id="78" name="Text 73"/>
          <p:cNvSpPr txBox="1"/>
          <p:nvPr/>
        </p:nvSpPr>
        <p:spPr>
          <a:xfrm>
            <a:off x="33101280" y="28392120"/>
            <a:ext cx="9646920" cy="2331720"/>
          </a:xfrm>
          <a:prstGeom prst="rect">
            <a:avLst/>
          </a:prstGeom>
          <a:noFill/>
          <a:ln/>
        </p:spPr>
        <p:txBody>
          <a:bodyPr wrap="square" lIns="0" tIns="0" rIns="0" bIns="0" rtlCol="0" anchor="t"/>
          <a:lstStyle/>
          <a:p>
            <a:pPr indent="0" marL="0">
              <a:lnSpc>
                <a:spcPct val="104000"/>
              </a:lnSpc>
              <a:buNone/>
            </a:pPr>
            <a:r>
              <a:rPr lang="en-US" sz="2200" dirty="0">
                <a:solidFill>
                  <a:srgbClr val="22252B"/>
                </a:solidFill>
                <a:latin typeface="Arial" pitchFamily="34" charset="0"/>
                <a:ea typeface="Arial" pitchFamily="34" charset="-122"/>
                <a:cs typeface="Arial" pitchFamily="34" charset="-120"/>
              </a:rPr>
              <a:t>A classroom study in CS 135 and CS 218 with IRB approval: how many students reach a working setup without help, how much staff time it saves, and how students feel about it [3, 4, 6]. A three-student high-school pilot has already run. Then a hybrid assembly container for ARM that could bring the debugger back to Apple Silicon.</a:t>
            </a:r>
            <a:endParaRPr lang="en-US" sz="2200" dirty="0"/>
          </a:p>
        </p:txBody>
      </p:sp>
      <p:sp>
        <p:nvSpPr>
          <p:cNvPr id="79" name="Text 74"/>
          <p:cNvSpPr txBox="1"/>
          <p:nvPr/>
        </p:nvSpPr>
        <p:spPr>
          <a:xfrm>
            <a:off x="822960" y="31089600"/>
            <a:ext cx="28803600" cy="1005840"/>
          </a:xfrm>
          <a:prstGeom prst="rect">
            <a:avLst/>
          </a:prstGeom>
          <a:noFill/>
          <a:ln/>
        </p:spPr>
        <p:txBody>
          <a:bodyPr wrap="square" lIns="0" tIns="0" rIns="0" bIns="0" rtlCol="0" anchor="t"/>
          <a:lstStyle/>
          <a:p>
            <a:pPr indent="0" marL="0">
              <a:lnSpc>
                <a:spcPct val="102000"/>
              </a:lnSpc>
              <a:buNone/>
            </a:pPr>
            <a:r>
              <a:rPr lang="en-US" sz="1350" b="1" dirty="0">
                <a:solidFill>
                  <a:srgbClr val="22252B"/>
                </a:solidFill>
                <a:latin typeface="Arial" pitchFamily="34" charset="0"/>
                <a:ea typeface="Arial" pitchFamily="34" charset="-122"/>
                <a:cs typeface="Arial" pitchFamily="34" charset="-120"/>
              </a:rPr>
              <a:t>References (numbered as in the written report).  </a:t>
            </a:r>
            <a:pPr indent="0" marL="0">
              <a:lnSpc>
                <a:spcPct val="102000"/>
              </a:lnSpc>
              <a:buNone/>
            </a:pPr>
            <a:r>
              <a:rPr lang="en-US" sz="1350" dirty="0">
                <a:solidFill>
                  <a:srgbClr val="5E5B55"/>
                </a:solidFill>
                <a:latin typeface="Arial" pitchFamily="34" charset="0"/>
                <a:ea typeface="Arial" pitchFamily="34" charset="-122"/>
                <a:cs typeface="Arial" pitchFamily="34" charset="-120"/>
              </a:rPr>
              <a:t>[1] D. J. Malan. Containerizing CS50: Standardizing Students’ Programming Environments. ITiCSE 2024.   [3] S. Valstar, W. G. Griswold, L. Porter. Using DevContainers to Standardize Student Development Environments. ITiCSE 2020.   [4] K. Fernalld, T. OConnor, S. Sudhakaran, N. Nur. Lightweight Symphony: Reducing CS Student Anxiety with Standardized Docker Environments. SIGITE 2023.   [6] D. P. Harvie, J. R. Cody, C. Morrell, T. T. Estes. Using Virtual Machines to Enhance the Educational Experience. SIGITE 2019.   [8] H. Park et al. CodeDive: A Web-Based IDE with Real-Time Code Activity Monitoring. Applied Sciences 15(19), 2025.   [12] UNLV Dept. of Computer Science. Student Center: Remote Access and File Storage. tux.cs.unlv.edu, accessed Aug. 2026.</a:t>
            </a:r>
            <a:endParaRPr lang="en-US" sz="1350" dirty="0"/>
          </a:p>
        </p:txBody>
      </p:sp>
      <p:sp>
        <p:nvSpPr>
          <p:cNvPr id="80" name="Text 75"/>
          <p:cNvSpPr txBox="1"/>
          <p:nvPr/>
        </p:nvSpPr>
        <p:spPr>
          <a:xfrm>
            <a:off x="30266640" y="31089600"/>
            <a:ext cx="12801600" cy="1005840"/>
          </a:xfrm>
          <a:prstGeom prst="rect">
            <a:avLst/>
          </a:prstGeom>
          <a:noFill/>
          <a:ln/>
        </p:spPr>
        <p:txBody>
          <a:bodyPr wrap="square" lIns="0" tIns="0" rIns="0" bIns="0" rtlCol="0" anchor="t"/>
          <a:lstStyle/>
          <a:p>
            <a:pPr indent="0" marL="0">
              <a:lnSpc>
                <a:spcPct val="102000"/>
              </a:lnSpc>
              <a:buNone/>
            </a:pPr>
            <a:r>
              <a:rPr lang="en-US" sz="1350" i="1" dirty="0">
                <a:solidFill>
                  <a:srgbClr val="5E5B55"/>
                </a:solidFill>
                <a:latin typeface="Arial" pitchFamily="34" charset="0"/>
                <a:ea typeface="Arial" pitchFamily="34" charset="-122"/>
                <a:cs typeface="Arial" pitchFamily="34" charset="-120"/>
              </a:rPr>
              <a:t>Supported by the UNLV Office of Undergraduate Research Summer Undergraduate Research Fellowship. Every number on this poster comes from the published test script’s output files, archived in the repository under tests/record-results.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2026-09-28T22:43:52Z</dcterms:created>
  <dcterms:modified xsi:type="dcterms:W3CDTF">2026-09-28T22:43:52Z</dcterms:modified>
</cp:coreProperties>
</file>