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43891200" cy="32918400"/>
  <p:notesSz cx="32918400" cy="438912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2200" b="0" i="0" u="none" strike="noStrike">
                <a:solidFill>
                  <a:srgbClr val="22252B"/>
                </a:solidFill>
                <a:latin typeface="Arial"/>
              </a:defRPr>
            </a:pPr>
            <a:r>
              <a:rPr sz="2200" b="0" i="0" u="none" strike="noStrike">
                <a:solidFill>
                  <a:srgbClr val="22252B"/>
                </a:solidFill>
                <a:latin typeface="Arial"/>
              </a:rPr>
              <a:t>Build time of real CS 218 assignments (seconds, lower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Linux amd64, native (cell 1)</c:v>
                </c:pt>
              </c:strCache>
            </c:strRef>
          </c:tx>
          <c:spPr>
            <a:solidFill>
              <a:srgbClr val="1F5FB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225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ast3</c:v>
                  </c:pt>
                  <c:pt idx="1">
                    <c:v>ast04</c:v>
                  </c:pt>
                  <c:pt idx="2">
                    <c:v>ast06</c:v>
                  </c:pt>
                  <c:pt idx="3">
                    <c:v>ast12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0.2</c:v>
                </c:pt>
                <c:pt idx="3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Windows 11, native (cell 3)</c:v>
                </c:pt>
              </c:strCache>
            </c:strRef>
          </c:tx>
          <c:spPr>
            <a:solidFill>
              <a:srgbClr val="6FA8E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225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ast3</c:v>
                  </c:pt>
                  <c:pt idx="1">
                    <c:v>ast04</c:v>
                  </c:pt>
                  <c:pt idx="2">
                    <c:v>ast06</c:v>
                  </c:pt>
                  <c:pt idx="3">
                    <c:v>ast12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</c:v>
                </c:pt>
                <c:pt idx="1">
                  <c:v>0.2</c:v>
                </c:pt>
                <c:pt idx="2">
                  <c:v>0.5</c:v>
                </c:pt>
                <c:pt idx="3">
                  <c:v>0.6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Linux arm64, QEMU emulated (cell 2)</c:v>
                </c:pt>
              </c:strCache>
            </c:strRef>
          </c:tx>
          <c:spPr>
            <a:solidFill>
              <a:srgbClr val="B1020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225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ast3</c:v>
                  </c:pt>
                  <c:pt idx="1">
                    <c:v>ast04</c:v>
                  </c:pt>
                  <c:pt idx="2">
                    <c:v>ast06</c:v>
                  </c:pt>
                  <c:pt idx="3">
                    <c:v>ast12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0.3</c:v>
                </c:pt>
                <c:pt idx="1">
                  <c:v>0.3</c:v>
                </c:pt>
                <c:pt idx="2">
                  <c:v>2.8</c:v>
                </c:pt>
                <c:pt idx="3">
                  <c:v>3.6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macOS M1 Pro, emulated (cell 4)</c:v>
                </c:pt>
              </c:strCache>
            </c:strRef>
          </c:tx>
          <c:spPr>
            <a:solidFill>
              <a:srgbClr val="E8776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225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ast3</c:v>
                  </c:pt>
                  <c:pt idx="1">
                    <c:v>ast04</c:v>
                  </c:pt>
                  <c:pt idx="2">
                    <c:v>ast06</c:v>
                  </c:pt>
                  <c:pt idx="3">
                    <c:v>ast12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0.4</c:v>
                </c:pt>
                <c:pt idx="1">
                  <c:v>0.4</c:v>
                </c:pt>
                <c:pt idx="2">
                  <c:v>2.5</c:v>
                </c:pt>
                <c:pt idx="3">
                  <c:v>3.1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2225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2225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0"/>
        <c:axPos val="l"/>
        <c:majorGridlines>
          <c:spPr>
            <a:ln w="12700" cap="flat">
              <a:solidFill>
                <a:srgbClr val="D9D6C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E5B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2252B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0" cy="4754880"/>
          </a:xfrm>
          <a:prstGeom prst="rect">
            <a:avLst/>
          </a:prstGeom>
          <a:solidFill>
            <a:srgbClr val="B10202"/>
          </a:solidFill>
          <a:ln w="12700">
            <a:solidFill>
              <a:srgbClr val="B1020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0" y="411480"/>
            <a:ext cx="3108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Student Gets the Same Classroom</a:t>
            </a:r>
            <a:endParaRPr lang="en-US" sz="84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1965960"/>
            <a:ext cx="3108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Decentralized, browser-based Docker IDEs for C++ and x86-64 assembly at UNLV, measured on the machines students actually own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3337560"/>
            <a:ext cx="3657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Sean Cuenco</a:t>
            </a:r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Faculty Mentor: James Andro-Vasko, Ph.D.  ·  Department of Computer Science, University of Nevada, Las Vegas  ·  Office of Undergraduate Research SURF 2026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33375600" y="640080"/>
            <a:ext cx="9418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github.com/seancnc003/UNLVDockerIDEs</a:t>
            </a:r>
            <a:endParaRPr lang="en-US" sz="2200" dirty="0"/>
          </a:p>
          <a:p>
            <a:pPr algn="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hub.docker.com/r/seancnc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5394960"/>
            <a:ext cx="1335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102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6355080"/>
            <a:ext cx="13350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2400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systems course loses its first week to installing a compiler, an assembler, a debugger, and an editor on dozens of different laptops. Prior work measured 75–100 min of class time and 65–90 min of instructor time per semester lost to installation [6], and support traffic dominated by environment mismatch rather than course content [3]. Students with M1/M2 Macs often cannot run the x86 virtual machines their courses assume at all [4].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9006840"/>
            <a:ext cx="1335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102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UNLV followed the same arc, one stage behind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914400" y="10131552"/>
            <a:ext cx="502920" cy="502920"/>
          </a:xfrm>
          <a:prstGeom prst="ellipse">
            <a:avLst/>
          </a:prstGeom>
          <a:solidFill>
            <a:srgbClr val="5E5B55"/>
          </a:solidFill>
          <a:ln w="12700">
            <a:solidFill>
              <a:srgbClr val="5E5B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61288" y="10652760"/>
            <a:ext cx="0" cy="1188720"/>
          </a:xfrm>
          <a:prstGeom prst="line">
            <a:avLst/>
          </a:prstGeom>
          <a:noFill/>
          <a:ln w="50800">
            <a:solidFill>
              <a:srgbClr val="D9D6C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91640" y="9966960"/>
            <a:ext cx="1257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login servers (SSH / PuTTY)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691640" y="10680192"/>
            <a:ext cx="12573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bobby · sally · cardiac, a submit script that required logging in even from lab machines. Decommissioned; the wiki that documented them was deleted in 2025.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14400" y="11960352"/>
            <a:ext cx="502920" cy="502920"/>
          </a:xfrm>
          <a:prstGeom prst="ellipse">
            <a:avLst/>
          </a:prstGeom>
          <a:solidFill>
            <a:srgbClr val="5E5B55"/>
          </a:solidFill>
          <a:ln w="12700">
            <a:solidFill>
              <a:srgbClr val="5E5B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61288" y="12481560"/>
            <a:ext cx="0" cy="1188720"/>
          </a:xfrm>
          <a:prstGeom prst="line">
            <a:avLst/>
          </a:prstGeom>
          <a:noFill/>
          <a:ln w="50800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91640" y="11795760"/>
            <a:ext cx="1257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machines, per course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12508992"/>
            <a:ext cx="12573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218 today: a VirtualBox .ova for Intel and an experimental Fall-2023 UTM image for Apple Silicon so slow the course warns VS Code “may not be usable.” Primary M1/M2 advice: go to the TBE-A311 lab with a USB drive.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14400" y="13789152"/>
            <a:ext cx="502920" cy="502920"/>
          </a:xfrm>
          <a:prstGeom prst="ellipse">
            <a:avLst/>
          </a:prstGeom>
          <a:solidFill>
            <a:srgbClr val="B10202"/>
          </a:solidFill>
          <a:ln w="12700">
            <a:solidFill>
              <a:srgbClr val="B1020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91640" y="13624560"/>
            <a:ext cx="1257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102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containers (this project)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14337792"/>
            <a:ext cx="12573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552 MB image, one command, VS Code in a browser tab. Files stay in a normal folder on the student’s disk. No server, no account, no VPN, offline after the first pull.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15636240"/>
            <a:ext cx="1335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102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sits in the design space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16596360"/>
            <a:ext cx="1335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Harvard CS50 [1, 2]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17126712"/>
            <a:ext cx="13350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→ cloud VMs → client-side appliance VM → Docker on GitHub Codespaces (700,000+ users). Browser VS Code, but the container runs on GitHub: account, network, provider dependence; students leave “not sure how to set up an IDE on my computer.”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18470880"/>
            <a:ext cx="1335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CodeDive, South Korea [8]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19001232"/>
            <a:ext cx="13350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VS Code in per-student containers on a Kubernetes cluster, with kernel-level process tracing and a code snapshot after every 1 s typing pause (24,845 snapshots from 95 students in two weeks). Visibility for instructors, at the cost of telemetry and a GDPR/FERPA framework the authors have not yet built.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20345400"/>
            <a:ext cx="1335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machines [5, 6, 7]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20875752"/>
            <a:ext cx="13350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Reading’s QEMU ARM emulator raised lab marks over six cohorts, but changed the course’s instruction set to keep gdb working. West Point’s server-hosted VMs halved class time lost to installs, but faculty ran the server fleet.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22219920"/>
            <a:ext cx="1335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containers [3, 4]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22750272"/>
            <a:ext cx="13350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UCSD DevContainers (71% chose them over the campus server) and Florida Tech (84% adoption, 69% less anxious). Both found the hardest step is installing Docker itself, and novices struggle most.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731520" y="23984712"/>
            <a:ext cx="13716000" cy="1828800"/>
          </a:xfrm>
          <a:prstGeom prst="roundRect">
            <a:avLst>
              <a:gd name="adj" fmla="val 7500"/>
            </a:avLst>
          </a:prstGeom>
          <a:solidFill>
            <a:srgbClr val="F5F4F0"/>
          </a:solidFill>
          <a:ln w="12700">
            <a:solidFill>
              <a:srgbClr val="F5F4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4400" y="24094440"/>
            <a:ext cx="1335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102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UNLV Docker IDEs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914400" y="24624792"/>
            <a:ext cx="13350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container + browser VS Code + host-owned files + no telemetry + AI surfaces disabled + real x86-64 ISA preserved, with the emulation boundary measured instead of ignored.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14813280" y="5394960"/>
            <a:ext cx="1408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102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4000" dirty="0"/>
          </a:p>
        </p:txBody>
      </p:sp>
      <p:sp>
        <p:nvSpPr>
          <p:cNvPr id="34" name="Text 32"/>
          <p:cNvSpPr txBox="1"/>
          <p:nvPr/>
        </p:nvSpPr>
        <p:spPr>
          <a:xfrm>
            <a:off x="14813280" y="6355080"/>
            <a:ext cx="14081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2400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Docker images built from Ubuntu 22.04 with code-server 4.126.0 (VS Code served to a browser on 127.0.0.1). CS 135: g++ 11.4, multi-arch, native on Intel and ARM. CS 218: yasm, nasm, ld, gdb 12.1, deliberately amd64-only so .asm files assemble and run as real x86-64 Linux binaries; ARM hosts run it under translation. Autosave, starter files seeded once, no restart policy, every AI feature disabled.</a:t>
            </a:r>
            <a:endParaRPr lang="en-US" sz="2400" dirty="0"/>
          </a:p>
        </p:txBody>
      </p:sp>
      <p:pic>
        <p:nvPicPr>
          <p:cNvPr id="35" name="Image 0" descr="/private/tmp/claude-501/-Users-seancuenco-Documents-UNLVDockerIDEs/cb525298-55fd-43a6-807a-d35debab5bc5/scratchpad/fig1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07840" y="8823960"/>
            <a:ext cx="9692640" cy="9219828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4813280" y="18180948"/>
            <a:ext cx="1408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5E5B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One course IDE. Everything runs on the student’s machine; the bind-mounted folder survives container and image replacement.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14813280" y="19186788"/>
            <a:ext cx="1408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102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Method: one script, four machines</a:t>
            </a:r>
            <a:endParaRPr lang="en-US" sz="4000" dirty="0"/>
          </a:p>
        </p:txBody>
      </p:sp>
      <p:sp>
        <p:nvSpPr>
          <p:cNvPr id="38" name="Text 35"/>
          <p:cNvSpPr txBox="1"/>
          <p:nvPr/>
        </p:nvSpPr>
        <p:spPr>
          <a:xfrm>
            <a:off x="14813280" y="20146908"/>
            <a:ext cx="14081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2400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published script (ci-test.sh) runs unmodified on every host and emits a JSON row; every number here comes from those files. Nine stages: timed pull and digest · cold start to healthy · starter seeding · 3× assemble-link-run · scripted gdb probe · idle memory · tool versions · build + run of four real CS 218 assignments (ast3, ast04, ast06, ast12: pure assembly through multithreaded pthread + assembly with a checkable answer) with peak memory · destroy-and-recreate to test persistence and warm start.</a:t>
            </a:r>
            <a:endParaRPr lang="en-US" sz="2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813280" y="22707228"/>
          <a:ext cx="140817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63840"/>
                <a:gridCol w="33832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Cell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5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5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x86 image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5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 Linux amd64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 m8i.large · Ubuntu 24.04 · Intel Xeon 6975P-C · 2 vCPU / 8 GB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native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 Linux arm64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 m8g.large (Graviton) · Ubuntu 24.04 · Neoverse-V2 · 2 vCPU / 8 GB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emulated (QEMU user-mode)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 Windows amd64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Azure D4s_v5 · Windows 11 Pro 24H2 · Docker Desktop + WSL2 · 4 vCPU / 16 GB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native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 macOS arm64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MacBook Pro 14″ (2021), owned · M1 Pro · 16 GB · Docker Desktop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emulated (Rosetta)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</a:tr>
            </a:tbl>
          </a:graphicData>
        </a:graphic>
      </p:graphicFrame>
      <p:sp>
        <p:nvSpPr>
          <p:cNvPr id="40" name="Text 36"/>
          <p:cNvSpPr txBox="1"/>
          <p:nvPr/>
        </p:nvSpPr>
        <p:spPr>
          <a:xfrm>
            <a:off x="14813280" y="25953348"/>
            <a:ext cx="14081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machines were provisioned by hand from written runbooks and destroyed after each run: three of the four student environments summoned for cents to about a dollar each. Cells 1 and 2 are same-size Intel/Graviton siblings, so their ratio isolates the emulation layer. Cell 4 is the base-spec M1 Pro, not the 64 GB development machine, because that is what a budget-conscious student buys.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29443680" y="5394960"/>
            <a:ext cx="1408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102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4000" dirty="0"/>
          </a:p>
        </p:txBody>
      </p:sp>
      <p:sp>
        <p:nvSpPr>
          <p:cNvPr id="42" name="Shape 38"/>
          <p:cNvSpPr/>
          <p:nvPr/>
        </p:nvSpPr>
        <p:spPr>
          <a:xfrm>
            <a:off x="29443680" y="6355080"/>
            <a:ext cx="4480560" cy="2743200"/>
          </a:xfrm>
          <a:prstGeom prst="roundRect">
            <a:avLst>
              <a:gd name="adj" fmla="val 5000"/>
            </a:avLst>
          </a:prstGeom>
          <a:solidFill>
            <a:srgbClr val="F5F4F0"/>
          </a:solidFill>
          <a:ln w="12700">
            <a:solidFill>
              <a:srgbClr val="F5F4F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29672280" y="6492240"/>
            <a:ext cx="4023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102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4</a:t>
            </a:r>
            <a:endParaRPr lang="en-US" sz="6000" dirty="0"/>
          </a:p>
        </p:txBody>
      </p:sp>
      <p:sp>
        <p:nvSpPr>
          <p:cNvPr id="44" name="Text 40"/>
          <p:cNvSpPr txBox="1"/>
          <p:nvPr/>
        </p:nvSpPr>
        <p:spPr>
          <a:xfrm>
            <a:off x="29672280" y="76352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hosts ran every CS 218 assignment correctly, incl. multithreaded ast12 under emulation</a:t>
            </a:r>
            <a:endParaRPr lang="en-US" sz="1800" dirty="0"/>
          </a:p>
        </p:txBody>
      </p:sp>
      <p:sp>
        <p:nvSpPr>
          <p:cNvPr id="45" name="Shape 41"/>
          <p:cNvSpPr/>
          <p:nvPr/>
        </p:nvSpPr>
        <p:spPr>
          <a:xfrm>
            <a:off x="34244280" y="6355080"/>
            <a:ext cx="4480560" cy="2743200"/>
          </a:xfrm>
          <a:prstGeom prst="roundRect">
            <a:avLst>
              <a:gd name="adj" fmla="val 5000"/>
            </a:avLst>
          </a:prstGeom>
          <a:solidFill>
            <a:srgbClr val="F5F4F0"/>
          </a:solidFill>
          <a:ln w="12700">
            <a:solidFill>
              <a:srgbClr val="F5F4F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4472880" y="6492240"/>
            <a:ext cx="4023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102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digest</a:t>
            </a:r>
            <a:endParaRPr lang="en-US" sz="6000" dirty="0"/>
          </a:p>
        </p:txBody>
      </p:sp>
      <p:sp>
        <p:nvSpPr>
          <p:cNvPr id="47" name="Text 43"/>
          <p:cNvSpPr txBox="1"/>
          <p:nvPr/>
        </p:nvSpPr>
        <p:spPr>
          <a:xfrm>
            <a:off x="34472880" y="76352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552 MB image, byte for byte, on Linux, Windows, and macOS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39044880" y="6355080"/>
            <a:ext cx="4480560" cy="2743200"/>
          </a:xfrm>
          <a:prstGeom prst="roundRect">
            <a:avLst>
              <a:gd name="adj" fmla="val 5000"/>
            </a:avLst>
          </a:prstGeom>
          <a:solidFill>
            <a:srgbClr val="F5F4F0"/>
          </a:solidFill>
          <a:ln w="12700">
            <a:solidFill>
              <a:srgbClr val="F5F4F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39273480" y="6492240"/>
            <a:ext cx="4023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102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 s</a:t>
            </a:r>
            <a:endParaRPr lang="en-US" sz="6000" dirty="0"/>
          </a:p>
        </p:txBody>
      </p:sp>
      <p:sp>
        <p:nvSpPr>
          <p:cNvPr id="50" name="Text 46"/>
          <p:cNvSpPr txBox="1"/>
          <p:nvPr/>
        </p:nvSpPr>
        <p:spPr>
          <a:xfrm>
            <a:off x="39273480" y="76352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 ready on native hosts; 5–7 s under emulation; 54 MiB idle native</a:t>
            </a:r>
            <a:endParaRPr lang="en-US" sz="180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29443680" y="9372600"/>
          <a:ext cx="14081760" cy="5669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2" name="Text 47"/>
          <p:cNvSpPr txBox="1"/>
          <p:nvPr/>
        </p:nvSpPr>
        <p:spPr>
          <a:xfrm>
            <a:off x="29443680" y="15133320"/>
            <a:ext cx="1408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Emulation costs roughly one order of magnitude on compile-heavy steps (ast06: 14× on QEMU, 12.5× on Docker Desktop; ast12: 12× and 10×), yet every emulated build finished in under 4 s. Peak memory during coursework: 90 MiB native, 334–358 MiB emulated, a small slice of an 8 GB laptop.</a:t>
            </a:r>
            <a:endParaRPr lang="en-US" sz="2000" dirty="0"/>
          </a:p>
        </p:txBody>
      </p:sp>
      <p:sp>
        <p:nvSpPr>
          <p:cNvPr id="53" name="Text 48"/>
          <p:cNvSpPr txBox="1"/>
          <p:nvPr/>
        </p:nvSpPr>
        <p:spPr>
          <a:xfrm>
            <a:off x="29443680" y="17007840"/>
            <a:ext cx="1408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102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runs on, and where it stops</a:t>
            </a:r>
            <a:endParaRPr lang="en-US" sz="40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443680" y="18013680"/>
          <a:ext cx="140817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108960"/>
                <a:gridCol w="2011680"/>
                <a:gridCol w="56692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5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Assemble / run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5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gdb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5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5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Windows or Linux on Intel / AMD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cells 1, 3: 13/13 checks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Apple Silicon Mac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broken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cell 4: 12/12, gdb probe silent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ARM Linux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 with Docker’s binfmt handler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broken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cell 2: stock QEMU 8.2.2 crashed (SIGSEGV in the editor’s JIT), reproduced; passed 12/12 after switching handler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5E5B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Windows on ARM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E5B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expected like cell 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E5B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expected broken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E5B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untestable in any cloud: no nested virtualization on ARM VMs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4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5E5B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Mac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E5B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expected native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E5B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expected works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E5B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untested; no hardware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Text 49"/>
          <p:cNvSpPr txBox="1"/>
          <p:nvPr/>
        </p:nvSpPr>
        <p:spPr>
          <a:xfrm>
            <a:off x="29443680" y="21918168"/>
            <a:ext cx="14081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B102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boundary is a translator boundary, not an OS boundary. </a:t>
            </a:r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image runs wherever the layer hosting Docker’s Linux environment needs no translation or receives a Rosetta-class one. Under translation a gdb script still “succeeds” and writes its file, but with labels and no register values, so the handouts tell students to produce debugger deliverables on a native x86 machine.</a:t>
            </a:r>
            <a:endParaRPr lang="en-US" sz="2000" dirty="0"/>
          </a:p>
        </p:txBody>
      </p:sp>
      <p:sp>
        <p:nvSpPr>
          <p:cNvPr id="56" name="Shape 50"/>
          <p:cNvSpPr/>
          <p:nvPr/>
        </p:nvSpPr>
        <p:spPr>
          <a:xfrm>
            <a:off x="914400" y="27934920"/>
            <a:ext cx="42062400" cy="0"/>
          </a:xfrm>
          <a:prstGeom prst="line">
            <a:avLst/>
          </a:prstGeom>
          <a:noFill/>
          <a:ln w="38100">
            <a:solidFill>
              <a:srgbClr val="D9D6CF"/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914400" y="28254960"/>
            <a:ext cx="2798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102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4000" dirty="0"/>
          </a:p>
        </p:txBody>
      </p:sp>
      <p:sp>
        <p:nvSpPr>
          <p:cNvPr id="58" name="Text 52"/>
          <p:cNvSpPr txBox="1"/>
          <p:nvPr/>
        </p:nvSpPr>
        <p:spPr>
          <a:xfrm>
            <a:off x="914400" y="29215080"/>
            <a:ext cx="2761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55600" indent="-3556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2100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 study in CS 218 and CS 135 (IRB): setup-success funnel, staff minutes, forum traffic, pre/mid/post anxiety and setup-difficulty items adapted from [3, 4, 6]. A pilot in a 3-student high-school class ran without metrics.</a:t>
            </a:r>
            <a:endParaRPr lang="en-US" sz="2100" dirty="0"/>
          </a:p>
          <a:p>
            <a:pPr marL="355600" indent="-3556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2100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arm64 assembly image: editor and toolchain native on ARM, x86 cross-assembler emits real x86-64 binaries, translator runs only student programs, gdb via QEMU’s built-in stub. One variant covers ARM Linux and Windows-on-ARM.</a:t>
            </a:r>
            <a:endParaRPr lang="en-US" sz="2100" dirty="0"/>
          </a:p>
          <a:p>
            <a:pPr marL="355600" indent="-355600">
              <a:lnSpc>
                <a:spcPct val="102000"/>
              </a:lnSpc>
              <a:buSzPct val="100000"/>
              <a:buChar char="•"/>
            </a:pPr>
            <a:r>
              <a:rPr lang="en-US" sz="2100" dirty="0">
                <a:solidFill>
                  <a:srgbClr val="222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the two untested cells with physical hardware; reuse the one-script, cloud-rented matrix for other courses (e.g., CS 370).</a:t>
            </a:r>
            <a:endParaRPr lang="en-US" sz="2100" dirty="0"/>
          </a:p>
        </p:txBody>
      </p:sp>
      <p:sp>
        <p:nvSpPr>
          <p:cNvPr id="59" name="Text 53"/>
          <p:cNvSpPr txBox="1"/>
          <p:nvPr/>
        </p:nvSpPr>
        <p:spPr>
          <a:xfrm>
            <a:off x="29443680" y="28254960"/>
            <a:ext cx="1408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102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4000" dirty="0"/>
          </a:p>
        </p:txBody>
      </p:sp>
      <p:sp>
        <p:nvSpPr>
          <p:cNvPr id="60" name="Text 54"/>
          <p:cNvSpPr txBox="1"/>
          <p:nvPr/>
        </p:nvSpPr>
        <p:spPr>
          <a:xfrm>
            <a:off x="29443680" y="29215080"/>
            <a:ext cx="14081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5E5B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Malan. Containerizing CS50. ITiCSE 2024.</a:t>
            </a:r>
            <a:endParaRPr lang="en-US" sz="1400" dirty="0"/>
          </a:p>
          <a:p>
            <a:pPr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5E5B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Malan. From Cluster to Cloud to Appliance. ITiCSE 2013.</a:t>
            </a:r>
            <a:endParaRPr lang="en-US" sz="1400" dirty="0"/>
          </a:p>
          <a:p>
            <a:pPr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5E5B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Valstar, Griswold, Porter. Using DevContainers to Standardize Student Development Environments. ITiCSE 2020.</a:t>
            </a:r>
            <a:endParaRPr lang="en-US" sz="1400" dirty="0"/>
          </a:p>
          <a:p>
            <a:pPr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5E5B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 Fernalld, OConnor, Sudhakaran, Nur. Lightweight Symphony. SIGITE 2023.</a:t>
            </a:r>
            <a:endParaRPr lang="en-US" sz="1400" dirty="0"/>
          </a:p>
          <a:p>
            <a:pPr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5E5B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 Cadenas et al. Virtualization for Cost-Effective Teaching of Assembly Language Programming. IEEE Trans. Educ. 2015.</a:t>
            </a:r>
            <a:endParaRPr lang="en-US" sz="1400" dirty="0"/>
          </a:p>
          <a:p>
            <a:pPr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5E5B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 Harvie, Cody, Morrell, Estes. Using Virtual Machines to Enhance the Educational Experience. SIGITE 2019.</a:t>
            </a:r>
            <a:endParaRPr lang="en-US" sz="1400" dirty="0"/>
          </a:p>
          <a:p>
            <a:pPr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5E5B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[7] Laadan, Nieh, Viennot. Teaching OS Using Virtual Appliances. SIGCSE 2010.</a:t>
            </a:r>
            <a:endParaRPr lang="en-US" sz="1400" dirty="0"/>
          </a:p>
          <a:p>
            <a:pPr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5E5B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[8] Park et al. CodeDive: A Web-Based IDE with Real-Time Code Activity Monitoring. Applied Sciences 2025.</a:t>
            </a:r>
            <a:endParaRPr lang="en-US" sz="1400" dirty="0"/>
          </a:p>
        </p:txBody>
      </p:sp>
      <p:sp>
        <p:nvSpPr>
          <p:cNvPr id="61" name="Text 55"/>
          <p:cNvSpPr txBox="1"/>
          <p:nvPr/>
        </p:nvSpPr>
        <p:spPr>
          <a:xfrm>
            <a:off x="29443680" y="32278320"/>
            <a:ext cx="1408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E5B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by the UNLV Office of Undergraduate Research Summer Undergraduate Research Fellowship. Raw record-run JSONs, transcripts, and diagnostics are archived in the repository (tests/record-results).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2026-09-28T03:05:12Z</dcterms:created>
  <dcterms:modified xsi:type="dcterms:W3CDTF">2026-09-28T03:05:12Z</dcterms:modified>
</cp:coreProperties>
</file>