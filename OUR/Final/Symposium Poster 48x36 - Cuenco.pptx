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43891200" cy="32918400"/>
  <p:notesSz cx="329184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2100" b="0" i="0" u="none" strike="noStrike">
                <a:solidFill>
                  <a:srgbClr val="22252B"/>
                </a:solidFill>
                <a:latin typeface="Arial"/>
              </a:defRPr>
            </a:pPr>
            <a:r>
              <a:rPr sz="2100" b="0" i="0" u="none" strike="noStrike">
                <a:solidFill>
                  <a:srgbClr val="22252B"/>
                </a:solidFill>
                <a:latin typeface="Arial"/>
              </a:rPr>
              <a:t>Seconds until the editor is ready (a course VM takes minutes)</a:t>
            </a:r>
          </a:p>
        </c:rich>
      </c:tx>
      <c:layout/>
      <c:overlay val="0"/>
    </c:title>
    <c:autoTitleDeleted val="0"/>
    <c:plotArea>
      <c:layout/>
      <c:barChart>
        <c:barDir val="bar"/>
        <c:grouping val="clustered"/>
        <c:varyColors val="0"/>
        <c:ser>
          <c:idx val="0"/>
          <c:order val="0"/>
          <c:tx>
            <c:strRef>
              <c:f>Sheet1!$B$1</c:f>
              <c:strCache>
                <c:ptCount val="1"/>
                <c:pt idx="0">
                  <c:v>Seconds until the editor is ready</c:v>
                </c:pt>
              </c:strCache>
            </c:strRef>
          </c:tx>
          <c:spPr>
            <a:solidFill>
              <a:srgbClr val="1F5FB0"/>
            </a:solidFill>
            <a:effectLst/>
          </c:spPr>
          <c:invertIfNegative val="0"/>
          <c:dLbls>
            <c:numFmt formatCode="0.0" sourceLinked="0"/>
            <c:txPr>
              <a:bodyPr/>
              <a:lstStyle/>
              <a:p>
                <a:pPr>
                  <a:defRPr b="0" i="0" strike="noStrike" sz="1600" u="none">
                    <a:solidFill>
                      <a:srgbClr val="22252B"/>
                    </a:solidFill>
                    <a:latin typeface="Arial"/>
                  </a:defRPr>
                </a:pPr>
              </a:p>
            </c:txPr>
            <c:showLegendKey val="0"/>
            <c:showVal val="1"/>
            <c:showCatName val="0"/>
            <c:showSerName val="0"/>
            <c:showPercent val="0"/>
            <c:showBubbleSize val="0"/>
            <c:showLeaderLines val="0"/>
          </c:dLbls>
          <c:cat>
            <c:multiLvlStrRef>
              <c:f>Sheet1!$A$2:$A$5</c:f>
              <c:multiLvlStrCache>
                <c:ptCount val="4"/>
                <c:lvl>
                  <c:pt idx="0">
                    <c:v>Linux on ARM</c:v>
                  </c:pt>
                  <c:pt idx="1">
                    <c:v>Apple Silicon Mac</c:v>
                  </c:pt>
                  <c:pt idx="2">
                    <c:v>Linux PC</c:v>
                  </c:pt>
                  <c:pt idx="3">
                    <c:v>Windows 11 PC</c:v>
                  </c:pt>
                </c:lvl>
              </c:multiLvlStrCache>
            </c:multiLvlStrRef>
          </c:cat>
          <c:val>
            <c:numRef>
              <c:f>Sheet1!$B$2:$B$5</c:f>
              <c:numCache>
                <c:formatCode>General</c:formatCode>
                <c:ptCount val="4"/>
                <c:pt idx="0">
                  <c:v>6.7</c:v>
                </c:pt>
                <c:pt idx="1">
                  <c:v>4.8</c:v>
                </c:pt>
                <c:pt idx="2">
                  <c:v>0.5</c:v>
                </c:pt>
                <c:pt idx="3">
                  <c:v>0.6</c:v>
                </c:pt>
              </c:numCache>
            </c:numRef>
          </c:val>
        </c:ser>
        <c:dLbls>
          <c:numFmt formatCode="0.0" sourceLinked="0"/>
          <c:txPr>
            <a:bodyPr/>
            <a:lstStyle/>
            <a:p>
              <a:pPr>
                <a:defRPr b="0" i="0" strike="noStrike" sz="1600" u="none">
                  <a:solidFill>
                    <a:srgbClr val="22252B"/>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700" b="0" i="0" u="none" strike="noStrike">
                <a:solidFill>
                  <a:srgbClr val="22252B"/>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12700" cap="flat">
              <a:solidFill>
                <a:srgbClr val="D9D6CF"/>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400" b="0" i="0" u="none" strike="noStrike">
                <a:solidFill>
                  <a:srgbClr val="5E5B55"/>
                </a:solidFill>
                <a:latin typeface="Arial"/>
              </a:defRPr>
            </a:pPr>
            <a:endParaRPr lang="en-US"/>
          </a:p>
        </c:txPr>
        <c:crossAx val="2094734554"/>
        <c:crosses val="autoZero"/>
        <c:crossBetween val="between"/>
        <c:majorUnit val="2"/>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3891200" cy="4754880"/>
          </a:xfrm>
          <a:prstGeom prst="rect">
            <a:avLst/>
          </a:prstGeom>
          <a:solidFill>
            <a:srgbClr val="B10202"/>
          </a:solidFill>
          <a:ln w="12700">
            <a:solidFill>
              <a:srgbClr val="B10202"/>
            </a:solidFill>
            <a:prstDash val="solid"/>
          </a:ln>
        </p:spPr>
      </p:sp>
      <p:sp>
        <p:nvSpPr>
          <p:cNvPr id="3" name="Text 1"/>
          <p:cNvSpPr txBox="1"/>
          <p:nvPr/>
        </p:nvSpPr>
        <p:spPr>
          <a:xfrm>
            <a:off x="1097280" y="411480"/>
            <a:ext cx="31089600" cy="1463040"/>
          </a:xfrm>
          <a:prstGeom prst="rect">
            <a:avLst/>
          </a:prstGeom>
          <a:noFill/>
          <a:ln/>
        </p:spPr>
        <p:txBody>
          <a:bodyPr wrap="square" lIns="0" tIns="0" rIns="0" bIns="0" rtlCol="0" anchor="ctr"/>
          <a:lstStyle/>
          <a:p>
            <a:pPr indent="0" marL="0">
              <a:buNone/>
            </a:pPr>
            <a:r>
              <a:rPr lang="en-US" sz="8400" b="1" dirty="0">
                <a:solidFill>
                  <a:srgbClr val="FFFFFF"/>
                </a:solidFill>
                <a:latin typeface="Arial" pitchFamily="34" charset="0"/>
                <a:ea typeface="Arial" pitchFamily="34" charset="-122"/>
                <a:cs typeface="Arial" pitchFamily="34" charset="-120"/>
              </a:rPr>
              <a:t>Every Student Gets the Same Classroom</a:t>
            </a:r>
            <a:endParaRPr lang="en-US" sz="8400" dirty="0"/>
          </a:p>
        </p:txBody>
      </p:sp>
      <p:sp>
        <p:nvSpPr>
          <p:cNvPr id="4" name="Text 2"/>
          <p:cNvSpPr txBox="1"/>
          <p:nvPr/>
        </p:nvSpPr>
        <p:spPr>
          <a:xfrm>
            <a:off x="1097280" y="1965960"/>
            <a:ext cx="32918400" cy="1188720"/>
          </a:xfrm>
          <a:prstGeom prst="rect">
            <a:avLst/>
          </a:prstGeom>
          <a:noFill/>
          <a:ln/>
        </p:spPr>
        <p:txBody>
          <a:bodyPr wrap="square" lIns="0" tIns="0" rIns="0" bIns="0" rtlCol="0" anchor="ctr"/>
          <a:lstStyle/>
          <a:p>
            <a:pPr indent="0" marL="0">
              <a:buNone/>
            </a:pPr>
            <a:r>
              <a:rPr lang="en-US" sz="3200" dirty="0">
                <a:solidFill>
                  <a:srgbClr val="FFFFFF"/>
                </a:solidFill>
                <a:latin typeface="Arial" pitchFamily="34" charset="0"/>
                <a:ea typeface="Arial" pitchFamily="34" charset="-122"/>
                <a:cs typeface="Arial" pitchFamily="34" charset="-120"/>
              </a:rPr>
              <a:t>Does the same programming environment run on every student’s laptop? Browser-based Docker IDEs for UNLV’s C++ and x86-64 assembly courses, tested on the operating systems and processors students own</a:t>
            </a:r>
            <a:endParaRPr lang="en-US" sz="3200" dirty="0"/>
          </a:p>
        </p:txBody>
      </p:sp>
      <p:sp>
        <p:nvSpPr>
          <p:cNvPr id="5" name="Text 3"/>
          <p:cNvSpPr txBox="1"/>
          <p:nvPr/>
        </p:nvSpPr>
        <p:spPr>
          <a:xfrm>
            <a:off x="1097280" y="3337560"/>
            <a:ext cx="36576000" cy="9144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Sean Cuenco</a:t>
            </a:r>
            <a:pPr indent="0" marL="0">
              <a:buNone/>
            </a:pPr>
            <a:r>
              <a:rPr lang="en-US" sz="2600" dirty="0">
                <a:solidFill>
                  <a:srgbClr val="FFFFFF"/>
                </a:solidFill>
                <a:latin typeface="Arial" pitchFamily="34" charset="0"/>
                <a:ea typeface="Arial" pitchFamily="34" charset="-122"/>
                <a:cs typeface="Arial" pitchFamily="34" charset="-120"/>
              </a:rPr>
              <a:t>  ·  Faculty Mentor: James Andro-Vasko, Ph.D.  ·  Department of Computer Science, University of Nevada, Las Vegas  ·  Office of Undergraduate Research SURF 2026</a:t>
            </a:r>
            <a:endParaRPr lang="en-US" sz="2600" dirty="0"/>
          </a:p>
        </p:txBody>
      </p:sp>
      <p:sp>
        <p:nvSpPr>
          <p:cNvPr id="6" name="Text 4"/>
          <p:cNvSpPr txBox="1"/>
          <p:nvPr/>
        </p:nvSpPr>
        <p:spPr>
          <a:xfrm>
            <a:off x="33375600" y="640080"/>
            <a:ext cx="9418320" cy="1737360"/>
          </a:xfrm>
          <a:prstGeom prst="rect">
            <a:avLst/>
          </a:prstGeom>
          <a:noFill/>
          <a:ln/>
        </p:spPr>
        <p:txBody>
          <a:bodyPr wrap="square" lIns="0" tIns="0" rIns="0" bIns="0" rtlCol="0" anchor="t"/>
          <a:lstStyle/>
          <a:p>
            <a:pPr algn="r" indent="0" marL="0">
              <a:buNone/>
            </a:pPr>
            <a:r>
              <a:rPr lang="en-US" sz="2200" dirty="0">
                <a:solidFill>
                  <a:srgbClr val="FFFFFF"/>
                </a:solidFill>
                <a:latin typeface="Courier New" pitchFamily="34" charset="0"/>
                <a:ea typeface="Courier New" pitchFamily="34" charset="-122"/>
                <a:cs typeface="Courier New" pitchFamily="34" charset="-120"/>
              </a:rPr>
              <a:t>github.com/seancnc003/UNLVDockerIDEs</a:t>
            </a:r>
            <a:endParaRPr lang="en-US" sz="2200" dirty="0"/>
          </a:p>
          <a:p>
            <a:pPr algn="r" indent="0" marL="0">
              <a:buNone/>
            </a:pPr>
            <a:r>
              <a:rPr lang="en-US" sz="2200" dirty="0">
                <a:solidFill>
                  <a:srgbClr val="FFFFFF"/>
                </a:solidFill>
                <a:latin typeface="Courier New" pitchFamily="34" charset="0"/>
                <a:ea typeface="Courier New" pitchFamily="34" charset="-122"/>
                <a:cs typeface="Courier New" pitchFamily="34" charset="-120"/>
              </a:rPr>
              <a:t>hub.docker.com/r/seancnc</a:t>
            </a:r>
            <a:endParaRPr lang="en-US" sz="2200" dirty="0"/>
          </a:p>
        </p:txBody>
      </p:sp>
      <p:sp>
        <p:nvSpPr>
          <p:cNvPr id="7" name="Text 5"/>
          <p:cNvSpPr txBox="1"/>
          <p:nvPr/>
        </p:nvSpPr>
        <p:spPr>
          <a:xfrm>
            <a:off x="914400" y="5394960"/>
            <a:ext cx="13350240" cy="822960"/>
          </a:xfrm>
          <a:prstGeom prst="rect">
            <a:avLst/>
          </a:prstGeom>
          <a:noFill/>
          <a:ln/>
        </p:spPr>
        <p:txBody>
          <a:bodyPr wrap="square" lIns="0" tIns="0" rIns="0" bIns="0" rtlCol="0" anchor="ctr"/>
          <a:lstStyle/>
          <a:p>
            <a:pPr indent="0" marL="0">
              <a:buNone/>
            </a:pPr>
            <a:r>
              <a:rPr lang="en-US" sz="4000" b="1" dirty="0">
                <a:solidFill>
                  <a:srgbClr val="B10202"/>
                </a:solidFill>
                <a:latin typeface="Arial" pitchFamily="34" charset="0"/>
                <a:ea typeface="Arial" pitchFamily="34" charset="-122"/>
                <a:cs typeface="Arial" pitchFamily="34" charset="-120"/>
              </a:rPr>
              <a:t>The problem: week one is lost to setup</a:t>
            </a:r>
            <a:endParaRPr lang="en-US" sz="4000" dirty="0"/>
          </a:p>
        </p:txBody>
      </p:sp>
      <p:sp>
        <p:nvSpPr>
          <p:cNvPr id="8" name="Text 6"/>
          <p:cNvSpPr txBox="1"/>
          <p:nvPr/>
        </p:nvSpPr>
        <p:spPr>
          <a:xfrm>
            <a:off x="914400" y="6355080"/>
            <a:ext cx="13350240" cy="3566160"/>
          </a:xfrm>
          <a:prstGeom prst="rect">
            <a:avLst/>
          </a:prstGeom>
          <a:noFill/>
          <a:ln/>
        </p:spPr>
        <p:txBody>
          <a:bodyPr wrap="square" lIns="0" tIns="0" rIns="0" bIns="0" rtlCol="0" anchor="t"/>
          <a:lstStyle/>
          <a:p>
            <a:pPr indent="0" marL="0">
              <a:lnSpc>
                <a:spcPct val="104000"/>
              </a:lnSpc>
              <a:spcAft>
                <a:spcPts val="600"/>
              </a:spcAft>
              <a:buNone/>
            </a:pPr>
            <a:r>
              <a:rPr lang="en-US" sz="2400" dirty="0">
                <a:solidFill>
                  <a:srgbClr val="22252B"/>
                </a:solidFill>
                <a:latin typeface="Arial" pitchFamily="34" charset="0"/>
                <a:ea typeface="Arial" pitchFamily="34" charset="-122"/>
                <a:cs typeface="Arial" pitchFamily="34" charset="-120"/>
              </a:rPr>
              <a:t>Every systems course starts the same way: a compiler, an assembler, a debugger, and an editor have to work on dozens of different laptops before anyone learns anything. Prior studies measured 75–100 minutes of class time per semester lost to installs [6], support traffic dominated by “it works on my machine” [3], and students with Apple Silicon Macs unable to run the course’s virtual machine at all [4]. At UNLV this touches several hundred CS 135 and CS 218 students every year.</a:t>
            </a:r>
            <a:endParaRPr lang="en-US" sz="2400" dirty="0"/>
          </a:p>
        </p:txBody>
      </p:sp>
      <p:sp>
        <p:nvSpPr>
          <p:cNvPr id="9" name="Text 7"/>
          <p:cNvSpPr txBox="1"/>
          <p:nvPr/>
        </p:nvSpPr>
        <p:spPr>
          <a:xfrm>
            <a:off x="914400" y="10012680"/>
            <a:ext cx="13350240" cy="822960"/>
          </a:xfrm>
          <a:prstGeom prst="rect">
            <a:avLst/>
          </a:prstGeom>
          <a:noFill/>
          <a:ln/>
        </p:spPr>
        <p:txBody>
          <a:bodyPr wrap="square" lIns="0" tIns="0" rIns="0" bIns="0" rtlCol="0" anchor="ctr"/>
          <a:lstStyle/>
          <a:p>
            <a:pPr indent="0" marL="0">
              <a:buNone/>
            </a:pPr>
            <a:r>
              <a:rPr lang="en-US" sz="4000" b="1" dirty="0">
                <a:solidFill>
                  <a:srgbClr val="B10202"/>
                </a:solidFill>
                <a:latin typeface="Arial" pitchFamily="34" charset="0"/>
                <a:ea typeface="Arial" pitchFamily="34" charset="-122"/>
                <a:cs typeface="Arial" pitchFamily="34" charset="-120"/>
              </a:rPr>
              <a:t>UNLV followed the same path as everyone else, one step behind</a:t>
            </a:r>
            <a:endParaRPr lang="en-US" sz="4000" dirty="0"/>
          </a:p>
        </p:txBody>
      </p:sp>
      <p:sp>
        <p:nvSpPr>
          <p:cNvPr id="10" name="Shape 8"/>
          <p:cNvSpPr/>
          <p:nvPr/>
        </p:nvSpPr>
        <p:spPr>
          <a:xfrm>
            <a:off x="914400" y="11119104"/>
            <a:ext cx="502920" cy="502920"/>
          </a:xfrm>
          <a:prstGeom prst="ellipse">
            <a:avLst/>
          </a:prstGeom>
          <a:solidFill>
            <a:srgbClr val="5E5B55"/>
          </a:solidFill>
          <a:ln w="12700">
            <a:solidFill>
              <a:srgbClr val="5E5B55"/>
            </a:solidFill>
            <a:prstDash val="solid"/>
          </a:ln>
        </p:spPr>
      </p:sp>
      <p:sp>
        <p:nvSpPr>
          <p:cNvPr id="11" name="Shape 9"/>
          <p:cNvSpPr/>
          <p:nvPr/>
        </p:nvSpPr>
        <p:spPr>
          <a:xfrm>
            <a:off x="1161288" y="11658600"/>
            <a:ext cx="0" cy="1234440"/>
          </a:xfrm>
          <a:prstGeom prst="line">
            <a:avLst/>
          </a:prstGeom>
          <a:noFill/>
          <a:ln w="50800">
            <a:solidFill>
              <a:srgbClr val="D9D6CF"/>
            </a:solidFill>
            <a:prstDash val="solid"/>
          </a:ln>
        </p:spPr>
      </p:sp>
      <p:sp>
        <p:nvSpPr>
          <p:cNvPr id="12" name="Text 10"/>
          <p:cNvSpPr txBox="1"/>
          <p:nvPr/>
        </p:nvSpPr>
        <p:spPr>
          <a:xfrm>
            <a:off x="1691640" y="10972800"/>
            <a:ext cx="12573000" cy="731520"/>
          </a:xfrm>
          <a:prstGeom prst="rect">
            <a:avLst/>
          </a:prstGeom>
          <a:noFill/>
          <a:ln/>
        </p:spPr>
        <p:txBody>
          <a:bodyPr wrap="square" lIns="0" tIns="0" rIns="0" bIns="0" rtlCol="0" anchor="ctr"/>
          <a:lstStyle/>
          <a:p>
            <a:pPr indent="0" marL="0">
              <a:buNone/>
            </a:pPr>
            <a:r>
              <a:rPr lang="en-US" sz="2500" b="1" dirty="0">
                <a:solidFill>
                  <a:srgbClr val="22252B"/>
                </a:solidFill>
                <a:latin typeface="Arial" pitchFamily="34" charset="0"/>
                <a:ea typeface="Arial" pitchFamily="34" charset="-122"/>
                <a:cs typeface="Arial" pitchFamily="34" charset="-120"/>
              </a:rPr>
              <a:t>1. Shared login servers (SSH, PuTTY)</a:t>
            </a:r>
            <a:endParaRPr lang="en-US" sz="2500" dirty="0"/>
          </a:p>
        </p:txBody>
      </p:sp>
      <p:sp>
        <p:nvSpPr>
          <p:cNvPr id="13" name="Text 11"/>
          <p:cNvSpPr txBox="1"/>
          <p:nvPr/>
        </p:nvSpPr>
        <p:spPr>
          <a:xfrm>
            <a:off x="1691640" y="11686032"/>
            <a:ext cx="12573000" cy="1143000"/>
          </a:xfrm>
          <a:prstGeom prst="rect">
            <a:avLst/>
          </a:prstGeom>
          <a:noFill/>
          <a:ln/>
        </p:spPr>
        <p:txBody>
          <a:bodyPr wrap="square" lIns="0" tIns="0" rIns="0" bIns="0" rtlCol="0" anchor="t"/>
          <a:lstStyle/>
          <a:p>
            <a:pPr indent="0" marL="0">
              <a:lnSpc>
                <a:spcPct val="102000"/>
              </a:lnSpc>
              <a:buNone/>
            </a:pPr>
            <a:r>
              <a:rPr lang="en-US" sz="2000" dirty="0">
                <a:solidFill>
                  <a:srgbClr val="22252B"/>
                </a:solidFill>
                <a:latin typeface="Arial" pitchFamily="34" charset="0"/>
                <a:ea typeface="Arial" pitchFamily="34" charset="-122"/>
                <a:cs typeface="Arial" pitchFamily="34" charset="-120"/>
              </a:rPr>
              <a:t>bobby · sally · cardiac. Now decommissioned, and the wiki that documented them was deleted in 2025.</a:t>
            </a:r>
            <a:endParaRPr lang="en-US" sz="2000" dirty="0"/>
          </a:p>
        </p:txBody>
      </p:sp>
      <p:sp>
        <p:nvSpPr>
          <p:cNvPr id="14" name="Shape 12"/>
          <p:cNvSpPr/>
          <p:nvPr/>
        </p:nvSpPr>
        <p:spPr>
          <a:xfrm>
            <a:off x="914400" y="12993624"/>
            <a:ext cx="502920" cy="502920"/>
          </a:xfrm>
          <a:prstGeom prst="ellipse">
            <a:avLst/>
          </a:prstGeom>
          <a:solidFill>
            <a:srgbClr val="5E5B55"/>
          </a:solidFill>
          <a:ln w="12700">
            <a:solidFill>
              <a:srgbClr val="5E5B55"/>
            </a:solidFill>
            <a:prstDash val="solid"/>
          </a:ln>
        </p:spPr>
      </p:sp>
      <p:sp>
        <p:nvSpPr>
          <p:cNvPr id="15" name="Shape 13"/>
          <p:cNvSpPr/>
          <p:nvPr/>
        </p:nvSpPr>
        <p:spPr>
          <a:xfrm>
            <a:off x="1161288" y="13533120"/>
            <a:ext cx="0" cy="1234440"/>
          </a:xfrm>
          <a:prstGeom prst="line">
            <a:avLst/>
          </a:prstGeom>
          <a:noFill/>
          <a:ln w="50800">
            <a:solidFill>
              <a:srgbClr val="D9D6CF"/>
            </a:solidFill>
            <a:prstDash val="solid"/>
          </a:ln>
        </p:spPr>
      </p:sp>
      <p:sp>
        <p:nvSpPr>
          <p:cNvPr id="16" name="Text 14"/>
          <p:cNvSpPr txBox="1"/>
          <p:nvPr/>
        </p:nvSpPr>
        <p:spPr>
          <a:xfrm>
            <a:off x="1691640" y="12847320"/>
            <a:ext cx="12573000" cy="731520"/>
          </a:xfrm>
          <a:prstGeom prst="rect">
            <a:avLst/>
          </a:prstGeom>
          <a:noFill/>
          <a:ln/>
        </p:spPr>
        <p:txBody>
          <a:bodyPr wrap="square" lIns="0" tIns="0" rIns="0" bIns="0" rtlCol="0" anchor="ctr"/>
          <a:lstStyle/>
          <a:p>
            <a:pPr indent="0" marL="0">
              <a:buNone/>
            </a:pPr>
            <a:r>
              <a:rPr lang="en-US" sz="2500" b="1" dirty="0">
                <a:solidFill>
                  <a:srgbClr val="22252B"/>
                </a:solidFill>
                <a:latin typeface="Arial" pitchFamily="34" charset="0"/>
                <a:ea typeface="Arial" pitchFamily="34" charset="-122"/>
                <a:cs typeface="Arial" pitchFamily="34" charset="-120"/>
              </a:rPr>
              <a:t>2. Virtual machines, one per course</a:t>
            </a:r>
            <a:endParaRPr lang="en-US" sz="2500" dirty="0"/>
          </a:p>
        </p:txBody>
      </p:sp>
      <p:sp>
        <p:nvSpPr>
          <p:cNvPr id="17" name="Text 15"/>
          <p:cNvSpPr txBox="1"/>
          <p:nvPr/>
        </p:nvSpPr>
        <p:spPr>
          <a:xfrm>
            <a:off x="1691640" y="13560552"/>
            <a:ext cx="12573000" cy="1143000"/>
          </a:xfrm>
          <a:prstGeom prst="rect">
            <a:avLst/>
          </a:prstGeom>
          <a:noFill/>
          <a:ln/>
        </p:spPr>
        <p:txBody>
          <a:bodyPr wrap="square" lIns="0" tIns="0" rIns="0" bIns="0" rtlCol="0" anchor="t"/>
          <a:lstStyle/>
          <a:p>
            <a:pPr indent="0" marL="0">
              <a:lnSpc>
                <a:spcPct val="102000"/>
              </a:lnSpc>
              <a:buNone/>
            </a:pPr>
            <a:r>
              <a:rPr lang="en-US" sz="2000" dirty="0">
                <a:solidFill>
                  <a:srgbClr val="22252B"/>
                </a:solidFill>
                <a:latin typeface="Arial" pitchFamily="34" charset="0"/>
                <a:ea typeface="Arial" pitchFamily="34" charset="-122"/>
                <a:cs typeface="Arial" pitchFamily="34" charset="-120"/>
              </a:rPr>
              <a:t>CS 218 today: a 19 GB VirtualBox image for Intel and an experimental 2023 image for Apple Silicon so slow the course warns the editor “may not be usable.” Official advice for M1/M2 owners: go to the lab with a USB drive.</a:t>
            </a:r>
            <a:endParaRPr lang="en-US" sz="2000" dirty="0"/>
          </a:p>
        </p:txBody>
      </p:sp>
      <p:sp>
        <p:nvSpPr>
          <p:cNvPr id="18" name="Shape 16"/>
          <p:cNvSpPr/>
          <p:nvPr/>
        </p:nvSpPr>
        <p:spPr>
          <a:xfrm>
            <a:off x="914400" y="14868144"/>
            <a:ext cx="502920" cy="502920"/>
          </a:xfrm>
          <a:prstGeom prst="ellipse">
            <a:avLst/>
          </a:prstGeom>
          <a:solidFill>
            <a:srgbClr val="B10202"/>
          </a:solidFill>
          <a:ln w="12700">
            <a:solidFill>
              <a:srgbClr val="B10202"/>
            </a:solidFill>
            <a:prstDash val="solid"/>
          </a:ln>
        </p:spPr>
      </p:sp>
      <p:sp>
        <p:nvSpPr>
          <p:cNvPr id="19" name="Text 17"/>
          <p:cNvSpPr txBox="1"/>
          <p:nvPr/>
        </p:nvSpPr>
        <p:spPr>
          <a:xfrm>
            <a:off x="1691640" y="14721840"/>
            <a:ext cx="12573000" cy="731520"/>
          </a:xfrm>
          <a:prstGeom prst="rect">
            <a:avLst/>
          </a:prstGeom>
          <a:noFill/>
          <a:ln/>
        </p:spPr>
        <p:txBody>
          <a:bodyPr wrap="square" lIns="0" tIns="0" rIns="0" bIns="0" rtlCol="0" anchor="ctr"/>
          <a:lstStyle/>
          <a:p>
            <a:pPr indent="0" marL="0">
              <a:buNone/>
            </a:pPr>
            <a:r>
              <a:rPr lang="en-US" sz="2500" b="1" dirty="0">
                <a:solidFill>
                  <a:srgbClr val="B10202"/>
                </a:solidFill>
                <a:latin typeface="Arial" pitchFamily="34" charset="0"/>
                <a:ea typeface="Arial" pitchFamily="34" charset="-122"/>
                <a:cs typeface="Arial" pitchFamily="34" charset="-120"/>
              </a:rPr>
              <a:t>3. A container on the student’s own laptop (this project)</a:t>
            </a:r>
            <a:endParaRPr lang="en-US" sz="2500" dirty="0"/>
          </a:p>
        </p:txBody>
      </p:sp>
      <p:sp>
        <p:nvSpPr>
          <p:cNvPr id="20" name="Text 18"/>
          <p:cNvSpPr txBox="1"/>
          <p:nvPr/>
        </p:nvSpPr>
        <p:spPr>
          <a:xfrm>
            <a:off x="1691640" y="15435072"/>
            <a:ext cx="12573000" cy="1143000"/>
          </a:xfrm>
          <a:prstGeom prst="rect">
            <a:avLst/>
          </a:prstGeom>
          <a:noFill/>
          <a:ln/>
        </p:spPr>
        <p:txBody>
          <a:bodyPr wrap="square" lIns="0" tIns="0" rIns="0" bIns="0" rtlCol="0" anchor="t"/>
          <a:lstStyle/>
          <a:p>
            <a:pPr indent="0" marL="0">
              <a:lnSpc>
                <a:spcPct val="102000"/>
              </a:lnSpc>
              <a:buNone/>
            </a:pPr>
            <a:r>
              <a:rPr lang="en-US" sz="2000" dirty="0">
                <a:solidFill>
                  <a:srgbClr val="22252B"/>
                </a:solidFill>
                <a:latin typeface="Arial" pitchFamily="34" charset="0"/>
                <a:ea typeface="Arial" pitchFamily="34" charset="-122"/>
                <a:cs typeface="Arial" pitchFamily="34" charset="-120"/>
              </a:rPr>
              <a:t>One 552 MB download, one command, VS Code in a browser tab. Files stay in a normal folder on the laptop. No server, no account, no VPN, works offline.</a:t>
            </a:r>
            <a:endParaRPr lang="en-US" sz="2000" dirty="0"/>
          </a:p>
        </p:txBody>
      </p:sp>
      <p:sp>
        <p:nvSpPr>
          <p:cNvPr id="21" name="Text 19"/>
          <p:cNvSpPr txBox="1"/>
          <p:nvPr/>
        </p:nvSpPr>
        <p:spPr>
          <a:xfrm>
            <a:off x="914400" y="16824960"/>
            <a:ext cx="13350240" cy="822960"/>
          </a:xfrm>
          <a:prstGeom prst="rect">
            <a:avLst/>
          </a:prstGeom>
          <a:noFill/>
          <a:ln/>
        </p:spPr>
        <p:txBody>
          <a:bodyPr wrap="square" lIns="0" tIns="0" rIns="0" bIns="0" rtlCol="0" anchor="ctr"/>
          <a:lstStyle/>
          <a:p>
            <a:pPr indent="0" marL="0">
              <a:buNone/>
            </a:pPr>
            <a:r>
              <a:rPr lang="en-US" sz="4000" b="1" dirty="0">
                <a:solidFill>
                  <a:srgbClr val="B10202"/>
                </a:solidFill>
                <a:latin typeface="Arial" pitchFamily="34" charset="0"/>
                <a:ea typeface="Arial" pitchFamily="34" charset="-122"/>
                <a:cs typeface="Arial" pitchFamily="34" charset="-120"/>
              </a:rPr>
              <a:t>Every approach hands the setup burden to someone</a:t>
            </a:r>
            <a:endParaRPr lang="en-US" sz="4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914400" y="17830800"/>
          <a:ext cx="13350240" cy="914400"/>
        </p:xfrm>
        <a:graphic>
          <a:graphicData uri="http://schemas.openxmlformats.org/drawingml/2006/table">
            <a:tbl>
              <a:tblPr/>
              <a:tblGrid>
                <a:gridCol w="4206240"/>
                <a:gridCol w="3657600"/>
                <a:gridCol w="5486400"/>
              </a:tblGrid>
              <a:tr h="868680">
                <a:tc>
                  <a:txBody>
                    <a:bodyPr/>
                    <a:lstStyle/>
                    <a:p>
                      <a:pPr indent="0" marL="0">
                        <a:buNone/>
                      </a:pPr>
                      <a:r>
                        <a:rPr lang="en-US" sz="1700" b="1" dirty="0">
                          <a:solidFill>
                            <a:srgbClr val="FFFFFF"/>
                          </a:solidFill>
                          <a:latin typeface="Arial" pitchFamily="34" charset="0"/>
                          <a:ea typeface="Arial" pitchFamily="34" charset="-122"/>
                          <a:cs typeface="Arial" pitchFamily="34" charset="-120"/>
                        </a:rPr>
                        <a:t>Approach</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22252B"/>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Who carries it</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22252B"/>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What the student pays</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22252B"/>
                    </a:solidFill>
                  </a:tcPr>
                </a:tc>
              </a:tr>
              <a:tr h="868680">
                <a:tc>
                  <a:txBody>
                    <a:bodyPr/>
                    <a:lstStyle/>
                    <a:p>
                      <a:pPr indent="0" marL="0">
                        <a:buNone/>
                      </a:pPr>
                      <a:r>
                        <a:rPr lang="en-US" sz="1700" b="1" dirty="0">
                          <a:solidFill>
                            <a:srgbClr val="22252B"/>
                          </a:solidFill>
                          <a:latin typeface="Arial" pitchFamily="34" charset="0"/>
                          <a:ea typeface="Arial" pitchFamily="34" charset="-122"/>
                          <a:cs typeface="Arial" pitchFamily="34" charset="-120"/>
                        </a:rPr>
                        <a:t>Shared servers (UNLV, CSN)</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indent="0" marL="0">
                        <a:buNone/>
                      </a:pPr>
                      <a:r>
                        <a:rPr lang="en-US" sz="1700" dirty="0">
                          <a:solidFill>
                            <a:srgbClr val="22252B"/>
                          </a:solidFill>
                          <a:latin typeface="Arial" pitchFamily="34" charset="0"/>
                          <a:ea typeface="Arial" pitchFamily="34" charset="-122"/>
                          <a:cs typeface="Arial" pitchFamily="34" charset="-120"/>
                        </a:rPr>
                        <a:t>The department</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indent="0" marL="0">
                        <a:buNone/>
                      </a:pPr>
                      <a:r>
                        <a:rPr lang="en-US" sz="1700" dirty="0">
                          <a:solidFill>
                            <a:srgbClr val="22252B"/>
                          </a:solidFill>
                          <a:latin typeface="Arial" pitchFamily="34" charset="0"/>
                          <a:ea typeface="Arial" pitchFamily="34" charset="-122"/>
                          <a:cs typeface="Arial" pitchFamily="34" charset="-120"/>
                        </a:rPr>
                        <a:t>Needs network + VPN; everything vanishes when the server is retired</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r>
              <a:tr h="868680">
                <a:tc>
                  <a:txBody>
                    <a:bodyPr/>
                    <a:lstStyle/>
                    <a:p>
                      <a:pPr indent="0" marL="0">
                        <a:buNone/>
                      </a:pPr>
                      <a:r>
                        <a:rPr lang="en-US" sz="1700" b="1" dirty="0">
                          <a:solidFill>
                            <a:srgbClr val="22252B"/>
                          </a:solidFill>
                          <a:latin typeface="Arial" pitchFamily="34" charset="0"/>
                          <a:ea typeface="Arial" pitchFamily="34" charset="-122"/>
                          <a:cs typeface="Arial" pitchFamily="34" charset="-120"/>
                        </a:rPr>
                        <a:t>Course virtual machines (UNLV, Harvard 2011 [2], Reading [5])</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indent="0" marL="0">
                        <a:buNone/>
                      </a:pPr>
                      <a:r>
                        <a:rPr lang="en-US" sz="1700" dirty="0">
                          <a:solidFill>
                            <a:srgbClr val="22252B"/>
                          </a:solidFill>
                          <a:latin typeface="Arial" pitchFamily="34" charset="0"/>
                          <a:ea typeface="Arial" pitchFamily="34" charset="-122"/>
                          <a:cs typeface="Arial" pitchFamily="34" charset="-120"/>
                        </a:rPr>
                        <a:t>The student’s hardware</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indent="0" marL="0">
                        <a:buNone/>
                      </a:pPr>
                      <a:r>
                        <a:rPr lang="en-US" sz="1700" dirty="0">
                          <a:solidFill>
                            <a:srgbClr val="22252B"/>
                          </a:solidFill>
                          <a:latin typeface="Arial" pitchFamily="34" charset="0"/>
                          <a:ea typeface="Arial" pitchFamily="34" charset="-122"/>
                          <a:cs typeface="Arial" pitchFamily="34" charset="-120"/>
                        </a:rPr>
                        <a:t>Multi-GB images, slow boots, disk corruption; broken on Apple Silicon</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r>
              <a:tr h="868680">
                <a:tc>
                  <a:txBody>
                    <a:bodyPr/>
                    <a:lstStyle/>
                    <a:p>
                      <a:pPr indent="0" marL="0">
                        <a:buNone/>
                      </a:pPr>
                      <a:r>
                        <a:rPr lang="en-US" sz="1700" b="1" dirty="0">
                          <a:solidFill>
                            <a:srgbClr val="22252B"/>
                          </a:solidFill>
                          <a:latin typeface="Arial" pitchFamily="34" charset="0"/>
                          <a:ea typeface="Arial" pitchFamily="34" charset="-122"/>
                          <a:cs typeface="Arial" pitchFamily="34" charset="-120"/>
                        </a:rPr>
                        <a:t>Cloud editor (Harvard CS50 on GitHub Codespaces [1])</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indent="0" marL="0">
                        <a:buNone/>
                      </a:pPr>
                      <a:r>
                        <a:rPr lang="en-US" sz="1700" dirty="0">
                          <a:solidFill>
                            <a:srgbClr val="22252B"/>
                          </a:solidFill>
                          <a:latin typeface="Arial" pitchFamily="34" charset="0"/>
                          <a:ea typeface="Arial" pitchFamily="34" charset="-122"/>
                          <a:cs typeface="Arial" pitchFamily="34" charset="-120"/>
                        </a:rPr>
                        <a:t>A vendor, a grant, an account</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c>
                  <a:txBody>
                    <a:bodyPr/>
                    <a:lstStyle/>
                    <a:p>
                      <a:pPr indent="0" marL="0">
                        <a:buNone/>
                      </a:pPr>
                      <a:r>
                        <a:rPr lang="en-US" sz="1700" dirty="0">
                          <a:solidFill>
                            <a:srgbClr val="22252B"/>
                          </a:solidFill>
                          <a:latin typeface="Arial" pitchFamily="34" charset="0"/>
                          <a:ea typeface="Arial" pitchFamily="34" charset="-122"/>
                          <a:cs typeface="Arial" pitchFamily="34" charset="-120"/>
                        </a:rPr>
                        <a:t>Internet required; students leave “not sure how to set up an IDE on my computer”</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FFFFF"/>
                    </a:solidFill>
                  </a:tcPr>
                </a:tc>
              </a:tr>
              <a:tr h="868680">
                <a:tc>
                  <a:txBody>
                    <a:bodyPr/>
                    <a:lstStyle/>
                    <a:p>
                      <a:pPr indent="0" marL="0">
                        <a:buNone/>
                      </a:pPr>
                      <a:r>
                        <a:rPr lang="en-US" sz="1700" b="1" dirty="0">
                          <a:solidFill>
                            <a:srgbClr val="22252B"/>
                          </a:solidFill>
                          <a:latin typeface="Arial" pitchFamily="34" charset="0"/>
                          <a:ea typeface="Arial" pitchFamily="34" charset="-122"/>
                          <a:cs typeface="Arial" pitchFamily="34" charset="-120"/>
                        </a:rPr>
                        <a:t>Monitored platform (CodeDive, South Korea [8])</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indent="0" marL="0">
                        <a:buNone/>
                      </a:pPr>
                      <a:r>
                        <a:rPr lang="en-US" sz="1700" dirty="0">
                          <a:solidFill>
                            <a:srgbClr val="22252B"/>
                          </a:solidFill>
                          <a:latin typeface="Arial" pitchFamily="34" charset="0"/>
                          <a:ea typeface="Arial" pitchFamily="34" charset="-122"/>
                          <a:cs typeface="Arial" pitchFamily="34" charset="-120"/>
                        </a:rPr>
                        <a:t>The university’s cluster, and the student’s privacy</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c>
                  <a:txBody>
                    <a:bodyPr/>
                    <a:lstStyle/>
                    <a:p>
                      <a:pPr indent="0" marL="0">
                        <a:buNone/>
                      </a:pPr>
                      <a:r>
                        <a:rPr lang="en-US" sz="1700" dirty="0">
                          <a:solidFill>
                            <a:srgbClr val="22252B"/>
                          </a:solidFill>
                          <a:latin typeface="Arial" pitchFamily="34" charset="0"/>
                          <a:ea typeface="Arial" pitchFamily="34" charset="-122"/>
                          <a:cs typeface="Arial" pitchFamily="34" charset="-120"/>
                        </a:rPr>
                        <a:t>Every command and every 1-second typing pause is recorded</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5F4F0"/>
                    </a:solidFill>
                  </a:tcPr>
                </a:tc>
              </a:tr>
              <a:tr h="868680">
                <a:tc>
                  <a:txBody>
                    <a:bodyPr/>
                    <a:lstStyle/>
                    <a:p>
                      <a:pPr indent="0" marL="0">
                        <a:buNone/>
                      </a:pPr>
                      <a:r>
                        <a:rPr lang="en-US" sz="1700" b="1" dirty="0">
                          <a:solidFill>
                            <a:srgbClr val="B10202"/>
                          </a:solidFill>
                          <a:latin typeface="Arial" pitchFamily="34" charset="0"/>
                          <a:ea typeface="Arial" pitchFamily="34" charset="-122"/>
                          <a:cs typeface="Arial" pitchFamily="34" charset="-120"/>
                        </a:rPr>
                        <a:t>Local container (this project; cf. UCSD [3], Florida Tech [4])</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BEAEA"/>
                    </a:solidFill>
                  </a:tcPr>
                </a:tc>
                <a:tc>
                  <a:txBody>
                    <a:bodyPr/>
                    <a:lstStyle/>
                    <a:p>
                      <a:pPr indent="0" marL="0">
                        <a:buNone/>
                      </a:pPr>
                      <a:r>
                        <a:rPr lang="en-US" sz="1700" dirty="0">
                          <a:solidFill>
                            <a:srgbClr val="B10202"/>
                          </a:solidFill>
                          <a:latin typeface="Arial" pitchFamily="34" charset="0"/>
                          <a:ea typeface="Arial" pitchFamily="34" charset="-122"/>
                          <a:cs typeface="Arial" pitchFamily="34" charset="-120"/>
                        </a:rPr>
                        <a:t>The student, once: install Docker</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BEAEA"/>
                    </a:solidFill>
                  </a:tcPr>
                </a:tc>
                <a:tc>
                  <a:txBody>
                    <a:bodyPr/>
                    <a:lstStyle/>
                    <a:p>
                      <a:pPr indent="0" marL="0">
                        <a:buNone/>
                      </a:pPr>
                      <a:r>
                        <a:rPr lang="en-US" sz="1700" dirty="0">
                          <a:solidFill>
                            <a:srgbClr val="B10202"/>
                          </a:solidFill>
                          <a:latin typeface="Arial" pitchFamily="34" charset="0"/>
                          <a:ea typeface="Arial" pitchFamily="34" charset="-122"/>
                          <a:cs typeface="Arial" pitchFamily="34" charset="-120"/>
                        </a:rPr>
                        <a:t>One download, one command, then nothing</a:t>
                      </a:r>
                      <a:endParaRPr lang="en-US" sz="1700" dirty="0">
                        <a:latin typeface="Arial" charset="0"/>
                        <a:ea typeface="Arial" charset="0"/>
                        <a:cs typeface="Arial" charset="0"/>
                      </a:endParaRPr>
                    </a:p>
                  </a:txBody>
                  <a:tcPr marL="73152" marR="73152" marT="73152" marB="73152" anchor="ctr">
                    <a:lnL w="12700" cap="flat" cmpd="sng" algn="ctr">
                      <a:solidFill>
                        <a:srgbClr val="D9D6CF"/>
                      </a:solidFill>
                      <a:prstDash val="solid"/>
                      <a:round/>
                      <a:headEnd type="none" w="med" len="med"/>
                      <a:tailEnd type="none" w="med" len="med"/>
                    </a:lnL>
                    <a:lnR w="12700" cap="flat" cmpd="sng" algn="ctr">
                      <a:solidFill>
                        <a:srgbClr val="D9D6CF"/>
                      </a:solidFill>
                      <a:prstDash val="solid"/>
                      <a:round/>
                      <a:headEnd type="none" w="med" len="med"/>
                      <a:tailEnd type="none" w="med" len="med"/>
                    </a:lnR>
                    <a:lnT w="12700" cap="flat" cmpd="sng" algn="ctr">
                      <a:solidFill>
                        <a:srgbClr val="D9D6CF"/>
                      </a:solidFill>
                      <a:prstDash val="solid"/>
                      <a:round/>
                      <a:headEnd type="none" w="med" len="med"/>
                      <a:tailEnd type="none" w="med" len="med"/>
                    </a:lnT>
                    <a:lnB w="12700" cap="flat" cmpd="sng" algn="ctr">
                      <a:solidFill>
                        <a:srgbClr val="D9D6CF"/>
                      </a:solidFill>
                      <a:prstDash val="solid"/>
                      <a:round/>
                      <a:headEnd type="none" w="med" len="med"/>
                      <a:tailEnd type="none" w="med" len="med"/>
                    </a:lnB>
                    <a:solidFill>
                      <a:srgbClr val="FBEAEA"/>
                    </a:solidFill>
                  </a:tcPr>
                </a:tc>
              </a:tr>
            </a:tbl>
          </a:graphicData>
        </a:graphic>
      </p:graphicFrame>
      <p:sp>
        <p:nvSpPr>
          <p:cNvPr id="23" name="Text 20"/>
          <p:cNvSpPr txBox="1"/>
          <p:nvPr/>
        </p:nvSpPr>
        <p:spPr>
          <a:xfrm>
            <a:off x="14813280" y="5394960"/>
            <a:ext cx="14081760" cy="822960"/>
          </a:xfrm>
          <a:prstGeom prst="rect">
            <a:avLst/>
          </a:prstGeom>
          <a:noFill/>
          <a:ln/>
        </p:spPr>
        <p:txBody>
          <a:bodyPr wrap="square" lIns="0" tIns="0" rIns="0" bIns="0" rtlCol="0" anchor="ctr"/>
          <a:lstStyle/>
          <a:p>
            <a:pPr indent="0" marL="0">
              <a:buNone/>
            </a:pPr>
            <a:r>
              <a:rPr lang="en-US" sz="4000" b="1" dirty="0">
                <a:solidFill>
                  <a:srgbClr val="B10202"/>
                </a:solidFill>
                <a:latin typeface="Arial" pitchFamily="34" charset="0"/>
                <a:ea typeface="Arial" pitchFamily="34" charset="-122"/>
                <a:cs typeface="Arial" pitchFamily="34" charset="-120"/>
              </a:rPr>
              <a:t>What we built</a:t>
            </a:r>
            <a:endParaRPr lang="en-US" sz="4000" dirty="0"/>
          </a:p>
        </p:txBody>
      </p:sp>
      <p:sp>
        <p:nvSpPr>
          <p:cNvPr id="24" name="Text 21"/>
          <p:cNvSpPr txBox="1"/>
          <p:nvPr/>
        </p:nvSpPr>
        <p:spPr>
          <a:xfrm>
            <a:off x="14813280" y="6355080"/>
            <a:ext cx="14081760" cy="2331720"/>
          </a:xfrm>
          <a:prstGeom prst="rect">
            <a:avLst/>
          </a:prstGeom>
          <a:noFill/>
          <a:ln/>
        </p:spPr>
        <p:txBody>
          <a:bodyPr wrap="square" lIns="0" tIns="0" rIns="0" bIns="0" rtlCol="0" anchor="t"/>
          <a:lstStyle/>
          <a:p>
            <a:pPr indent="0" marL="0">
              <a:lnSpc>
                <a:spcPct val="104000"/>
              </a:lnSpc>
              <a:spcAft>
                <a:spcPts val="600"/>
              </a:spcAft>
              <a:buNone/>
            </a:pPr>
            <a:r>
              <a:rPr lang="en-US" sz="2400" dirty="0">
                <a:solidFill>
                  <a:srgbClr val="22252B"/>
                </a:solidFill>
                <a:latin typeface="Arial" pitchFamily="34" charset="0"/>
                <a:ea typeface="Arial" pitchFamily="34" charset="-122"/>
                <a:cs typeface="Arial" pitchFamily="34" charset="-120"/>
              </a:rPr>
              <a:t>Two Docker images, one per course, each packing VS Code (served to the browser) with the exact tools the course expects: g++ for CS 135; yasm, nasm, ld, and gdb for CS 218. The instructor pins every version. The student installs Docker Desktop once, runs one command, and opens a browser tab. Every AI feature in the editor is switched off, per course policy.</a:t>
            </a:r>
            <a:endParaRPr lang="en-US" sz="2400" dirty="0"/>
          </a:p>
        </p:txBody>
      </p:sp>
      <p:sp>
        <p:nvSpPr>
          <p:cNvPr id="25" name="Shape 22"/>
          <p:cNvSpPr/>
          <p:nvPr/>
        </p:nvSpPr>
        <p:spPr>
          <a:xfrm>
            <a:off x="14813280" y="8686800"/>
            <a:ext cx="14081760" cy="1051560"/>
          </a:xfrm>
          <a:prstGeom prst="roundRect">
            <a:avLst>
              <a:gd name="adj" fmla="val 13043"/>
            </a:avLst>
          </a:prstGeom>
          <a:solidFill>
            <a:srgbClr val="22252B"/>
          </a:solidFill>
          <a:ln w="12700">
            <a:solidFill>
              <a:srgbClr val="22252B"/>
            </a:solidFill>
            <a:prstDash val="solid"/>
          </a:ln>
        </p:spPr>
      </p:sp>
      <p:sp>
        <p:nvSpPr>
          <p:cNvPr id="26" name="Text 23"/>
          <p:cNvSpPr txBox="1"/>
          <p:nvPr/>
        </p:nvSpPr>
        <p:spPr>
          <a:xfrm>
            <a:off x="15087600" y="8686800"/>
            <a:ext cx="13533120" cy="1051560"/>
          </a:xfrm>
          <a:prstGeom prst="rect">
            <a:avLst/>
          </a:prstGeom>
          <a:noFill/>
          <a:ln/>
        </p:spPr>
        <p:txBody>
          <a:bodyPr wrap="square" lIns="0" tIns="0" rIns="0" bIns="0" rtlCol="0" anchor="ctr"/>
          <a:lstStyle/>
          <a:p>
            <a:pPr indent="0" marL="0">
              <a:buNone/>
            </a:pPr>
            <a:r>
              <a:rPr lang="en-US" sz="1700" dirty="0">
                <a:solidFill>
                  <a:srgbClr val="FFFFFF"/>
                </a:solidFill>
                <a:latin typeface="Courier New" pitchFamily="34" charset="0"/>
                <a:ea typeface="Courier New" pitchFamily="34" charset="-122"/>
                <a:cs typeface="Courier New" pitchFamily="34" charset="-120"/>
              </a:rPr>
              <a:t>docker run -p 127.0.0.1:8218:8080 -v ~/UNLV/x86-workspace:/home/coder/workspace seancnc/unlv-x86-ide</a:t>
            </a:r>
            <a:endParaRPr lang="en-US" sz="1700" dirty="0"/>
          </a:p>
        </p:txBody>
      </p:sp>
      <p:pic>
        <p:nvPicPr>
          <p:cNvPr id="27" name="Image 0" descr="/private/tmp/claude-501/-Users-seancuenco-Documents-UNLVDockerIDEs/cb525298-55fd-43a6-807a-d35debab5bc5/scratchpad/fig1-architecture.png">    </p:cNvPr>
          <p:cNvPicPr>
            <a:picLocks noChangeAspect="1"/>
          </p:cNvPicPr>
          <p:nvPr/>
        </p:nvPicPr>
        <p:blipFill>
          <a:blip r:embed="rId1"/>
          <a:stretch>
            <a:fillRect/>
          </a:stretch>
        </p:blipFill>
        <p:spPr>
          <a:xfrm>
            <a:off x="17465040" y="9966960"/>
            <a:ext cx="8778240" cy="8350033"/>
          </a:xfrm>
          <a:prstGeom prst="rect">
            <a:avLst/>
          </a:prstGeom>
        </p:spPr>
      </p:pic>
      <p:sp>
        <p:nvSpPr>
          <p:cNvPr id="28" name="Text 24"/>
          <p:cNvSpPr txBox="1"/>
          <p:nvPr/>
        </p:nvSpPr>
        <p:spPr>
          <a:xfrm>
            <a:off x="14813280" y="18454153"/>
            <a:ext cx="14081760" cy="731520"/>
          </a:xfrm>
          <a:prstGeom prst="rect">
            <a:avLst/>
          </a:prstGeom>
          <a:noFill/>
          <a:ln/>
        </p:spPr>
        <p:txBody>
          <a:bodyPr wrap="square" lIns="0" tIns="0" rIns="0" bIns="0" rtlCol="0" anchor="t"/>
          <a:lstStyle/>
          <a:p>
            <a:pPr indent="0" marL="0">
              <a:lnSpc>
                <a:spcPct val="104000"/>
              </a:lnSpc>
              <a:spcAft>
                <a:spcPts val="600"/>
              </a:spcAft>
              <a:buNone/>
            </a:pPr>
            <a:r>
              <a:rPr lang="en-US" sz="2000" dirty="0">
                <a:solidFill>
                  <a:srgbClr val="5E5B55"/>
                </a:solidFill>
                <a:latin typeface="Arial" pitchFamily="34" charset="0"/>
                <a:ea typeface="Arial" pitchFamily="34" charset="-122"/>
                <a:cs typeface="Arial" pitchFamily="34" charset="-120"/>
              </a:rPr>
              <a:t>Figure 1. Everything runs on the student’s machine. Coursework lives in an ordinary folder that survives deleting or updating the container.</a:t>
            </a:r>
            <a:endParaRPr lang="en-US" sz="2000" dirty="0"/>
          </a:p>
        </p:txBody>
      </p:sp>
      <p:sp>
        <p:nvSpPr>
          <p:cNvPr id="29" name="Text 25"/>
          <p:cNvSpPr txBox="1"/>
          <p:nvPr/>
        </p:nvSpPr>
        <p:spPr>
          <a:xfrm>
            <a:off x="14813280" y="19322833"/>
            <a:ext cx="14081760" cy="822960"/>
          </a:xfrm>
          <a:prstGeom prst="rect">
            <a:avLst/>
          </a:prstGeom>
          <a:noFill/>
          <a:ln/>
        </p:spPr>
        <p:txBody>
          <a:bodyPr wrap="square" lIns="0" tIns="0" rIns="0" bIns="0" rtlCol="0" anchor="ctr"/>
          <a:lstStyle/>
          <a:p>
            <a:pPr indent="0" marL="0">
              <a:buNone/>
            </a:pPr>
            <a:r>
              <a:rPr lang="en-US" sz="4000" b="1" dirty="0">
                <a:solidFill>
                  <a:srgbClr val="B10202"/>
                </a:solidFill>
                <a:latin typeface="Arial" pitchFamily="34" charset="0"/>
                <a:ea typeface="Arial" pitchFamily="34" charset="-122"/>
                <a:cs typeface="Arial" pitchFamily="34" charset="-120"/>
              </a:rPr>
              <a:t>How we tested it: same exam, four kinds of computer</a:t>
            </a:r>
            <a:endParaRPr lang="en-US" sz="4000" dirty="0"/>
          </a:p>
        </p:txBody>
      </p:sp>
      <p:sp>
        <p:nvSpPr>
          <p:cNvPr id="30" name="Text 26"/>
          <p:cNvSpPr txBox="1"/>
          <p:nvPr/>
        </p:nvSpPr>
        <p:spPr>
          <a:xfrm>
            <a:off x="14813280" y="20282953"/>
            <a:ext cx="14081760" cy="2286000"/>
          </a:xfrm>
          <a:prstGeom prst="rect">
            <a:avLst/>
          </a:prstGeom>
          <a:noFill/>
          <a:ln/>
        </p:spPr>
        <p:txBody>
          <a:bodyPr wrap="square" lIns="0" tIns="0" rIns="0" bIns="0" rtlCol="0" anchor="t"/>
          <a:lstStyle/>
          <a:p>
            <a:pPr indent="0" marL="0">
              <a:lnSpc>
                <a:spcPct val="104000"/>
              </a:lnSpc>
              <a:spcAft>
                <a:spcPts val="600"/>
              </a:spcAft>
              <a:buNone/>
            </a:pPr>
            <a:r>
              <a:rPr lang="en-US" sz="2400" dirty="0">
                <a:solidFill>
                  <a:srgbClr val="22252B"/>
                </a:solidFill>
                <a:latin typeface="Arial" pitchFamily="34" charset="0"/>
                <a:ea typeface="Arial" pitchFamily="34" charset="-122"/>
                <a:cs typeface="Arial" pitchFamily="34" charset="-120"/>
              </a:rPr>
              <a:t>We cannot borrow one of every laptop students own, so we rented them: for a few dollars total, AWS and Azure supplied a fresh Intel Linux machine, an ARM Linux machine, and a Windows 11 machine, and a base-model M1 MacBook Pro stood in for Apple Silicon. On each, one published script performed a student’s first day (download, open the editor, write, assemble, run, debug) and then built and ran four real CS 218 assignments, writing down everything it observed.</a:t>
            </a:r>
            <a:endParaRPr lang="en-US" sz="2400" dirty="0"/>
          </a:p>
        </p:txBody>
      </p:sp>
      <p:sp>
        <p:nvSpPr>
          <p:cNvPr id="31" name="Shape 27"/>
          <p:cNvSpPr/>
          <p:nvPr/>
        </p:nvSpPr>
        <p:spPr>
          <a:xfrm>
            <a:off x="14813280" y="22568953"/>
            <a:ext cx="3314700" cy="3017520"/>
          </a:xfrm>
          <a:prstGeom prst="roundRect">
            <a:avLst>
              <a:gd name="adj" fmla="val 4545"/>
            </a:avLst>
          </a:prstGeom>
          <a:solidFill>
            <a:srgbClr val="F5F4F0"/>
          </a:solidFill>
          <a:ln w="12700">
            <a:solidFill>
              <a:srgbClr val="F5F4F0"/>
            </a:solidFill>
            <a:prstDash val="solid"/>
          </a:ln>
        </p:spPr>
      </p:sp>
      <p:sp>
        <p:nvSpPr>
          <p:cNvPr id="32" name="Text 28"/>
          <p:cNvSpPr txBox="1"/>
          <p:nvPr/>
        </p:nvSpPr>
        <p:spPr>
          <a:xfrm>
            <a:off x="14996160" y="22706113"/>
            <a:ext cx="2948940" cy="640080"/>
          </a:xfrm>
          <a:prstGeom prst="rect">
            <a:avLst/>
          </a:prstGeom>
          <a:noFill/>
          <a:ln/>
        </p:spPr>
        <p:txBody>
          <a:bodyPr wrap="square" lIns="0" tIns="0" rIns="0" bIns="0" rtlCol="0" anchor="ctr"/>
          <a:lstStyle/>
          <a:p>
            <a:pPr indent="0" marL="0">
              <a:buNone/>
            </a:pPr>
            <a:r>
              <a:rPr lang="en-US" sz="2100" b="1" dirty="0">
                <a:solidFill>
                  <a:srgbClr val="22252B"/>
                </a:solidFill>
                <a:latin typeface="Arial" pitchFamily="34" charset="0"/>
                <a:ea typeface="Arial" pitchFamily="34" charset="-122"/>
                <a:cs typeface="Arial" pitchFamily="34" charset="-120"/>
              </a:rPr>
              <a:t>Windows 11 PC</a:t>
            </a:r>
            <a:endParaRPr lang="en-US" sz="2100" dirty="0"/>
          </a:p>
        </p:txBody>
      </p:sp>
      <p:sp>
        <p:nvSpPr>
          <p:cNvPr id="33" name="Text 29"/>
          <p:cNvSpPr txBox="1"/>
          <p:nvPr/>
        </p:nvSpPr>
        <p:spPr>
          <a:xfrm>
            <a:off x="14996160" y="23300473"/>
            <a:ext cx="2948940" cy="457200"/>
          </a:xfrm>
          <a:prstGeom prst="rect">
            <a:avLst/>
          </a:prstGeom>
          <a:noFill/>
          <a:ln/>
        </p:spPr>
        <p:txBody>
          <a:bodyPr wrap="square" lIns="0" tIns="0" rIns="0" bIns="0" rtlCol="0" anchor="ctr"/>
          <a:lstStyle/>
          <a:p>
            <a:pPr indent="0" marL="0">
              <a:buNone/>
            </a:pPr>
            <a:r>
              <a:rPr lang="en-US" sz="1600" dirty="0">
                <a:solidFill>
                  <a:srgbClr val="5E5B55"/>
                </a:solidFill>
                <a:latin typeface="Arial" pitchFamily="34" charset="0"/>
                <a:ea typeface="Arial" pitchFamily="34" charset="-122"/>
                <a:cs typeface="Arial" pitchFamily="34" charset="-120"/>
              </a:rPr>
              <a:t>Intel / AMD</a:t>
            </a:r>
            <a:endParaRPr lang="en-US" sz="1600" dirty="0"/>
          </a:p>
        </p:txBody>
      </p:sp>
      <p:sp>
        <p:nvSpPr>
          <p:cNvPr id="34" name="Text 30"/>
          <p:cNvSpPr txBox="1"/>
          <p:nvPr/>
        </p:nvSpPr>
        <p:spPr>
          <a:xfrm>
            <a:off x="14996160" y="23894833"/>
            <a:ext cx="2948940" cy="685800"/>
          </a:xfrm>
          <a:prstGeom prst="rect">
            <a:avLst/>
          </a:prstGeom>
          <a:noFill/>
          <a:ln/>
        </p:spPr>
        <p:txBody>
          <a:bodyPr wrap="square" lIns="0" tIns="0" rIns="0" bIns="0" rtlCol="0" anchor="ctr"/>
          <a:lstStyle/>
          <a:p>
            <a:pPr indent="0" marL="0">
              <a:buNone/>
            </a:pPr>
            <a:r>
              <a:rPr lang="en-US" sz="1900" b="1" dirty="0">
                <a:solidFill>
                  <a:srgbClr val="1F5FB0"/>
                </a:solidFill>
                <a:latin typeface="Arial" pitchFamily="34" charset="0"/>
                <a:ea typeface="Arial" pitchFamily="34" charset="-122"/>
                <a:cs typeface="Arial" pitchFamily="34" charset="-120"/>
              </a:rPr>
              <a:t>✓ all assignments</a:t>
            </a:r>
            <a:endParaRPr lang="en-US" sz="1900" dirty="0"/>
          </a:p>
        </p:txBody>
      </p:sp>
      <p:sp>
        <p:nvSpPr>
          <p:cNvPr id="35" name="Text 31"/>
          <p:cNvSpPr txBox="1"/>
          <p:nvPr/>
        </p:nvSpPr>
        <p:spPr>
          <a:xfrm>
            <a:off x="14996160" y="24580633"/>
            <a:ext cx="2948940" cy="685800"/>
          </a:xfrm>
          <a:prstGeom prst="rect">
            <a:avLst/>
          </a:prstGeom>
          <a:noFill/>
          <a:ln/>
        </p:spPr>
        <p:txBody>
          <a:bodyPr wrap="square" lIns="0" tIns="0" rIns="0" bIns="0" rtlCol="0" anchor="ctr"/>
          <a:lstStyle/>
          <a:p>
            <a:pPr indent="0" marL="0">
              <a:buNone/>
            </a:pPr>
            <a:r>
              <a:rPr lang="en-US" sz="1900" b="1" dirty="0">
                <a:solidFill>
                  <a:srgbClr val="1F5FB0"/>
                </a:solidFill>
                <a:latin typeface="Arial" pitchFamily="34" charset="0"/>
                <a:ea typeface="Arial" pitchFamily="34" charset="-122"/>
                <a:cs typeface="Arial" pitchFamily="34" charset="-120"/>
              </a:rPr>
              <a:t>✓ debugger</a:t>
            </a:r>
            <a:endParaRPr lang="en-US" sz="1900" dirty="0"/>
          </a:p>
        </p:txBody>
      </p:sp>
      <p:sp>
        <p:nvSpPr>
          <p:cNvPr id="36" name="Shape 32"/>
          <p:cNvSpPr/>
          <p:nvPr/>
        </p:nvSpPr>
        <p:spPr>
          <a:xfrm>
            <a:off x="18402300" y="22568953"/>
            <a:ext cx="3314700" cy="3017520"/>
          </a:xfrm>
          <a:prstGeom prst="roundRect">
            <a:avLst>
              <a:gd name="adj" fmla="val 4545"/>
            </a:avLst>
          </a:prstGeom>
          <a:solidFill>
            <a:srgbClr val="F5F4F0"/>
          </a:solidFill>
          <a:ln w="12700">
            <a:solidFill>
              <a:srgbClr val="F5F4F0"/>
            </a:solidFill>
            <a:prstDash val="solid"/>
          </a:ln>
        </p:spPr>
      </p:sp>
      <p:sp>
        <p:nvSpPr>
          <p:cNvPr id="37" name="Text 33"/>
          <p:cNvSpPr txBox="1"/>
          <p:nvPr/>
        </p:nvSpPr>
        <p:spPr>
          <a:xfrm>
            <a:off x="18585180" y="22706113"/>
            <a:ext cx="2948940" cy="640080"/>
          </a:xfrm>
          <a:prstGeom prst="rect">
            <a:avLst/>
          </a:prstGeom>
          <a:noFill/>
          <a:ln/>
        </p:spPr>
        <p:txBody>
          <a:bodyPr wrap="square" lIns="0" tIns="0" rIns="0" bIns="0" rtlCol="0" anchor="ctr"/>
          <a:lstStyle/>
          <a:p>
            <a:pPr indent="0" marL="0">
              <a:buNone/>
            </a:pPr>
            <a:r>
              <a:rPr lang="en-US" sz="2100" b="1" dirty="0">
                <a:solidFill>
                  <a:srgbClr val="22252B"/>
                </a:solidFill>
                <a:latin typeface="Arial" pitchFamily="34" charset="0"/>
                <a:ea typeface="Arial" pitchFamily="34" charset="-122"/>
                <a:cs typeface="Arial" pitchFamily="34" charset="-120"/>
              </a:rPr>
              <a:t>Linux PC</a:t>
            </a:r>
            <a:endParaRPr lang="en-US" sz="2100" dirty="0"/>
          </a:p>
        </p:txBody>
      </p:sp>
      <p:sp>
        <p:nvSpPr>
          <p:cNvPr id="38" name="Text 34"/>
          <p:cNvSpPr txBox="1"/>
          <p:nvPr/>
        </p:nvSpPr>
        <p:spPr>
          <a:xfrm>
            <a:off x="18585180" y="23300473"/>
            <a:ext cx="2948940" cy="457200"/>
          </a:xfrm>
          <a:prstGeom prst="rect">
            <a:avLst/>
          </a:prstGeom>
          <a:noFill/>
          <a:ln/>
        </p:spPr>
        <p:txBody>
          <a:bodyPr wrap="square" lIns="0" tIns="0" rIns="0" bIns="0" rtlCol="0" anchor="ctr"/>
          <a:lstStyle/>
          <a:p>
            <a:pPr indent="0" marL="0">
              <a:buNone/>
            </a:pPr>
            <a:r>
              <a:rPr lang="en-US" sz="1600" dirty="0">
                <a:solidFill>
                  <a:srgbClr val="5E5B55"/>
                </a:solidFill>
                <a:latin typeface="Arial" pitchFamily="34" charset="0"/>
                <a:ea typeface="Arial" pitchFamily="34" charset="-122"/>
                <a:cs typeface="Arial" pitchFamily="34" charset="-120"/>
              </a:rPr>
              <a:t>Intel / AMD</a:t>
            </a:r>
            <a:endParaRPr lang="en-US" sz="1600" dirty="0"/>
          </a:p>
        </p:txBody>
      </p:sp>
      <p:sp>
        <p:nvSpPr>
          <p:cNvPr id="39" name="Text 35"/>
          <p:cNvSpPr txBox="1"/>
          <p:nvPr/>
        </p:nvSpPr>
        <p:spPr>
          <a:xfrm>
            <a:off x="18585180" y="23894833"/>
            <a:ext cx="2948940" cy="685800"/>
          </a:xfrm>
          <a:prstGeom prst="rect">
            <a:avLst/>
          </a:prstGeom>
          <a:noFill/>
          <a:ln/>
        </p:spPr>
        <p:txBody>
          <a:bodyPr wrap="square" lIns="0" tIns="0" rIns="0" bIns="0" rtlCol="0" anchor="ctr"/>
          <a:lstStyle/>
          <a:p>
            <a:pPr indent="0" marL="0">
              <a:buNone/>
            </a:pPr>
            <a:r>
              <a:rPr lang="en-US" sz="1900" b="1" dirty="0">
                <a:solidFill>
                  <a:srgbClr val="1F5FB0"/>
                </a:solidFill>
                <a:latin typeface="Arial" pitchFamily="34" charset="0"/>
                <a:ea typeface="Arial" pitchFamily="34" charset="-122"/>
                <a:cs typeface="Arial" pitchFamily="34" charset="-120"/>
              </a:rPr>
              <a:t>✓ all assignments</a:t>
            </a:r>
            <a:endParaRPr lang="en-US" sz="1900" dirty="0"/>
          </a:p>
        </p:txBody>
      </p:sp>
      <p:sp>
        <p:nvSpPr>
          <p:cNvPr id="40" name="Text 36"/>
          <p:cNvSpPr txBox="1"/>
          <p:nvPr/>
        </p:nvSpPr>
        <p:spPr>
          <a:xfrm>
            <a:off x="18585180" y="24580633"/>
            <a:ext cx="2948940" cy="685800"/>
          </a:xfrm>
          <a:prstGeom prst="rect">
            <a:avLst/>
          </a:prstGeom>
          <a:noFill/>
          <a:ln/>
        </p:spPr>
        <p:txBody>
          <a:bodyPr wrap="square" lIns="0" tIns="0" rIns="0" bIns="0" rtlCol="0" anchor="ctr"/>
          <a:lstStyle/>
          <a:p>
            <a:pPr indent="0" marL="0">
              <a:buNone/>
            </a:pPr>
            <a:r>
              <a:rPr lang="en-US" sz="1900" b="1" dirty="0">
                <a:solidFill>
                  <a:srgbClr val="1F5FB0"/>
                </a:solidFill>
                <a:latin typeface="Arial" pitchFamily="34" charset="0"/>
                <a:ea typeface="Arial" pitchFamily="34" charset="-122"/>
                <a:cs typeface="Arial" pitchFamily="34" charset="-120"/>
              </a:rPr>
              <a:t>✓ debugger</a:t>
            </a:r>
            <a:endParaRPr lang="en-US" sz="1900" dirty="0"/>
          </a:p>
        </p:txBody>
      </p:sp>
      <p:sp>
        <p:nvSpPr>
          <p:cNvPr id="41" name="Shape 37"/>
          <p:cNvSpPr/>
          <p:nvPr/>
        </p:nvSpPr>
        <p:spPr>
          <a:xfrm>
            <a:off x="21991320" y="22568953"/>
            <a:ext cx="3314700" cy="3017520"/>
          </a:xfrm>
          <a:prstGeom prst="roundRect">
            <a:avLst>
              <a:gd name="adj" fmla="val 4545"/>
            </a:avLst>
          </a:prstGeom>
          <a:solidFill>
            <a:srgbClr val="F5F4F0"/>
          </a:solidFill>
          <a:ln w="12700">
            <a:solidFill>
              <a:srgbClr val="F5F4F0"/>
            </a:solidFill>
            <a:prstDash val="solid"/>
          </a:ln>
        </p:spPr>
      </p:sp>
      <p:sp>
        <p:nvSpPr>
          <p:cNvPr id="42" name="Text 38"/>
          <p:cNvSpPr txBox="1"/>
          <p:nvPr/>
        </p:nvSpPr>
        <p:spPr>
          <a:xfrm>
            <a:off x="22174200" y="22706113"/>
            <a:ext cx="2948940" cy="640080"/>
          </a:xfrm>
          <a:prstGeom prst="rect">
            <a:avLst/>
          </a:prstGeom>
          <a:noFill/>
          <a:ln/>
        </p:spPr>
        <p:txBody>
          <a:bodyPr wrap="square" lIns="0" tIns="0" rIns="0" bIns="0" rtlCol="0" anchor="ctr"/>
          <a:lstStyle/>
          <a:p>
            <a:pPr indent="0" marL="0">
              <a:buNone/>
            </a:pPr>
            <a:r>
              <a:rPr lang="en-US" sz="2100" b="1" dirty="0">
                <a:solidFill>
                  <a:srgbClr val="22252B"/>
                </a:solidFill>
                <a:latin typeface="Arial" pitchFamily="34" charset="0"/>
                <a:ea typeface="Arial" pitchFamily="34" charset="-122"/>
                <a:cs typeface="Arial" pitchFamily="34" charset="-120"/>
              </a:rPr>
              <a:t>Apple Silicon Mac</a:t>
            </a:r>
            <a:endParaRPr lang="en-US" sz="2100" dirty="0"/>
          </a:p>
        </p:txBody>
      </p:sp>
      <p:sp>
        <p:nvSpPr>
          <p:cNvPr id="43" name="Text 39"/>
          <p:cNvSpPr txBox="1"/>
          <p:nvPr/>
        </p:nvSpPr>
        <p:spPr>
          <a:xfrm>
            <a:off x="22174200" y="23300473"/>
            <a:ext cx="2948940" cy="457200"/>
          </a:xfrm>
          <a:prstGeom prst="rect">
            <a:avLst/>
          </a:prstGeom>
          <a:noFill/>
          <a:ln/>
        </p:spPr>
        <p:txBody>
          <a:bodyPr wrap="square" lIns="0" tIns="0" rIns="0" bIns="0" rtlCol="0" anchor="ctr"/>
          <a:lstStyle/>
          <a:p>
            <a:pPr indent="0" marL="0">
              <a:buNone/>
            </a:pPr>
            <a:r>
              <a:rPr lang="en-US" sz="1600" dirty="0">
                <a:solidFill>
                  <a:srgbClr val="5E5B55"/>
                </a:solidFill>
                <a:latin typeface="Arial" pitchFamily="34" charset="0"/>
                <a:ea typeface="Arial" pitchFamily="34" charset="-122"/>
                <a:cs typeface="Arial" pitchFamily="34" charset="-120"/>
              </a:rPr>
              <a:t>M1 Pro, 16 GB</a:t>
            </a:r>
            <a:endParaRPr lang="en-US" sz="1600" dirty="0"/>
          </a:p>
        </p:txBody>
      </p:sp>
      <p:sp>
        <p:nvSpPr>
          <p:cNvPr id="44" name="Text 40"/>
          <p:cNvSpPr txBox="1"/>
          <p:nvPr/>
        </p:nvSpPr>
        <p:spPr>
          <a:xfrm>
            <a:off x="22174200" y="23894833"/>
            <a:ext cx="2948940" cy="685800"/>
          </a:xfrm>
          <a:prstGeom prst="rect">
            <a:avLst/>
          </a:prstGeom>
          <a:noFill/>
          <a:ln/>
        </p:spPr>
        <p:txBody>
          <a:bodyPr wrap="square" lIns="0" tIns="0" rIns="0" bIns="0" rtlCol="0" anchor="ctr"/>
          <a:lstStyle/>
          <a:p>
            <a:pPr indent="0" marL="0">
              <a:buNone/>
            </a:pPr>
            <a:r>
              <a:rPr lang="en-US" sz="1900" b="1" dirty="0">
                <a:solidFill>
                  <a:srgbClr val="1F5FB0"/>
                </a:solidFill>
                <a:latin typeface="Arial" pitchFamily="34" charset="0"/>
                <a:ea typeface="Arial" pitchFamily="34" charset="-122"/>
                <a:cs typeface="Arial" pitchFamily="34" charset="-120"/>
              </a:rPr>
              <a:t>✓ all assignments</a:t>
            </a:r>
            <a:endParaRPr lang="en-US" sz="1900" dirty="0"/>
          </a:p>
        </p:txBody>
      </p:sp>
      <p:sp>
        <p:nvSpPr>
          <p:cNvPr id="45" name="Text 41"/>
          <p:cNvSpPr txBox="1"/>
          <p:nvPr/>
        </p:nvSpPr>
        <p:spPr>
          <a:xfrm>
            <a:off x="22174200" y="24580633"/>
            <a:ext cx="2948940" cy="685800"/>
          </a:xfrm>
          <a:prstGeom prst="rect">
            <a:avLst/>
          </a:prstGeom>
          <a:noFill/>
          <a:ln/>
        </p:spPr>
        <p:txBody>
          <a:bodyPr wrap="square" lIns="0" tIns="0" rIns="0" bIns="0" rtlCol="0" anchor="ctr"/>
          <a:lstStyle/>
          <a:p>
            <a:pPr indent="0" marL="0">
              <a:buNone/>
            </a:pPr>
            <a:r>
              <a:rPr lang="en-US" sz="1900" b="1" dirty="0">
                <a:solidFill>
                  <a:srgbClr val="B10202"/>
                </a:solidFill>
                <a:latin typeface="Arial" pitchFamily="34" charset="0"/>
                <a:ea typeface="Arial" pitchFamily="34" charset="-122"/>
                <a:cs typeface="Arial" pitchFamily="34" charset="-120"/>
              </a:rPr>
              <a:t>✗ debugger silent*</a:t>
            </a:r>
            <a:endParaRPr lang="en-US" sz="1900" dirty="0"/>
          </a:p>
        </p:txBody>
      </p:sp>
      <p:sp>
        <p:nvSpPr>
          <p:cNvPr id="46" name="Shape 42"/>
          <p:cNvSpPr/>
          <p:nvPr/>
        </p:nvSpPr>
        <p:spPr>
          <a:xfrm>
            <a:off x="25580340" y="22568953"/>
            <a:ext cx="3314700" cy="3017520"/>
          </a:xfrm>
          <a:prstGeom prst="roundRect">
            <a:avLst>
              <a:gd name="adj" fmla="val 4545"/>
            </a:avLst>
          </a:prstGeom>
          <a:solidFill>
            <a:srgbClr val="F5F4F0"/>
          </a:solidFill>
          <a:ln w="12700">
            <a:solidFill>
              <a:srgbClr val="F5F4F0"/>
            </a:solidFill>
            <a:prstDash val="solid"/>
          </a:ln>
        </p:spPr>
      </p:sp>
      <p:sp>
        <p:nvSpPr>
          <p:cNvPr id="47" name="Text 43"/>
          <p:cNvSpPr txBox="1"/>
          <p:nvPr/>
        </p:nvSpPr>
        <p:spPr>
          <a:xfrm>
            <a:off x="25763220" y="22706113"/>
            <a:ext cx="2948940" cy="640080"/>
          </a:xfrm>
          <a:prstGeom prst="rect">
            <a:avLst/>
          </a:prstGeom>
          <a:noFill/>
          <a:ln/>
        </p:spPr>
        <p:txBody>
          <a:bodyPr wrap="square" lIns="0" tIns="0" rIns="0" bIns="0" rtlCol="0" anchor="ctr"/>
          <a:lstStyle/>
          <a:p>
            <a:pPr indent="0" marL="0">
              <a:buNone/>
            </a:pPr>
            <a:r>
              <a:rPr lang="en-US" sz="2100" b="1" dirty="0">
                <a:solidFill>
                  <a:srgbClr val="22252B"/>
                </a:solidFill>
                <a:latin typeface="Arial" pitchFamily="34" charset="0"/>
                <a:ea typeface="Arial" pitchFamily="34" charset="-122"/>
                <a:cs typeface="Arial" pitchFamily="34" charset="-120"/>
              </a:rPr>
              <a:t>Linux on ARM</a:t>
            </a:r>
            <a:endParaRPr lang="en-US" sz="2100" dirty="0"/>
          </a:p>
        </p:txBody>
      </p:sp>
      <p:sp>
        <p:nvSpPr>
          <p:cNvPr id="48" name="Text 44"/>
          <p:cNvSpPr txBox="1"/>
          <p:nvPr/>
        </p:nvSpPr>
        <p:spPr>
          <a:xfrm>
            <a:off x="25763220" y="23300473"/>
            <a:ext cx="2948940" cy="457200"/>
          </a:xfrm>
          <a:prstGeom prst="rect">
            <a:avLst/>
          </a:prstGeom>
          <a:noFill/>
          <a:ln/>
        </p:spPr>
        <p:txBody>
          <a:bodyPr wrap="square" lIns="0" tIns="0" rIns="0" bIns="0" rtlCol="0" anchor="ctr"/>
          <a:lstStyle/>
          <a:p>
            <a:pPr indent="0" marL="0">
              <a:buNone/>
            </a:pPr>
            <a:r>
              <a:rPr lang="en-US" sz="1600" dirty="0">
                <a:solidFill>
                  <a:srgbClr val="5E5B55"/>
                </a:solidFill>
                <a:latin typeface="Arial" pitchFamily="34" charset="0"/>
                <a:ea typeface="Arial" pitchFamily="34" charset="-122"/>
                <a:cs typeface="Arial" pitchFamily="34" charset="-120"/>
              </a:rPr>
              <a:t>AWS Graviton</a:t>
            </a:r>
            <a:endParaRPr lang="en-US" sz="1600" dirty="0"/>
          </a:p>
        </p:txBody>
      </p:sp>
      <p:sp>
        <p:nvSpPr>
          <p:cNvPr id="49" name="Text 45"/>
          <p:cNvSpPr txBox="1"/>
          <p:nvPr/>
        </p:nvSpPr>
        <p:spPr>
          <a:xfrm>
            <a:off x="25763220" y="23894833"/>
            <a:ext cx="2948940" cy="685800"/>
          </a:xfrm>
          <a:prstGeom prst="rect">
            <a:avLst/>
          </a:prstGeom>
          <a:noFill/>
          <a:ln/>
        </p:spPr>
        <p:txBody>
          <a:bodyPr wrap="square" lIns="0" tIns="0" rIns="0" bIns="0" rtlCol="0" anchor="ctr"/>
          <a:lstStyle/>
          <a:p>
            <a:pPr indent="0" marL="0">
              <a:buNone/>
            </a:pPr>
            <a:r>
              <a:rPr lang="en-US" sz="1900" b="1" dirty="0">
                <a:solidFill>
                  <a:srgbClr val="1F5FB0"/>
                </a:solidFill>
                <a:latin typeface="Arial" pitchFamily="34" charset="0"/>
                <a:ea typeface="Arial" pitchFamily="34" charset="-122"/>
                <a:cs typeface="Arial" pitchFamily="34" charset="-120"/>
              </a:rPr>
              <a:t>✓ all assignments†</a:t>
            </a:r>
            <a:endParaRPr lang="en-US" sz="1900" dirty="0"/>
          </a:p>
        </p:txBody>
      </p:sp>
      <p:sp>
        <p:nvSpPr>
          <p:cNvPr id="50" name="Text 46"/>
          <p:cNvSpPr txBox="1"/>
          <p:nvPr/>
        </p:nvSpPr>
        <p:spPr>
          <a:xfrm>
            <a:off x="25763220" y="24580633"/>
            <a:ext cx="2948940" cy="685800"/>
          </a:xfrm>
          <a:prstGeom prst="rect">
            <a:avLst/>
          </a:prstGeom>
          <a:noFill/>
          <a:ln/>
        </p:spPr>
        <p:txBody>
          <a:bodyPr wrap="square" lIns="0" tIns="0" rIns="0" bIns="0" rtlCol="0" anchor="ctr"/>
          <a:lstStyle/>
          <a:p>
            <a:pPr indent="0" marL="0">
              <a:buNone/>
            </a:pPr>
            <a:r>
              <a:rPr lang="en-US" sz="1900" b="1" dirty="0">
                <a:solidFill>
                  <a:srgbClr val="B10202"/>
                </a:solidFill>
                <a:latin typeface="Arial" pitchFamily="34" charset="0"/>
                <a:ea typeface="Arial" pitchFamily="34" charset="-122"/>
                <a:cs typeface="Arial" pitchFamily="34" charset="-120"/>
              </a:rPr>
              <a:t>✗ debugger silent*</a:t>
            </a:r>
            <a:endParaRPr lang="en-US" sz="1900" dirty="0"/>
          </a:p>
        </p:txBody>
      </p:sp>
      <p:sp>
        <p:nvSpPr>
          <p:cNvPr id="51" name="Text 47"/>
          <p:cNvSpPr txBox="1"/>
          <p:nvPr/>
        </p:nvSpPr>
        <p:spPr>
          <a:xfrm>
            <a:off x="14813280" y="25723633"/>
            <a:ext cx="14081760" cy="1463040"/>
          </a:xfrm>
          <a:prstGeom prst="rect">
            <a:avLst/>
          </a:prstGeom>
          <a:noFill/>
          <a:ln/>
        </p:spPr>
        <p:txBody>
          <a:bodyPr wrap="square" lIns="0" tIns="0" rIns="0" bIns="0" rtlCol="0" anchor="t"/>
          <a:lstStyle/>
          <a:p>
            <a:pPr indent="0" marL="0">
              <a:lnSpc>
                <a:spcPct val="104000"/>
              </a:lnSpc>
              <a:spcAft>
                <a:spcPts val="600"/>
              </a:spcAft>
              <a:buNone/>
            </a:pPr>
            <a:r>
              <a:rPr lang="en-US" sz="1600" dirty="0">
                <a:solidFill>
                  <a:srgbClr val="5E5B55"/>
                </a:solidFill>
                <a:latin typeface="Arial" pitchFamily="34" charset="0"/>
                <a:ea typeface="Arial" pitchFamily="34" charset="-122"/>
                <a:cs typeface="Arial" pitchFamily="34" charset="-120"/>
              </a:rPr>
              <a:t>* Under translation the debugger appears to finish but writes no values, so debugger assignments need an Intel/AMD machine; the student handout says so.  † Needs Docker’s own translator; the one that ships with Ubuntu 24.04 crashed, which we reproduced and documented.</a:t>
            </a:r>
            <a:endParaRPr lang="en-US" sz="1600" dirty="0"/>
          </a:p>
        </p:txBody>
      </p:sp>
      <p:sp>
        <p:nvSpPr>
          <p:cNvPr id="52" name="Text 48"/>
          <p:cNvSpPr txBox="1"/>
          <p:nvPr/>
        </p:nvSpPr>
        <p:spPr>
          <a:xfrm>
            <a:off x="29443680" y="5394960"/>
            <a:ext cx="14081760" cy="822960"/>
          </a:xfrm>
          <a:prstGeom prst="rect">
            <a:avLst/>
          </a:prstGeom>
          <a:noFill/>
          <a:ln/>
        </p:spPr>
        <p:txBody>
          <a:bodyPr wrap="square" lIns="0" tIns="0" rIns="0" bIns="0" rtlCol="0" anchor="ctr"/>
          <a:lstStyle/>
          <a:p>
            <a:pPr indent="0" marL="0">
              <a:buNone/>
            </a:pPr>
            <a:r>
              <a:rPr lang="en-US" sz="4000" b="1" dirty="0">
                <a:solidFill>
                  <a:srgbClr val="B10202"/>
                </a:solidFill>
                <a:latin typeface="Arial" pitchFamily="34" charset="0"/>
                <a:ea typeface="Arial" pitchFamily="34" charset="-122"/>
                <a:cs typeface="Arial" pitchFamily="34" charset="-120"/>
              </a:rPr>
              <a:t>What we found</a:t>
            </a:r>
            <a:endParaRPr lang="en-US" sz="4000" dirty="0"/>
          </a:p>
        </p:txBody>
      </p:sp>
      <p:sp>
        <p:nvSpPr>
          <p:cNvPr id="53" name="Shape 49"/>
          <p:cNvSpPr/>
          <p:nvPr/>
        </p:nvSpPr>
        <p:spPr>
          <a:xfrm>
            <a:off x="29443680" y="6355080"/>
            <a:ext cx="6880860" cy="2377440"/>
          </a:xfrm>
          <a:prstGeom prst="roundRect">
            <a:avLst>
              <a:gd name="adj" fmla="val 5769"/>
            </a:avLst>
          </a:prstGeom>
          <a:solidFill>
            <a:srgbClr val="F5F4F0"/>
          </a:solidFill>
          <a:ln w="12700">
            <a:solidFill>
              <a:srgbClr val="F5F4F0"/>
            </a:solidFill>
            <a:prstDash val="solid"/>
          </a:ln>
        </p:spPr>
      </p:sp>
      <p:sp>
        <p:nvSpPr>
          <p:cNvPr id="54" name="Text 50"/>
          <p:cNvSpPr txBox="1"/>
          <p:nvPr/>
        </p:nvSpPr>
        <p:spPr>
          <a:xfrm>
            <a:off x="29718000" y="6492240"/>
            <a:ext cx="6332220" cy="1005840"/>
          </a:xfrm>
          <a:prstGeom prst="rect">
            <a:avLst/>
          </a:prstGeom>
          <a:noFill/>
          <a:ln/>
        </p:spPr>
        <p:txBody>
          <a:bodyPr wrap="square" lIns="0" tIns="0" rIns="0" bIns="0" rtlCol="0" anchor="ctr"/>
          <a:lstStyle/>
          <a:p>
            <a:pPr indent="0" marL="0">
              <a:buNone/>
            </a:pPr>
            <a:r>
              <a:rPr lang="en-US" sz="5400" b="1" dirty="0">
                <a:solidFill>
                  <a:srgbClr val="B10202"/>
                </a:solidFill>
                <a:latin typeface="Arial" pitchFamily="34" charset="0"/>
                <a:ea typeface="Arial" pitchFamily="34" charset="-122"/>
                <a:cs typeface="Arial" pitchFamily="34" charset="-120"/>
              </a:rPr>
              <a:t>4 of 4</a:t>
            </a:r>
            <a:endParaRPr lang="en-US" sz="5400" dirty="0"/>
          </a:p>
        </p:txBody>
      </p:sp>
      <p:sp>
        <p:nvSpPr>
          <p:cNvPr id="55" name="Text 51"/>
          <p:cNvSpPr txBox="1"/>
          <p:nvPr/>
        </p:nvSpPr>
        <p:spPr>
          <a:xfrm>
            <a:off x="29718000" y="7498080"/>
            <a:ext cx="6332220" cy="118872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kinds of computer ran every real CS 218 assignment correctly, including the multithreaded one</a:t>
            </a:r>
            <a:endParaRPr lang="en-US" sz="1800" dirty="0"/>
          </a:p>
        </p:txBody>
      </p:sp>
      <p:sp>
        <p:nvSpPr>
          <p:cNvPr id="56" name="Shape 52"/>
          <p:cNvSpPr/>
          <p:nvPr/>
        </p:nvSpPr>
        <p:spPr>
          <a:xfrm>
            <a:off x="36644580" y="6355080"/>
            <a:ext cx="6880860" cy="2377440"/>
          </a:xfrm>
          <a:prstGeom prst="roundRect">
            <a:avLst>
              <a:gd name="adj" fmla="val 5769"/>
            </a:avLst>
          </a:prstGeom>
          <a:solidFill>
            <a:srgbClr val="F5F4F0"/>
          </a:solidFill>
          <a:ln w="12700">
            <a:solidFill>
              <a:srgbClr val="F5F4F0"/>
            </a:solidFill>
            <a:prstDash val="solid"/>
          </a:ln>
        </p:spPr>
      </p:sp>
      <p:sp>
        <p:nvSpPr>
          <p:cNvPr id="57" name="Text 53"/>
          <p:cNvSpPr txBox="1"/>
          <p:nvPr/>
        </p:nvSpPr>
        <p:spPr>
          <a:xfrm>
            <a:off x="36918900" y="6492240"/>
            <a:ext cx="6332220" cy="1005840"/>
          </a:xfrm>
          <a:prstGeom prst="rect">
            <a:avLst/>
          </a:prstGeom>
          <a:noFill/>
          <a:ln/>
        </p:spPr>
        <p:txBody>
          <a:bodyPr wrap="square" lIns="0" tIns="0" rIns="0" bIns="0" rtlCol="0" anchor="ctr"/>
          <a:lstStyle/>
          <a:p>
            <a:pPr indent="0" marL="0">
              <a:buNone/>
            </a:pPr>
            <a:r>
              <a:rPr lang="en-US" sz="5400" b="1" dirty="0">
                <a:solidFill>
                  <a:srgbClr val="B10202"/>
                </a:solidFill>
                <a:latin typeface="Arial" pitchFamily="34" charset="0"/>
                <a:ea typeface="Arial" pitchFamily="34" charset="-122"/>
                <a:cs typeface="Arial" pitchFamily="34" charset="-120"/>
              </a:rPr>
              <a:t>Identical</a:t>
            </a:r>
            <a:endParaRPr lang="en-US" sz="5400" dirty="0"/>
          </a:p>
        </p:txBody>
      </p:sp>
      <p:sp>
        <p:nvSpPr>
          <p:cNvPr id="58" name="Text 54"/>
          <p:cNvSpPr txBox="1"/>
          <p:nvPr/>
        </p:nvSpPr>
        <p:spPr>
          <a:xfrm>
            <a:off x="36918900" y="7498080"/>
            <a:ext cx="6332220" cy="118872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the same 552 MB file, byte for byte, on Windows, macOS, and Linux: the promise a VM could never make</a:t>
            </a:r>
            <a:endParaRPr lang="en-US" sz="1800" dirty="0"/>
          </a:p>
        </p:txBody>
      </p:sp>
      <p:sp>
        <p:nvSpPr>
          <p:cNvPr id="59" name="Shape 55"/>
          <p:cNvSpPr/>
          <p:nvPr/>
        </p:nvSpPr>
        <p:spPr>
          <a:xfrm>
            <a:off x="29443680" y="9006840"/>
            <a:ext cx="6880860" cy="2377440"/>
          </a:xfrm>
          <a:prstGeom prst="roundRect">
            <a:avLst>
              <a:gd name="adj" fmla="val 5769"/>
            </a:avLst>
          </a:prstGeom>
          <a:solidFill>
            <a:srgbClr val="F5F4F0"/>
          </a:solidFill>
          <a:ln w="12700">
            <a:solidFill>
              <a:srgbClr val="F5F4F0"/>
            </a:solidFill>
            <a:prstDash val="solid"/>
          </a:ln>
        </p:spPr>
      </p:sp>
      <p:sp>
        <p:nvSpPr>
          <p:cNvPr id="60" name="Text 56"/>
          <p:cNvSpPr txBox="1"/>
          <p:nvPr/>
        </p:nvSpPr>
        <p:spPr>
          <a:xfrm>
            <a:off x="29718000" y="9144000"/>
            <a:ext cx="6332220" cy="1005840"/>
          </a:xfrm>
          <a:prstGeom prst="rect">
            <a:avLst/>
          </a:prstGeom>
          <a:noFill/>
          <a:ln/>
        </p:spPr>
        <p:txBody>
          <a:bodyPr wrap="square" lIns="0" tIns="0" rIns="0" bIns="0" rtlCol="0" anchor="ctr"/>
          <a:lstStyle/>
          <a:p>
            <a:pPr indent="0" marL="0">
              <a:buNone/>
            </a:pPr>
            <a:r>
              <a:rPr lang="en-US" sz="5400" b="1" dirty="0">
                <a:solidFill>
                  <a:srgbClr val="B10202"/>
                </a:solidFill>
                <a:latin typeface="Arial" pitchFamily="34" charset="0"/>
                <a:ea typeface="Arial" pitchFamily="34" charset="-122"/>
                <a:cs typeface="Arial" pitchFamily="34" charset="-120"/>
              </a:rPr>
              <a:t>0.5 s</a:t>
            </a:r>
            <a:endParaRPr lang="en-US" sz="5400" dirty="0"/>
          </a:p>
        </p:txBody>
      </p:sp>
      <p:sp>
        <p:nvSpPr>
          <p:cNvPr id="61" name="Text 57"/>
          <p:cNvSpPr txBox="1"/>
          <p:nvPr/>
        </p:nvSpPr>
        <p:spPr>
          <a:xfrm>
            <a:off x="29718000" y="10149840"/>
            <a:ext cx="6332220" cy="118872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until the editor is ready on Intel/AMD machines; about 5 s on Apple Silicon; a VM boots in minutes</a:t>
            </a:r>
            <a:endParaRPr lang="en-US" sz="1800" dirty="0"/>
          </a:p>
        </p:txBody>
      </p:sp>
      <p:sp>
        <p:nvSpPr>
          <p:cNvPr id="62" name="Shape 58"/>
          <p:cNvSpPr/>
          <p:nvPr/>
        </p:nvSpPr>
        <p:spPr>
          <a:xfrm>
            <a:off x="36644580" y="9006840"/>
            <a:ext cx="6880860" cy="2377440"/>
          </a:xfrm>
          <a:prstGeom prst="roundRect">
            <a:avLst>
              <a:gd name="adj" fmla="val 5769"/>
            </a:avLst>
          </a:prstGeom>
          <a:solidFill>
            <a:srgbClr val="F5F4F0"/>
          </a:solidFill>
          <a:ln w="12700">
            <a:solidFill>
              <a:srgbClr val="F5F4F0"/>
            </a:solidFill>
            <a:prstDash val="solid"/>
          </a:ln>
        </p:spPr>
      </p:sp>
      <p:sp>
        <p:nvSpPr>
          <p:cNvPr id="63" name="Text 59"/>
          <p:cNvSpPr txBox="1"/>
          <p:nvPr/>
        </p:nvSpPr>
        <p:spPr>
          <a:xfrm>
            <a:off x="36918900" y="9144000"/>
            <a:ext cx="6332220" cy="1005840"/>
          </a:xfrm>
          <a:prstGeom prst="rect">
            <a:avLst/>
          </a:prstGeom>
          <a:noFill/>
          <a:ln/>
        </p:spPr>
        <p:txBody>
          <a:bodyPr wrap="square" lIns="0" tIns="0" rIns="0" bIns="0" rtlCol="0" anchor="ctr"/>
          <a:lstStyle/>
          <a:p>
            <a:pPr indent="0" marL="0">
              <a:buNone/>
            </a:pPr>
            <a:r>
              <a:rPr lang="en-US" sz="5400" b="1" dirty="0">
                <a:solidFill>
                  <a:srgbClr val="B10202"/>
                </a:solidFill>
                <a:latin typeface="Arial" pitchFamily="34" charset="0"/>
                <a:ea typeface="Arial" pitchFamily="34" charset="-122"/>
                <a:cs typeface="Arial" pitchFamily="34" charset="-120"/>
              </a:rPr>
              <a:t>552 MB</a:t>
            </a:r>
            <a:endParaRPr lang="en-US" sz="5400" dirty="0"/>
          </a:p>
        </p:txBody>
      </p:sp>
      <p:sp>
        <p:nvSpPr>
          <p:cNvPr id="64" name="Text 60"/>
          <p:cNvSpPr txBox="1"/>
          <p:nvPr/>
        </p:nvSpPr>
        <p:spPr>
          <a:xfrm>
            <a:off x="36918900" y="10149840"/>
            <a:ext cx="6332220" cy="118872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one-time download, versus the 19 GB virtual machine the course distributes today</a:t>
            </a:r>
            <a:endParaRPr lang="en-US" sz="1800" dirty="0"/>
          </a:p>
        </p:txBody>
      </p:sp>
      <p:sp>
        <p:nvSpPr>
          <p:cNvPr id="65" name="Shape 61"/>
          <p:cNvSpPr/>
          <p:nvPr/>
        </p:nvSpPr>
        <p:spPr>
          <a:xfrm>
            <a:off x="29443680" y="11658600"/>
            <a:ext cx="6880860" cy="2377440"/>
          </a:xfrm>
          <a:prstGeom prst="roundRect">
            <a:avLst>
              <a:gd name="adj" fmla="val 5769"/>
            </a:avLst>
          </a:prstGeom>
          <a:solidFill>
            <a:srgbClr val="F5F4F0"/>
          </a:solidFill>
          <a:ln w="12700">
            <a:solidFill>
              <a:srgbClr val="F5F4F0"/>
            </a:solidFill>
            <a:prstDash val="solid"/>
          </a:ln>
        </p:spPr>
      </p:sp>
      <p:sp>
        <p:nvSpPr>
          <p:cNvPr id="66" name="Text 62"/>
          <p:cNvSpPr txBox="1"/>
          <p:nvPr/>
        </p:nvSpPr>
        <p:spPr>
          <a:xfrm>
            <a:off x="29718000" y="11795760"/>
            <a:ext cx="6332220" cy="1005840"/>
          </a:xfrm>
          <a:prstGeom prst="rect">
            <a:avLst/>
          </a:prstGeom>
          <a:noFill/>
          <a:ln/>
        </p:spPr>
        <p:txBody>
          <a:bodyPr wrap="square" lIns="0" tIns="0" rIns="0" bIns="0" rtlCol="0" anchor="ctr"/>
          <a:lstStyle/>
          <a:p>
            <a:pPr indent="0" marL="0">
              <a:buNone/>
            </a:pPr>
            <a:r>
              <a:rPr lang="en-US" sz="5400" b="1" dirty="0">
                <a:solidFill>
                  <a:srgbClr val="B10202"/>
                </a:solidFill>
                <a:latin typeface="Arial" pitchFamily="34" charset="0"/>
                <a:ea typeface="Arial" pitchFamily="34" charset="-122"/>
                <a:cs typeface="Arial" pitchFamily="34" charset="-120"/>
              </a:rPr>
              <a:t>&lt; $10</a:t>
            </a:r>
            <a:endParaRPr lang="en-US" sz="5400" dirty="0"/>
          </a:p>
        </p:txBody>
      </p:sp>
      <p:sp>
        <p:nvSpPr>
          <p:cNvPr id="67" name="Text 63"/>
          <p:cNvSpPr txBox="1"/>
          <p:nvPr/>
        </p:nvSpPr>
        <p:spPr>
          <a:xfrm>
            <a:off x="29718000" y="12801600"/>
            <a:ext cx="6332220" cy="118872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to rent every test machine, failed attempts included; students pay nothing and need no account</a:t>
            </a:r>
            <a:endParaRPr lang="en-US" sz="1800" dirty="0"/>
          </a:p>
        </p:txBody>
      </p:sp>
      <p:sp>
        <p:nvSpPr>
          <p:cNvPr id="68" name="Shape 64"/>
          <p:cNvSpPr/>
          <p:nvPr/>
        </p:nvSpPr>
        <p:spPr>
          <a:xfrm>
            <a:off x="36644580" y="11658600"/>
            <a:ext cx="6880860" cy="2377440"/>
          </a:xfrm>
          <a:prstGeom prst="roundRect">
            <a:avLst>
              <a:gd name="adj" fmla="val 5769"/>
            </a:avLst>
          </a:prstGeom>
          <a:solidFill>
            <a:srgbClr val="FBEAEA"/>
          </a:solidFill>
          <a:ln w="12700">
            <a:solidFill>
              <a:srgbClr val="FBEAEA"/>
            </a:solidFill>
            <a:prstDash val="solid"/>
          </a:ln>
        </p:spPr>
      </p:sp>
      <p:sp>
        <p:nvSpPr>
          <p:cNvPr id="69" name="Text 65"/>
          <p:cNvSpPr txBox="1"/>
          <p:nvPr/>
        </p:nvSpPr>
        <p:spPr>
          <a:xfrm>
            <a:off x="36918900" y="11795760"/>
            <a:ext cx="6332220" cy="1005840"/>
          </a:xfrm>
          <a:prstGeom prst="rect">
            <a:avLst/>
          </a:prstGeom>
          <a:noFill/>
          <a:ln/>
        </p:spPr>
        <p:txBody>
          <a:bodyPr wrap="square" lIns="0" tIns="0" rIns="0" bIns="0" rtlCol="0" anchor="ctr"/>
          <a:lstStyle/>
          <a:p>
            <a:pPr indent="0" marL="0">
              <a:buNone/>
            </a:pPr>
            <a:r>
              <a:rPr lang="en-US" sz="5400" b="1" dirty="0">
                <a:solidFill>
                  <a:srgbClr val="B10202"/>
                </a:solidFill>
                <a:latin typeface="Arial" pitchFamily="34" charset="0"/>
                <a:ea typeface="Arial" pitchFamily="34" charset="-122"/>
                <a:cs typeface="Arial" pitchFamily="34" charset="-120"/>
              </a:rPr>
              <a:t>1 limit</a:t>
            </a:r>
            <a:endParaRPr lang="en-US" sz="5400" dirty="0"/>
          </a:p>
        </p:txBody>
      </p:sp>
      <p:sp>
        <p:nvSpPr>
          <p:cNvPr id="70" name="Text 66"/>
          <p:cNvSpPr txBox="1"/>
          <p:nvPr/>
        </p:nvSpPr>
        <p:spPr>
          <a:xfrm>
            <a:off x="36918900" y="12801600"/>
            <a:ext cx="6332220" cy="1188720"/>
          </a:xfrm>
          <a:prstGeom prst="rect">
            <a:avLst/>
          </a:prstGeom>
          <a:noFill/>
          <a:ln/>
        </p:spPr>
        <p:txBody>
          <a:bodyPr wrap="square" lIns="0" tIns="0" rIns="0" bIns="0" rtlCol="0" anchor="t"/>
          <a:lstStyle/>
          <a:p>
            <a:pPr indent="0" marL="0">
              <a:lnSpc>
                <a:spcPct val="100000"/>
              </a:lnSpc>
              <a:buNone/>
            </a:pPr>
            <a:r>
              <a:rPr lang="en-US" sz="1800" dirty="0">
                <a:solidFill>
                  <a:srgbClr val="22252B"/>
                </a:solidFill>
                <a:latin typeface="Arial" pitchFamily="34" charset="0"/>
                <a:ea typeface="Arial" pitchFamily="34" charset="-122"/>
                <a:cs typeface="Arial" pitchFamily="34" charset="-120"/>
              </a:rPr>
              <a:t>the debugger goes silent on Apple Silicon and ARM, and we can say exactly why</a:t>
            </a:r>
            <a:endParaRPr lang="en-US" sz="1800" dirty="0"/>
          </a:p>
        </p:txBody>
      </p:sp>
      <p:graphicFrame>
        <p:nvGraphicFramePr>
          <p:cNvPr id="71" name="Chart 0" descr=""/>
          <p:cNvGraphicFramePr/>
          <p:nvPr/>
        </p:nvGraphicFramePr>
        <p:xfrm>
          <a:off x="29443680" y="14401800"/>
          <a:ext cx="14081760" cy="4206240"/>
        </p:xfrm>
        <a:graphic xmlns:a="http://schemas.openxmlformats.org/drawingml/2006/main">
          <a:graphicData uri="http://schemas.openxmlformats.org/drawingml/2006/chart">
            <c:chart xmlns:c="http://schemas.openxmlformats.org/drawingml/2006/chart" r:id="rId2"/>
          </a:graphicData>
        </a:graphic>
      </p:graphicFrame>
      <p:sp>
        <p:nvSpPr>
          <p:cNvPr id="72" name="Text 67"/>
          <p:cNvSpPr txBox="1"/>
          <p:nvPr/>
        </p:nvSpPr>
        <p:spPr>
          <a:xfrm>
            <a:off x="29443680" y="18745200"/>
            <a:ext cx="14081760" cy="2743200"/>
          </a:xfrm>
          <a:prstGeom prst="rect">
            <a:avLst/>
          </a:prstGeom>
          <a:noFill/>
          <a:ln/>
        </p:spPr>
        <p:txBody>
          <a:bodyPr wrap="square" lIns="0" tIns="0" rIns="0" bIns="0" rtlCol="0" anchor="t"/>
          <a:lstStyle/>
          <a:p>
            <a:pPr indent="0" marL="0">
              <a:lnSpc>
                <a:spcPct val="104000"/>
              </a:lnSpc>
              <a:spcAft>
                <a:spcPts val="600"/>
              </a:spcAft>
              <a:buNone/>
            </a:pPr>
            <a:r>
              <a:rPr lang="en-US" sz="2000" b="1" dirty="0">
                <a:solidFill>
                  <a:srgbClr val="B10202"/>
                </a:solidFill>
                <a:latin typeface="Arial" pitchFamily="34" charset="0"/>
                <a:ea typeface="Arial" pitchFamily="34" charset="-122"/>
                <a:cs typeface="Arial" pitchFamily="34" charset="-120"/>
              </a:rPr>
              <a:t>Why the limit exists, in one sentence. </a:t>
            </a:r>
            <a:pPr indent="0" marL="0">
              <a:lnSpc>
                <a:spcPct val="104000"/>
              </a:lnSpc>
              <a:spcAft>
                <a:spcPts val="600"/>
              </a:spcAft>
              <a:buNone/>
            </a:pPr>
            <a:r>
              <a:rPr lang="en-US" sz="2000" dirty="0">
                <a:solidFill>
                  <a:srgbClr val="22252B"/>
                </a:solidFill>
                <a:latin typeface="Arial" pitchFamily="34" charset="0"/>
                <a:ea typeface="Arial" pitchFamily="34" charset="-122"/>
                <a:cs typeface="Arial" pitchFamily="34" charset="-120"/>
              </a:rPr>
              <a:t>The assembly image is x86-64 on purpose, because the course teaches x86-64; on ARM chips it runs through a translator, and today’s translators run the programs correctly but cannot support the debugger. Windows and Intel machines, most of the class, get everything. Under translation a debugger script still “succeeds” and writes its output file, but with none of the values, which is why the student handout tells Apple Silicon owners to produce debugger deliverables on an Intel machine.</a:t>
            </a:r>
            <a:endParaRPr lang="en-US" sz="2000" dirty="0"/>
          </a:p>
        </p:txBody>
      </p:sp>
      <p:sp>
        <p:nvSpPr>
          <p:cNvPr id="73" name="Shape 68"/>
          <p:cNvSpPr/>
          <p:nvPr/>
        </p:nvSpPr>
        <p:spPr>
          <a:xfrm>
            <a:off x="914400" y="27934920"/>
            <a:ext cx="42062400" cy="0"/>
          </a:xfrm>
          <a:prstGeom prst="line">
            <a:avLst/>
          </a:prstGeom>
          <a:noFill/>
          <a:ln w="38100">
            <a:solidFill>
              <a:srgbClr val="D9D6CF"/>
            </a:solidFill>
            <a:prstDash val="solid"/>
          </a:ln>
        </p:spPr>
      </p:sp>
      <p:sp>
        <p:nvSpPr>
          <p:cNvPr id="74" name="Text 69"/>
          <p:cNvSpPr txBox="1"/>
          <p:nvPr/>
        </p:nvSpPr>
        <p:spPr>
          <a:xfrm>
            <a:off x="914400" y="28254960"/>
            <a:ext cx="27980640" cy="822960"/>
          </a:xfrm>
          <a:prstGeom prst="rect">
            <a:avLst/>
          </a:prstGeom>
          <a:noFill/>
          <a:ln/>
        </p:spPr>
        <p:txBody>
          <a:bodyPr wrap="square" lIns="0" tIns="0" rIns="0" bIns="0" rtlCol="0" anchor="ctr"/>
          <a:lstStyle/>
          <a:p>
            <a:pPr indent="0" marL="0">
              <a:buNone/>
            </a:pPr>
            <a:r>
              <a:rPr lang="en-US" sz="4000" b="1" dirty="0">
                <a:solidFill>
                  <a:srgbClr val="B10202"/>
                </a:solidFill>
                <a:latin typeface="Arial" pitchFamily="34" charset="0"/>
                <a:ea typeface="Arial" pitchFamily="34" charset="-122"/>
                <a:cs typeface="Arial" pitchFamily="34" charset="-120"/>
              </a:rPr>
              <a:t>What comes next</a:t>
            </a:r>
            <a:endParaRPr lang="en-US" sz="4000" dirty="0"/>
          </a:p>
        </p:txBody>
      </p:sp>
      <p:sp>
        <p:nvSpPr>
          <p:cNvPr id="75" name="Text 70"/>
          <p:cNvSpPr txBox="1"/>
          <p:nvPr/>
        </p:nvSpPr>
        <p:spPr>
          <a:xfrm>
            <a:off x="914400" y="29215080"/>
            <a:ext cx="27614880" cy="3291840"/>
          </a:xfrm>
          <a:prstGeom prst="rect">
            <a:avLst/>
          </a:prstGeom>
          <a:noFill/>
          <a:ln/>
        </p:spPr>
        <p:txBody>
          <a:bodyPr wrap="square" lIns="0" tIns="0" rIns="0" bIns="0" rtlCol="0" anchor="t"/>
          <a:lstStyle/>
          <a:p>
            <a:pPr marL="355600" indent="-355600">
              <a:lnSpc>
                <a:spcPct val="104000"/>
              </a:lnSpc>
              <a:spcAft>
                <a:spcPts val="600"/>
              </a:spcAft>
              <a:buSzPct val="100000"/>
              <a:buChar char="•"/>
            </a:pPr>
            <a:r>
              <a:rPr lang="en-US" sz="2100" dirty="0">
                <a:solidFill>
                  <a:srgbClr val="22252B"/>
                </a:solidFill>
                <a:latin typeface="Arial" pitchFamily="34" charset="0"/>
                <a:ea typeface="Arial" pitchFamily="34" charset="-122"/>
                <a:cs typeface="Arial" pitchFamily="34" charset="-120"/>
              </a:rPr>
              <a:t>Run it in a real section of CS 218 and CS 135 and measure what only a classroom can: how many students reach a working setup without help, how many staff minutes it saves, and how students feel about it, using survey instruments adapted from [3, 4, 6]. A three-student pilot class has already run on it.</a:t>
            </a:r>
            <a:endParaRPr lang="en-US" sz="2100" dirty="0"/>
          </a:p>
          <a:p>
            <a:pPr marL="355600" indent="-355600">
              <a:lnSpc>
                <a:spcPct val="104000"/>
              </a:lnSpc>
              <a:spcAft>
                <a:spcPts val="600"/>
              </a:spcAft>
              <a:buSzPct val="100000"/>
              <a:buChar char="•"/>
            </a:pPr>
            <a:r>
              <a:rPr lang="en-US" sz="2100" dirty="0">
                <a:solidFill>
                  <a:srgbClr val="22252B"/>
                </a:solidFill>
                <a:latin typeface="Arial" pitchFamily="34" charset="0"/>
                <a:ea typeface="Arial" pitchFamily="34" charset="-122"/>
                <a:cs typeface="Arial" pitchFamily="34" charset="-120"/>
              </a:rPr>
              <a:t>Build a second assembly image for ARM chips that keeps the editor native and translates only the student’s program, which could bring the debugger back to Apple Silicon and Windows-on-ARM laptops.</a:t>
            </a:r>
            <a:endParaRPr lang="en-US" sz="2100" dirty="0"/>
          </a:p>
          <a:p>
            <a:pPr marL="355600" indent="-355600">
              <a:lnSpc>
                <a:spcPct val="104000"/>
              </a:lnSpc>
              <a:spcAft>
                <a:spcPts val="600"/>
              </a:spcAft>
              <a:buSzPct val="100000"/>
              <a:buChar char="•"/>
            </a:pPr>
            <a:r>
              <a:rPr lang="en-US" sz="2100" dirty="0">
                <a:solidFill>
                  <a:srgbClr val="22252B"/>
                </a:solidFill>
                <a:latin typeface="Arial" pitchFamily="34" charset="0"/>
                <a:ea typeface="Arial" pitchFamily="34" charset="-122"/>
                <a:cs typeface="Arial" pitchFamily="34" charset="-120"/>
              </a:rPr>
              <a:t>Reuse the rent-four-computers, one-script method to evaluate environments for other courses (Operating Systems next).</a:t>
            </a:r>
            <a:endParaRPr lang="en-US" sz="2100" dirty="0"/>
          </a:p>
        </p:txBody>
      </p:sp>
      <p:sp>
        <p:nvSpPr>
          <p:cNvPr id="76" name="Text 71"/>
          <p:cNvSpPr txBox="1"/>
          <p:nvPr/>
        </p:nvSpPr>
        <p:spPr>
          <a:xfrm>
            <a:off x="29443680" y="28254960"/>
            <a:ext cx="14081760" cy="822960"/>
          </a:xfrm>
          <a:prstGeom prst="rect">
            <a:avLst/>
          </a:prstGeom>
          <a:noFill/>
          <a:ln/>
        </p:spPr>
        <p:txBody>
          <a:bodyPr wrap="square" lIns="0" tIns="0" rIns="0" bIns="0" rtlCol="0" anchor="ctr"/>
          <a:lstStyle/>
          <a:p>
            <a:pPr indent="0" marL="0">
              <a:buNone/>
            </a:pPr>
            <a:r>
              <a:rPr lang="en-US" sz="4000" b="1" dirty="0">
                <a:solidFill>
                  <a:srgbClr val="B10202"/>
                </a:solidFill>
                <a:latin typeface="Arial" pitchFamily="34" charset="0"/>
                <a:ea typeface="Arial" pitchFamily="34" charset="-122"/>
                <a:cs typeface="Arial" pitchFamily="34" charset="-120"/>
              </a:rPr>
              <a:t>References</a:t>
            </a:r>
            <a:endParaRPr lang="en-US" sz="4000" dirty="0"/>
          </a:p>
        </p:txBody>
      </p:sp>
      <p:sp>
        <p:nvSpPr>
          <p:cNvPr id="77" name="Text 72"/>
          <p:cNvSpPr txBox="1"/>
          <p:nvPr/>
        </p:nvSpPr>
        <p:spPr>
          <a:xfrm>
            <a:off x="29443680" y="29215080"/>
            <a:ext cx="14081760" cy="2743200"/>
          </a:xfrm>
          <a:prstGeom prst="rect">
            <a:avLst/>
          </a:prstGeom>
          <a:noFill/>
          <a:ln/>
        </p:spPr>
        <p:txBody>
          <a:bodyPr wrap="square" lIns="0" tIns="0" rIns="0" bIns="0" rtlCol="0" anchor="t"/>
          <a:lstStyle/>
          <a:p>
            <a:pPr indent="0" marL="0">
              <a:lnSpc>
                <a:spcPct val="100000"/>
              </a:lnSpc>
              <a:spcAft>
                <a:spcPts val="300"/>
              </a:spcAft>
              <a:buNone/>
            </a:pPr>
            <a:r>
              <a:rPr lang="en-US" sz="1400" dirty="0">
                <a:solidFill>
                  <a:srgbClr val="5E5B55"/>
                </a:solidFill>
                <a:latin typeface="Arial" pitchFamily="34" charset="0"/>
                <a:ea typeface="Arial" pitchFamily="34" charset="-122"/>
                <a:cs typeface="Arial" pitchFamily="34" charset="-120"/>
              </a:rPr>
              <a:t>[1] Malan. Containerizing CS50. ITiCSE 2024.</a:t>
            </a:r>
            <a:endParaRPr lang="en-US" sz="1400" dirty="0"/>
          </a:p>
          <a:p>
            <a:pPr indent="0" marL="0">
              <a:lnSpc>
                <a:spcPct val="100000"/>
              </a:lnSpc>
              <a:spcAft>
                <a:spcPts val="300"/>
              </a:spcAft>
              <a:buNone/>
            </a:pPr>
            <a:r>
              <a:rPr lang="en-US" sz="1400" dirty="0">
                <a:solidFill>
                  <a:srgbClr val="5E5B55"/>
                </a:solidFill>
                <a:latin typeface="Arial" pitchFamily="34" charset="0"/>
                <a:ea typeface="Arial" pitchFamily="34" charset="-122"/>
                <a:cs typeface="Arial" pitchFamily="34" charset="-120"/>
              </a:rPr>
              <a:t>[2] Malan. From Cluster to Cloud to Appliance. ITiCSE 2013.</a:t>
            </a:r>
            <a:endParaRPr lang="en-US" sz="1400" dirty="0"/>
          </a:p>
          <a:p>
            <a:pPr indent="0" marL="0">
              <a:lnSpc>
                <a:spcPct val="100000"/>
              </a:lnSpc>
              <a:spcAft>
                <a:spcPts val="300"/>
              </a:spcAft>
              <a:buNone/>
            </a:pPr>
            <a:r>
              <a:rPr lang="en-US" sz="1400" dirty="0">
                <a:solidFill>
                  <a:srgbClr val="5E5B55"/>
                </a:solidFill>
                <a:latin typeface="Arial" pitchFamily="34" charset="0"/>
                <a:ea typeface="Arial" pitchFamily="34" charset="-122"/>
                <a:cs typeface="Arial" pitchFamily="34" charset="-120"/>
              </a:rPr>
              <a:t>[3] Valstar, Griswold, Porter. Using DevContainers to Standardize Student Development Environments. ITiCSE 2020.</a:t>
            </a:r>
            <a:endParaRPr lang="en-US" sz="1400" dirty="0"/>
          </a:p>
          <a:p>
            <a:pPr indent="0" marL="0">
              <a:lnSpc>
                <a:spcPct val="100000"/>
              </a:lnSpc>
              <a:spcAft>
                <a:spcPts val="300"/>
              </a:spcAft>
              <a:buNone/>
            </a:pPr>
            <a:r>
              <a:rPr lang="en-US" sz="1400" dirty="0">
                <a:solidFill>
                  <a:srgbClr val="5E5B55"/>
                </a:solidFill>
                <a:latin typeface="Arial" pitchFamily="34" charset="0"/>
                <a:ea typeface="Arial" pitchFamily="34" charset="-122"/>
                <a:cs typeface="Arial" pitchFamily="34" charset="-120"/>
              </a:rPr>
              <a:t>[4] Fernalld, OConnor, Sudhakaran, Nur. Lightweight Symphony. SIGITE 2023.</a:t>
            </a:r>
            <a:endParaRPr lang="en-US" sz="1400" dirty="0"/>
          </a:p>
          <a:p>
            <a:pPr indent="0" marL="0">
              <a:lnSpc>
                <a:spcPct val="100000"/>
              </a:lnSpc>
              <a:spcAft>
                <a:spcPts val="300"/>
              </a:spcAft>
              <a:buNone/>
            </a:pPr>
            <a:r>
              <a:rPr lang="en-US" sz="1400" dirty="0">
                <a:solidFill>
                  <a:srgbClr val="5E5B55"/>
                </a:solidFill>
                <a:latin typeface="Arial" pitchFamily="34" charset="0"/>
                <a:ea typeface="Arial" pitchFamily="34" charset="-122"/>
                <a:cs typeface="Arial" pitchFamily="34" charset="-120"/>
              </a:rPr>
              <a:t>[5] Cadenas et al. Virtualization for Cost-Effective Teaching of Assembly Language Programming. IEEE Trans. Educ. 2015.</a:t>
            </a:r>
            <a:endParaRPr lang="en-US" sz="1400" dirty="0"/>
          </a:p>
          <a:p>
            <a:pPr indent="0" marL="0">
              <a:lnSpc>
                <a:spcPct val="100000"/>
              </a:lnSpc>
              <a:spcAft>
                <a:spcPts val="300"/>
              </a:spcAft>
              <a:buNone/>
            </a:pPr>
            <a:r>
              <a:rPr lang="en-US" sz="1400" dirty="0">
                <a:solidFill>
                  <a:srgbClr val="5E5B55"/>
                </a:solidFill>
                <a:latin typeface="Arial" pitchFamily="34" charset="0"/>
                <a:ea typeface="Arial" pitchFamily="34" charset="-122"/>
                <a:cs typeface="Arial" pitchFamily="34" charset="-120"/>
              </a:rPr>
              <a:t>[6] Harvie, Cody, Morrell, Estes. Using Virtual Machines to Enhance the Educational Experience. SIGITE 2019.</a:t>
            </a:r>
            <a:endParaRPr lang="en-US" sz="1400" dirty="0"/>
          </a:p>
          <a:p>
            <a:pPr indent="0" marL="0">
              <a:lnSpc>
                <a:spcPct val="100000"/>
              </a:lnSpc>
              <a:spcAft>
                <a:spcPts val="300"/>
              </a:spcAft>
              <a:buNone/>
            </a:pPr>
            <a:r>
              <a:rPr lang="en-US" sz="1400" dirty="0">
                <a:solidFill>
                  <a:srgbClr val="5E5B55"/>
                </a:solidFill>
                <a:latin typeface="Arial" pitchFamily="34" charset="0"/>
                <a:ea typeface="Arial" pitchFamily="34" charset="-122"/>
                <a:cs typeface="Arial" pitchFamily="34" charset="-120"/>
              </a:rPr>
              <a:t>[8] Park et al. CodeDive: A Web-Based IDE with Real-Time Code Activity Monitoring. Applied Sciences 2025.</a:t>
            </a:r>
            <a:endParaRPr lang="en-US" sz="1400" dirty="0"/>
          </a:p>
        </p:txBody>
      </p:sp>
      <p:sp>
        <p:nvSpPr>
          <p:cNvPr id="78" name="Text 73"/>
          <p:cNvSpPr txBox="1"/>
          <p:nvPr/>
        </p:nvSpPr>
        <p:spPr>
          <a:xfrm>
            <a:off x="29443680" y="32004000"/>
            <a:ext cx="14081760" cy="914400"/>
          </a:xfrm>
          <a:prstGeom prst="rect">
            <a:avLst/>
          </a:prstGeom>
          <a:noFill/>
          <a:ln/>
        </p:spPr>
        <p:txBody>
          <a:bodyPr wrap="square" lIns="0" tIns="0" rIns="0" bIns="0" rtlCol="0" anchor="t"/>
          <a:lstStyle/>
          <a:p>
            <a:pPr indent="0" marL="0">
              <a:buNone/>
            </a:pPr>
            <a:r>
              <a:rPr lang="en-US" sz="1300" i="1" dirty="0">
                <a:solidFill>
                  <a:srgbClr val="5E5B55"/>
                </a:solidFill>
                <a:latin typeface="Arial" pitchFamily="34" charset="0"/>
                <a:ea typeface="Arial" pitchFamily="34" charset="-122"/>
                <a:cs typeface="Arial" pitchFamily="34" charset="-120"/>
              </a:rPr>
              <a:t>Supported by the UNLV Office of Undergraduate Research Summer Undergraduate Research Fellowship. Every number on this poster comes from the published test script’s output files, archived in the repository (tests/record-results). Reference numbers match the written report.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2026-09-28T21:35:34Z</dcterms:created>
  <dcterms:modified xsi:type="dcterms:W3CDTF">2026-09-28T21:35:34Z</dcterms:modified>
</cp:coreProperties>
</file>